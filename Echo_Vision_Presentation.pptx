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9"/>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8288000" cy="10287000"/>
  <p:notesSz cx="6858000" cy="9144000"/>
  <p:embeddedFontLst>
    <p:embeddedFont>
      <p:font typeface="Calibri (MS)" charset="1" panose="020F0502020204030204"/>
      <p:regular r:id="rId22"/>
    </p:embeddedFont>
    <p:embeddedFont>
      <p:font typeface="Georgia" charset="1" panose="02040502050405020303"/>
      <p:regular r:id="rId23"/>
    </p:embeddedFont>
    <p:embeddedFont>
      <p:font typeface="Georgia Bold" charset="1" panose="02040802050405020203"/>
      <p:regular r:id="rId26"/>
    </p:embeddedFont>
    <p:embeddedFont>
      <p:font typeface="Consolas" charset="1" panose="020B0609020204030204"/>
      <p:regular r:id="rId30"/>
    </p:embeddedFont>
    <p:embeddedFont>
      <p:font typeface="Calibri (MS) Bold" charset="1" panose="020F0702030404030204"/>
      <p:regular r:id="rId32"/>
    </p:embeddedFont>
    <p:embeddedFont>
      <p:font typeface="Georgia Italics" charset="1" panose="02040502050405090303"/>
      <p:regular r:id="rId3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notesMasters/notesMaster1.xml" Type="http://schemas.openxmlformats.org/officeDocument/2006/relationships/notesMaster"/><Relationship Id="rId2" Target="presProps.xml" Type="http://schemas.openxmlformats.org/officeDocument/2006/relationships/presProps"/><Relationship Id="rId20" Target="theme/theme2.xml" Type="http://schemas.openxmlformats.org/officeDocument/2006/relationships/theme"/><Relationship Id="rId21" Target="notesSlides/notesSlide1.xml" Type="http://schemas.openxmlformats.org/officeDocument/2006/relationships/notesSlide"/><Relationship Id="rId22" Target="fonts/font22.fntdata" Type="http://schemas.openxmlformats.org/officeDocument/2006/relationships/font"/><Relationship Id="rId23" Target="fonts/font23.fntdata" Type="http://schemas.openxmlformats.org/officeDocument/2006/relationships/font"/><Relationship Id="rId24" Target="notesSlides/notesSlide2.xml" Type="http://schemas.openxmlformats.org/officeDocument/2006/relationships/notesSlide"/><Relationship Id="rId25" Target="notesSlides/notesSlide3.xml" Type="http://schemas.openxmlformats.org/officeDocument/2006/relationships/notesSlide"/><Relationship Id="rId26" Target="fonts/font26.fntdata" Type="http://schemas.openxmlformats.org/officeDocument/2006/relationships/font"/><Relationship Id="rId27" Target="notesSlides/notesSlide4.xml" Type="http://schemas.openxmlformats.org/officeDocument/2006/relationships/notesSlide"/><Relationship Id="rId28" Target="notesSlides/notesSlide5.xml" Type="http://schemas.openxmlformats.org/officeDocument/2006/relationships/notesSlide"/><Relationship Id="rId29" Target="notesSlides/notesSlide6.xml" Type="http://schemas.openxmlformats.org/officeDocument/2006/relationships/notesSlide"/><Relationship Id="rId3" Target="viewProps.xml" Type="http://schemas.openxmlformats.org/officeDocument/2006/relationships/viewProps"/><Relationship Id="rId30" Target="fonts/font30.fntdata" Type="http://schemas.openxmlformats.org/officeDocument/2006/relationships/font"/><Relationship Id="rId31" Target="notesSlides/notesSlide7.xml" Type="http://schemas.openxmlformats.org/officeDocument/2006/relationships/notesSlide"/><Relationship Id="rId32" Target="fonts/font32.fntdata" Type="http://schemas.openxmlformats.org/officeDocument/2006/relationships/font"/><Relationship Id="rId33" Target="notesSlides/notesSlide8.xml" Type="http://schemas.openxmlformats.org/officeDocument/2006/relationships/notesSlide"/><Relationship Id="rId34" Target="fonts/font34.fntdata" Type="http://schemas.openxmlformats.org/officeDocument/2006/relationships/font"/><Relationship Id="rId35" Target="notesSlides/notesSlide9.xml" Type="http://schemas.openxmlformats.org/officeDocument/2006/relationships/notesSlide"/><Relationship Id="rId36" Target="notesSlides/notesSlide10.xml" Type="http://schemas.openxmlformats.org/officeDocument/2006/relationships/notesSlide"/><Relationship Id="rId37" Target="notesSlides/notesSlide11.xml" Type="http://schemas.openxmlformats.org/officeDocument/2006/relationships/notesSlide"/><Relationship Id="rId38" Target="notesSlides/notesSlide12.xml" Type="http://schemas.openxmlformats.org/officeDocument/2006/relationships/notesSlide"/><Relationship Id="rId39" Target="notesSlides/notesSlide13.xml" Type="http://schemas.openxmlformats.org/officeDocument/2006/relationships/notesSlide"/><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jpeg" Type="http://schemas.openxmlformats.org/officeDocument/2006/relationships/image"/><Relationship Id="rId4" Target="../media/image3.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jpeg" Type="http://schemas.openxmlformats.org/officeDocument/2006/relationships/image"/><Relationship Id="rId4" Target="../media/image4.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1.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1.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1.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1.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1.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grpSp>
        <p:nvGrpSpPr>
          <p:cNvPr name="Group 2" id="2"/>
          <p:cNvGrpSpPr/>
          <p:nvPr/>
        </p:nvGrpSpPr>
        <p:grpSpPr>
          <a:xfrm rot="0">
            <a:off x="-9525" y="-9525"/>
            <a:ext cx="238506" cy="10306050"/>
            <a:chOff x="0" y="0"/>
            <a:chExt cx="318008" cy="13741400"/>
          </a:xfrm>
        </p:grpSpPr>
        <p:sp>
          <p:nvSpPr>
            <p:cNvPr name="Freeform 3" id="3"/>
            <p:cNvSpPr/>
            <p:nvPr/>
          </p:nvSpPr>
          <p:spPr>
            <a:xfrm flipH="false" flipV="false" rot="0">
              <a:off x="0" y="0"/>
              <a:ext cx="318008" cy="13741400"/>
            </a:xfrm>
            <a:custGeom>
              <a:avLst/>
              <a:gdLst/>
              <a:ahLst/>
              <a:cxnLst/>
              <a:rect r="r" b="b" t="t" l="l"/>
              <a:pathLst>
                <a:path h="13741400" w="318008">
                  <a:moveTo>
                    <a:pt x="0" y="0"/>
                  </a:moveTo>
                  <a:lnTo>
                    <a:pt x="318008" y="0"/>
                  </a:lnTo>
                  <a:lnTo>
                    <a:pt x="318008" y="13741400"/>
                  </a:lnTo>
                  <a:lnTo>
                    <a:pt x="0" y="13741400"/>
                  </a:lnTo>
                  <a:close/>
                </a:path>
              </a:pathLst>
            </a:custGeom>
            <a:solidFill>
              <a:srgbClr val="FF8A80"/>
            </a:solidFill>
            <a:ln w="19050" cap="sq">
              <a:solidFill>
                <a:srgbClr val="333333"/>
              </a:solidFill>
              <a:prstDash val="solid"/>
              <a:miter/>
            </a:ln>
          </p:spPr>
        </p:sp>
      </p:grpSp>
      <p:grpSp>
        <p:nvGrpSpPr>
          <p:cNvPr name="Group 4" id="4"/>
          <p:cNvGrpSpPr/>
          <p:nvPr/>
        </p:nvGrpSpPr>
        <p:grpSpPr>
          <a:xfrm rot="0">
            <a:off x="1303020" y="2310003"/>
            <a:ext cx="15087600" cy="438912"/>
            <a:chOff x="0" y="0"/>
            <a:chExt cx="20116800" cy="585216"/>
          </a:xfrm>
        </p:grpSpPr>
        <p:sp>
          <p:nvSpPr>
            <p:cNvPr name="Freeform 5" id="5"/>
            <p:cNvSpPr/>
            <p:nvPr/>
          </p:nvSpPr>
          <p:spPr>
            <a:xfrm flipH="false" flipV="false" rot="0">
              <a:off x="0" y="0"/>
              <a:ext cx="20116800" cy="585216"/>
            </a:xfrm>
            <a:custGeom>
              <a:avLst/>
              <a:gdLst/>
              <a:ahLst/>
              <a:cxnLst/>
              <a:rect r="r" b="b" t="t" l="l"/>
              <a:pathLst>
                <a:path h="585216" w="20116800">
                  <a:moveTo>
                    <a:pt x="0" y="0"/>
                  </a:moveTo>
                  <a:lnTo>
                    <a:pt x="20116800" y="0"/>
                  </a:lnTo>
                  <a:lnTo>
                    <a:pt x="20116800" y="585216"/>
                  </a:lnTo>
                  <a:lnTo>
                    <a:pt x="0" y="585216"/>
                  </a:lnTo>
                  <a:close/>
                </a:path>
              </a:pathLst>
            </a:custGeom>
            <a:blipFill>
              <a:blip r:embed="rId3">
                <a:alphaModFix amt="0"/>
              </a:blip>
              <a:stretch>
                <a:fillRect l="0" t="-619798" r="0" b="-619798"/>
              </a:stretch>
            </a:blipFill>
          </p:spPr>
        </p:sp>
        <p:sp>
          <p:nvSpPr>
            <p:cNvPr name="TextBox 6" id="6"/>
            <p:cNvSpPr txBox="true"/>
            <p:nvPr/>
          </p:nvSpPr>
          <p:spPr>
            <a:xfrm>
              <a:off x="0" y="-47625"/>
              <a:ext cx="20116800" cy="632841"/>
            </a:xfrm>
            <a:prstGeom prst="rect">
              <a:avLst/>
            </a:prstGeom>
          </p:spPr>
          <p:txBody>
            <a:bodyPr anchor="ctr" rtlCol="false" tIns="0" lIns="0" bIns="0" rIns="0"/>
            <a:lstStyle/>
            <a:p>
              <a:pPr algn="l">
                <a:lnSpc>
                  <a:spcPts val="2340"/>
                </a:lnSpc>
              </a:pPr>
              <a:r>
                <a:rPr lang="en-US" sz="1950" spc="375">
                  <a:solidFill>
                    <a:srgbClr val="6B6B6B"/>
                  </a:solidFill>
                  <a:latin typeface="Calibri (MS)"/>
                  <a:ea typeface="Calibri (MS)"/>
                  <a:cs typeface="Calibri (MS)"/>
                  <a:sym typeface="Calibri (MS)"/>
                </a:rPr>
                <a:t>PROJECT PRESENTATION</a:t>
              </a:r>
            </a:p>
          </p:txBody>
        </p:sp>
      </p:grpSp>
      <p:grpSp>
        <p:nvGrpSpPr>
          <p:cNvPr name="Group 7" id="7"/>
          <p:cNvGrpSpPr/>
          <p:nvPr/>
        </p:nvGrpSpPr>
        <p:grpSpPr>
          <a:xfrm rot="0">
            <a:off x="1303020" y="3046787"/>
            <a:ext cx="15087600" cy="1165860"/>
            <a:chOff x="0" y="0"/>
            <a:chExt cx="20116800" cy="1554480"/>
          </a:xfrm>
        </p:grpSpPr>
        <p:sp>
          <p:nvSpPr>
            <p:cNvPr name="Freeform 8" id="8"/>
            <p:cNvSpPr/>
            <p:nvPr/>
          </p:nvSpPr>
          <p:spPr>
            <a:xfrm flipH="false" flipV="false" rot="0">
              <a:off x="0" y="0"/>
              <a:ext cx="20116800" cy="1554480"/>
            </a:xfrm>
            <a:custGeom>
              <a:avLst/>
              <a:gdLst/>
              <a:ahLst/>
              <a:cxnLst/>
              <a:rect r="r" b="b" t="t" l="l"/>
              <a:pathLst>
                <a:path h="1554480" w="20116800">
                  <a:moveTo>
                    <a:pt x="0" y="0"/>
                  </a:moveTo>
                  <a:lnTo>
                    <a:pt x="20116800" y="0"/>
                  </a:lnTo>
                  <a:lnTo>
                    <a:pt x="20116800" y="1554480"/>
                  </a:lnTo>
                  <a:lnTo>
                    <a:pt x="0" y="1554480"/>
                  </a:lnTo>
                  <a:close/>
                </a:path>
              </a:pathLst>
            </a:custGeom>
            <a:blipFill>
              <a:blip r:embed="rId3">
                <a:alphaModFix amt="0"/>
              </a:blip>
              <a:stretch>
                <a:fillRect l="0" t="-202159" r="0" b="-202159"/>
              </a:stretch>
            </a:blipFill>
          </p:spPr>
        </p:sp>
        <p:sp>
          <p:nvSpPr>
            <p:cNvPr name="TextBox 9" id="9"/>
            <p:cNvSpPr txBox="true"/>
            <p:nvPr/>
          </p:nvSpPr>
          <p:spPr>
            <a:xfrm>
              <a:off x="0" y="-9525"/>
              <a:ext cx="20116800" cy="1564005"/>
            </a:xfrm>
            <a:prstGeom prst="rect">
              <a:avLst/>
            </a:prstGeom>
          </p:spPr>
          <p:txBody>
            <a:bodyPr anchor="ctr" rtlCol="false" tIns="0" lIns="0" bIns="0" rIns="0"/>
            <a:lstStyle/>
            <a:p>
              <a:pPr algn="l">
                <a:lnSpc>
                  <a:spcPts val="8640"/>
                </a:lnSpc>
              </a:pPr>
              <a:r>
                <a:rPr lang="en-US" sz="7200">
                  <a:solidFill>
                    <a:srgbClr val="2B2B2B"/>
                  </a:solidFill>
                  <a:latin typeface="Georgia"/>
                  <a:ea typeface="Georgia"/>
                  <a:cs typeface="Georgia"/>
                  <a:sym typeface="Georgia"/>
                </a:rPr>
                <a:t>Echo Vision</a:t>
              </a:r>
            </a:p>
          </p:txBody>
        </p:sp>
      </p:grpSp>
      <p:grpSp>
        <p:nvGrpSpPr>
          <p:cNvPr name="Group 10" id="10"/>
          <p:cNvGrpSpPr/>
          <p:nvPr/>
        </p:nvGrpSpPr>
        <p:grpSpPr>
          <a:xfrm rot="0">
            <a:off x="1303020" y="4393622"/>
            <a:ext cx="13990320" cy="952258"/>
            <a:chOff x="0" y="0"/>
            <a:chExt cx="18653760" cy="1269678"/>
          </a:xfrm>
        </p:grpSpPr>
        <p:sp>
          <p:nvSpPr>
            <p:cNvPr name="Freeform 11" id="11"/>
            <p:cNvSpPr/>
            <p:nvPr/>
          </p:nvSpPr>
          <p:spPr>
            <a:xfrm flipH="false" flipV="false" rot="0">
              <a:off x="0" y="0"/>
              <a:ext cx="18653761" cy="1269678"/>
            </a:xfrm>
            <a:custGeom>
              <a:avLst/>
              <a:gdLst/>
              <a:ahLst/>
              <a:cxnLst/>
              <a:rect r="r" b="b" t="t" l="l"/>
              <a:pathLst>
                <a:path h="1269678" w="18653761">
                  <a:moveTo>
                    <a:pt x="0" y="0"/>
                  </a:moveTo>
                  <a:lnTo>
                    <a:pt x="18653761" y="0"/>
                  </a:lnTo>
                  <a:lnTo>
                    <a:pt x="18653761" y="1269678"/>
                  </a:lnTo>
                  <a:lnTo>
                    <a:pt x="0" y="1269678"/>
                  </a:lnTo>
                  <a:close/>
                </a:path>
              </a:pathLst>
            </a:custGeom>
            <a:blipFill>
              <a:blip r:embed="rId3">
                <a:alphaModFix amt="0"/>
              </a:blip>
              <a:stretch>
                <a:fillRect l="0" t="-257461" r="0" b="-215076"/>
              </a:stretch>
            </a:blipFill>
          </p:spPr>
        </p:sp>
        <p:sp>
          <p:nvSpPr>
            <p:cNvPr name="TextBox 12" id="12"/>
            <p:cNvSpPr txBox="true"/>
            <p:nvPr/>
          </p:nvSpPr>
          <p:spPr>
            <a:xfrm>
              <a:off x="0" y="-57150"/>
              <a:ext cx="18653760" cy="1326828"/>
            </a:xfrm>
            <a:prstGeom prst="rect">
              <a:avLst/>
            </a:prstGeom>
          </p:spPr>
          <p:txBody>
            <a:bodyPr anchor="ctr" rtlCol="false" tIns="0" lIns="0" bIns="0" rIns="0"/>
            <a:lstStyle/>
            <a:p>
              <a:pPr algn="l">
                <a:lnSpc>
                  <a:spcPts val="3240"/>
                </a:lnSpc>
              </a:pPr>
              <a:r>
                <a:rPr lang="en-US" sz="2700">
                  <a:solidFill>
                    <a:srgbClr val="555555"/>
                  </a:solidFill>
                  <a:latin typeface="Calibri (MS)"/>
                  <a:ea typeface="Calibri (MS)"/>
                  <a:cs typeface="Calibri (MS)"/>
                  <a:sym typeface="Calibri (MS)"/>
                </a:rPr>
                <a:t>An AI-powered assistive perception system for</a:t>
              </a:r>
            </a:p>
            <a:p>
              <a:pPr algn="l">
                <a:lnSpc>
                  <a:spcPts val="3240"/>
                </a:lnSpc>
              </a:pPr>
              <a:r>
                <a:rPr lang="en-US" sz="2700">
                  <a:solidFill>
                    <a:srgbClr val="555555"/>
                  </a:solidFill>
                  <a:latin typeface="Calibri (MS)"/>
                  <a:ea typeface="Calibri (MS)"/>
                  <a:cs typeface="Calibri (MS)"/>
                  <a:sym typeface="Calibri (MS)"/>
                </a:rPr>
                <a:t>visually impaired individuals</a:t>
              </a:r>
            </a:p>
          </p:txBody>
        </p:sp>
      </p:grpSp>
      <p:grpSp>
        <p:nvGrpSpPr>
          <p:cNvPr name="Group 13" id="13"/>
          <p:cNvGrpSpPr/>
          <p:nvPr/>
        </p:nvGrpSpPr>
        <p:grpSpPr>
          <a:xfrm rot="0">
            <a:off x="1303020" y="5669731"/>
            <a:ext cx="13716000" cy="438912"/>
            <a:chOff x="0" y="0"/>
            <a:chExt cx="18288000" cy="585216"/>
          </a:xfrm>
        </p:grpSpPr>
        <p:sp>
          <p:nvSpPr>
            <p:cNvPr name="Freeform 14" id="14"/>
            <p:cNvSpPr/>
            <p:nvPr/>
          </p:nvSpPr>
          <p:spPr>
            <a:xfrm flipH="false" flipV="false" rot="0">
              <a:off x="0" y="0"/>
              <a:ext cx="18288000" cy="585216"/>
            </a:xfrm>
            <a:custGeom>
              <a:avLst/>
              <a:gdLst/>
              <a:ahLst/>
              <a:cxnLst/>
              <a:rect r="r" b="b" t="t" l="l"/>
              <a:pathLst>
                <a:path h="585216" w="18288000">
                  <a:moveTo>
                    <a:pt x="0" y="0"/>
                  </a:moveTo>
                  <a:lnTo>
                    <a:pt x="18288000" y="0"/>
                  </a:lnTo>
                  <a:lnTo>
                    <a:pt x="18288000" y="585216"/>
                  </a:lnTo>
                  <a:lnTo>
                    <a:pt x="0" y="585216"/>
                  </a:lnTo>
                  <a:close/>
                </a:path>
              </a:pathLst>
            </a:custGeom>
            <a:blipFill>
              <a:blip r:embed="rId3">
                <a:alphaModFix amt="0"/>
              </a:blip>
              <a:stretch>
                <a:fillRect l="0" t="-558907" r="0" b="-558907"/>
              </a:stretch>
            </a:blipFill>
          </p:spPr>
        </p:sp>
        <p:sp>
          <p:nvSpPr>
            <p:cNvPr name="TextBox 15" id="15"/>
            <p:cNvSpPr txBox="true"/>
            <p:nvPr/>
          </p:nvSpPr>
          <p:spPr>
            <a:xfrm>
              <a:off x="0" y="-57150"/>
              <a:ext cx="18288000" cy="642366"/>
            </a:xfrm>
            <a:prstGeom prst="rect">
              <a:avLst/>
            </a:prstGeom>
          </p:spPr>
          <p:txBody>
            <a:bodyPr anchor="ctr" rtlCol="false" tIns="0" lIns="0" bIns="0" rIns="0"/>
            <a:lstStyle/>
            <a:p>
              <a:pPr algn="l">
                <a:lnSpc>
                  <a:spcPts val="2700"/>
                </a:lnSpc>
              </a:pPr>
              <a:r>
                <a:rPr lang="en-US" sz="2250">
                  <a:solidFill>
                    <a:srgbClr val="6B6B6B"/>
                  </a:solidFill>
                  <a:latin typeface="Calibri (MS)"/>
                  <a:ea typeface="Calibri (MS)"/>
                  <a:cs typeface="Calibri (MS)"/>
                  <a:sym typeface="Calibri (MS)"/>
                </a:rPr>
                <a:t>Unity-based digital twin approach</a:t>
              </a:r>
            </a:p>
          </p:txBody>
        </p:sp>
      </p:grpSp>
      <p:grpSp>
        <p:nvGrpSpPr>
          <p:cNvPr name="Group 16" id="16"/>
          <p:cNvGrpSpPr/>
          <p:nvPr/>
        </p:nvGrpSpPr>
        <p:grpSpPr>
          <a:xfrm rot="0">
            <a:off x="1303020" y="6289618"/>
            <a:ext cx="3036570" cy="39624"/>
            <a:chOff x="0" y="0"/>
            <a:chExt cx="4048760" cy="52832"/>
          </a:xfrm>
        </p:grpSpPr>
        <p:sp>
          <p:nvSpPr>
            <p:cNvPr name="Freeform 17" id="17"/>
            <p:cNvSpPr/>
            <p:nvPr/>
          </p:nvSpPr>
          <p:spPr>
            <a:xfrm flipH="false" flipV="false" rot="0">
              <a:off x="0" y="0"/>
              <a:ext cx="4048760" cy="52832"/>
            </a:xfrm>
            <a:custGeom>
              <a:avLst/>
              <a:gdLst/>
              <a:ahLst/>
              <a:cxnLst/>
              <a:rect r="r" b="b" t="t" l="l"/>
              <a:pathLst>
                <a:path h="52832" w="4048760">
                  <a:moveTo>
                    <a:pt x="0" y="0"/>
                  </a:moveTo>
                  <a:lnTo>
                    <a:pt x="4048760" y="0"/>
                  </a:lnTo>
                  <a:lnTo>
                    <a:pt x="4048760" y="52832"/>
                  </a:lnTo>
                  <a:lnTo>
                    <a:pt x="0" y="52832"/>
                  </a:lnTo>
                  <a:close/>
                </a:path>
              </a:pathLst>
            </a:custGeom>
            <a:solidFill>
              <a:srgbClr val="D0D0D0"/>
            </a:solidFill>
            <a:ln w="19050" cap="sq">
              <a:solidFill>
                <a:srgbClr val="333333"/>
              </a:solidFill>
              <a:prstDash val="solid"/>
              <a:miter/>
            </a:ln>
          </p:spPr>
        </p:sp>
      </p:grpSp>
      <p:grpSp>
        <p:nvGrpSpPr>
          <p:cNvPr name="Group 18" id="18"/>
          <p:cNvGrpSpPr/>
          <p:nvPr/>
        </p:nvGrpSpPr>
        <p:grpSpPr>
          <a:xfrm rot="0">
            <a:off x="1303020" y="6652260"/>
            <a:ext cx="13716000" cy="521208"/>
            <a:chOff x="0" y="0"/>
            <a:chExt cx="18288000" cy="694944"/>
          </a:xfrm>
        </p:grpSpPr>
        <p:sp>
          <p:nvSpPr>
            <p:cNvPr name="Freeform 19" id="19"/>
            <p:cNvSpPr/>
            <p:nvPr/>
          </p:nvSpPr>
          <p:spPr>
            <a:xfrm flipH="false" flipV="false" rot="0">
              <a:off x="0" y="0"/>
              <a:ext cx="18288000" cy="694944"/>
            </a:xfrm>
            <a:custGeom>
              <a:avLst/>
              <a:gdLst/>
              <a:ahLst/>
              <a:cxnLst/>
              <a:rect r="r" b="b" t="t" l="l"/>
              <a:pathLst>
                <a:path h="694944" w="18288000">
                  <a:moveTo>
                    <a:pt x="0" y="0"/>
                  </a:moveTo>
                  <a:lnTo>
                    <a:pt x="18288000" y="0"/>
                  </a:lnTo>
                  <a:lnTo>
                    <a:pt x="18288000" y="694944"/>
                  </a:lnTo>
                  <a:lnTo>
                    <a:pt x="0" y="694944"/>
                  </a:lnTo>
                  <a:close/>
                </a:path>
              </a:pathLst>
            </a:custGeom>
            <a:blipFill>
              <a:blip r:embed="rId3">
                <a:alphaModFix amt="0"/>
              </a:blip>
              <a:stretch>
                <a:fillRect l="0" t="-462764" r="0" b="-462764"/>
              </a:stretch>
            </a:blipFill>
          </p:spPr>
        </p:sp>
        <p:sp>
          <p:nvSpPr>
            <p:cNvPr name="TextBox 20" id="20"/>
            <p:cNvSpPr txBox="true"/>
            <p:nvPr/>
          </p:nvSpPr>
          <p:spPr>
            <a:xfrm>
              <a:off x="0" y="-19050"/>
              <a:ext cx="18288000" cy="713994"/>
            </a:xfrm>
            <a:prstGeom prst="rect">
              <a:avLst/>
            </a:prstGeom>
          </p:spPr>
          <p:txBody>
            <a:bodyPr anchor="ctr" rtlCol="false" tIns="0" lIns="0" bIns="0" rIns="0"/>
            <a:lstStyle/>
            <a:p>
              <a:pPr algn="l">
                <a:lnSpc>
                  <a:spcPts val="3240"/>
                </a:lnSpc>
              </a:pPr>
              <a:r>
                <a:rPr lang="en-US" sz="2700">
                  <a:solidFill>
                    <a:srgbClr val="2B2B2B"/>
                  </a:solidFill>
                  <a:latin typeface="Georgia"/>
                  <a:ea typeface="Georgia"/>
                  <a:cs typeface="Georgia"/>
                  <a:sym typeface="Georgia"/>
                </a:rPr>
                <a:t>Nandeesh  S ·  Monesh  D ·  Madhan S</a:t>
              </a:r>
            </a:p>
          </p:txBody>
        </p:sp>
      </p:grpSp>
      <p:grpSp>
        <p:nvGrpSpPr>
          <p:cNvPr name="Group 21" id="21"/>
          <p:cNvGrpSpPr/>
          <p:nvPr/>
        </p:nvGrpSpPr>
        <p:grpSpPr>
          <a:xfrm rot="0">
            <a:off x="1303020" y="7269480"/>
            <a:ext cx="4428097" cy="732179"/>
            <a:chOff x="0" y="0"/>
            <a:chExt cx="5904130" cy="976238"/>
          </a:xfrm>
        </p:grpSpPr>
        <p:sp>
          <p:nvSpPr>
            <p:cNvPr name="Freeform 22" id="22"/>
            <p:cNvSpPr/>
            <p:nvPr/>
          </p:nvSpPr>
          <p:spPr>
            <a:xfrm flipH="false" flipV="false" rot="0">
              <a:off x="0" y="0"/>
              <a:ext cx="5904130" cy="976238"/>
            </a:xfrm>
            <a:custGeom>
              <a:avLst/>
              <a:gdLst/>
              <a:ahLst/>
              <a:cxnLst/>
              <a:rect r="r" b="b" t="t" l="l"/>
              <a:pathLst>
                <a:path h="976238" w="5904130">
                  <a:moveTo>
                    <a:pt x="0" y="0"/>
                  </a:moveTo>
                  <a:lnTo>
                    <a:pt x="5904130" y="0"/>
                  </a:lnTo>
                  <a:lnTo>
                    <a:pt x="5904130" y="976238"/>
                  </a:lnTo>
                  <a:lnTo>
                    <a:pt x="0" y="976238"/>
                  </a:lnTo>
                  <a:close/>
                </a:path>
              </a:pathLst>
            </a:custGeom>
            <a:blipFill>
              <a:blip r:embed="rId3">
                <a:alphaModFix amt="0"/>
              </a:blip>
              <a:stretch>
                <a:fillRect l="0" t="-336916" r="-209749" b="-293115"/>
              </a:stretch>
            </a:blipFill>
          </p:spPr>
        </p:sp>
        <p:sp>
          <p:nvSpPr>
            <p:cNvPr name="TextBox 23" id="23"/>
            <p:cNvSpPr txBox="true"/>
            <p:nvPr/>
          </p:nvSpPr>
          <p:spPr>
            <a:xfrm>
              <a:off x="0" y="-47625"/>
              <a:ext cx="5904130" cy="1023863"/>
            </a:xfrm>
            <a:prstGeom prst="rect">
              <a:avLst/>
            </a:prstGeom>
          </p:spPr>
          <p:txBody>
            <a:bodyPr anchor="ctr" rtlCol="false" tIns="0" lIns="0" bIns="0" rIns="0"/>
            <a:lstStyle/>
            <a:p>
              <a:pPr algn="l">
                <a:lnSpc>
                  <a:spcPts val="2520"/>
                </a:lnSpc>
              </a:pPr>
              <a:r>
                <a:rPr lang="en-US" sz="2100">
                  <a:solidFill>
                    <a:srgbClr val="6B6B6B"/>
                  </a:solidFill>
                  <a:latin typeface="Calibri (MS)"/>
                  <a:ea typeface="Calibri (MS)"/>
                  <a:cs typeface="Calibri (MS)"/>
                  <a:sym typeface="Calibri (MS)"/>
                </a:rPr>
                <a:t>Department of CSE (AI &amp; ML)</a:t>
              </a:r>
            </a:p>
            <a:p>
              <a:pPr algn="l">
                <a:lnSpc>
                  <a:spcPts val="2520"/>
                </a:lnSpc>
              </a:pPr>
              <a:r>
                <a:rPr lang="en-US" sz="2100">
                  <a:solidFill>
                    <a:srgbClr val="6B6B6B"/>
                  </a:solidFill>
                  <a:latin typeface="Calibri (MS)"/>
                  <a:ea typeface="Calibri (MS)"/>
                  <a:cs typeface="Calibri (MS)"/>
                  <a:sym typeface="Calibri (MS)"/>
                </a:rPr>
                <a:t>Sri Sairam Engineering College</a:t>
              </a:r>
            </a:p>
          </p:txBody>
        </p:sp>
      </p:grpSp>
      <p:sp>
        <p:nvSpPr>
          <p:cNvPr name="Freeform 24" id="24"/>
          <p:cNvSpPr/>
          <p:nvPr/>
        </p:nvSpPr>
        <p:spPr>
          <a:xfrm flipH="false" flipV="false" rot="0">
            <a:off x="8550791" y="1075023"/>
            <a:ext cx="9422678" cy="8183277"/>
          </a:xfrm>
          <a:custGeom>
            <a:avLst/>
            <a:gdLst/>
            <a:ahLst/>
            <a:cxnLst/>
            <a:rect r="r" b="b" t="t" l="l"/>
            <a:pathLst>
              <a:path h="8183277" w="9422678">
                <a:moveTo>
                  <a:pt x="0" y="0"/>
                </a:moveTo>
                <a:lnTo>
                  <a:pt x="9422678" y="0"/>
                </a:lnTo>
                <a:lnTo>
                  <a:pt x="9422678" y="8183277"/>
                </a:lnTo>
                <a:lnTo>
                  <a:pt x="0" y="8183277"/>
                </a:lnTo>
                <a:lnTo>
                  <a:pt x="0" y="0"/>
                </a:lnTo>
                <a:close/>
              </a:path>
            </a:pathLst>
          </a:custGeom>
          <a:blipFill>
            <a:blip r:embed="rId4"/>
            <a:stretch>
              <a:fillRect l="-29801" t="0" r="-24592"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grpSp>
        <p:nvGrpSpPr>
          <p:cNvPr name="Group 2" id="2"/>
          <p:cNvGrpSpPr/>
          <p:nvPr/>
        </p:nvGrpSpPr>
        <p:grpSpPr>
          <a:xfrm rot="0">
            <a:off x="960120" y="576072"/>
            <a:ext cx="16322040" cy="658368"/>
            <a:chOff x="0" y="0"/>
            <a:chExt cx="21762720" cy="877824"/>
          </a:xfrm>
        </p:grpSpPr>
        <p:sp>
          <p:nvSpPr>
            <p:cNvPr name="Freeform 3" id="3"/>
            <p:cNvSpPr/>
            <p:nvPr/>
          </p:nvSpPr>
          <p:spPr>
            <a:xfrm flipH="false" flipV="false" rot="0">
              <a:off x="0" y="0"/>
              <a:ext cx="21762720" cy="877824"/>
            </a:xfrm>
            <a:custGeom>
              <a:avLst/>
              <a:gdLst/>
              <a:ahLst/>
              <a:cxnLst/>
              <a:rect r="r" b="b" t="t" l="l"/>
              <a:pathLst>
                <a:path h="877824" w="21762720">
                  <a:moveTo>
                    <a:pt x="0" y="0"/>
                  </a:moveTo>
                  <a:lnTo>
                    <a:pt x="21762720" y="0"/>
                  </a:lnTo>
                  <a:lnTo>
                    <a:pt x="21762720" y="877824"/>
                  </a:lnTo>
                  <a:lnTo>
                    <a:pt x="0" y="877824"/>
                  </a:lnTo>
                  <a:close/>
                </a:path>
              </a:pathLst>
            </a:custGeom>
            <a:blipFill>
              <a:blip r:embed="rId3">
                <a:alphaModFix amt="0"/>
              </a:blip>
              <a:stretch>
                <a:fillRect l="0" t="-433066" r="0" b="-433066"/>
              </a:stretch>
            </a:blipFill>
          </p:spPr>
        </p:sp>
        <p:sp>
          <p:nvSpPr>
            <p:cNvPr name="TextBox 4" id="4"/>
            <p:cNvSpPr txBox="true"/>
            <p:nvPr/>
          </p:nvSpPr>
          <p:spPr>
            <a:xfrm>
              <a:off x="0" y="0"/>
              <a:ext cx="21762720" cy="877824"/>
            </a:xfrm>
            <a:prstGeom prst="rect">
              <a:avLst/>
            </a:prstGeom>
          </p:spPr>
          <p:txBody>
            <a:bodyPr anchor="ctr" rtlCol="false" tIns="0" lIns="0" bIns="0" rIns="0"/>
            <a:lstStyle/>
            <a:p>
              <a:pPr algn="l">
                <a:lnSpc>
                  <a:spcPts val="5759"/>
                </a:lnSpc>
              </a:pPr>
              <a:r>
                <a:rPr lang="en-US" sz="4800">
                  <a:solidFill>
                    <a:srgbClr val="2B2B2B"/>
                  </a:solidFill>
                  <a:latin typeface="Georgia"/>
                  <a:ea typeface="Georgia"/>
                  <a:cs typeface="Georgia"/>
                  <a:sym typeface="Georgia"/>
                </a:rPr>
                <a:t>Introduction</a:t>
              </a:r>
            </a:p>
          </p:txBody>
        </p:sp>
      </p:grpSp>
      <p:grpSp>
        <p:nvGrpSpPr>
          <p:cNvPr name="Group 5" id="5"/>
          <p:cNvGrpSpPr/>
          <p:nvPr/>
        </p:nvGrpSpPr>
        <p:grpSpPr>
          <a:xfrm rot="0">
            <a:off x="950595" y="1293495"/>
            <a:ext cx="1088898" cy="67056"/>
            <a:chOff x="0" y="0"/>
            <a:chExt cx="1451864" cy="89408"/>
          </a:xfrm>
        </p:grpSpPr>
        <p:sp>
          <p:nvSpPr>
            <p:cNvPr name="Freeform 6" id="6"/>
            <p:cNvSpPr/>
            <p:nvPr/>
          </p:nvSpPr>
          <p:spPr>
            <a:xfrm flipH="false" flipV="false" rot="0">
              <a:off x="0" y="0"/>
              <a:ext cx="1451864" cy="89408"/>
            </a:xfrm>
            <a:custGeom>
              <a:avLst/>
              <a:gdLst/>
              <a:ahLst/>
              <a:cxnLst/>
              <a:rect r="r" b="b" t="t" l="l"/>
              <a:pathLst>
                <a:path h="89408" w="1451864">
                  <a:moveTo>
                    <a:pt x="0" y="0"/>
                  </a:moveTo>
                  <a:lnTo>
                    <a:pt x="1451864" y="0"/>
                  </a:lnTo>
                  <a:lnTo>
                    <a:pt x="1451864" y="89408"/>
                  </a:lnTo>
                  <a:lnTo>
                    <a:pt x="0" y="89408"/>
                  </a:lnTo>
                  <a:close/>
                </a:path>
              </a:pathLst>
            </a:custGeom>
            <a:solidFill>
              <a:srgbClr val="FF8A80"/>
            </a:solidFill>
            <a:ln w="19050" cap="sq">
              <a:solidFill>
                <a:srgbClr val="333333"/>
              </a:solidFill>
              <a:prstDash val="solid"/>
              <a:miter/>
            </a:ln>
          </p:spPr>
        </p:sp>
      </p:grpSp>
      <p:grpSp>
        <p:nvGrpSpPr>
          <p:cNvPr name="Group 7" id="7"/>
          <p:cNvGrpSpPr/>
          <p:nvPr/>
        </p:nvGrpSpPr>
        <p:grpSpPr>
          <a:xfrm rot="0">
            <a:off x="950595" y="9701403"/>
            <a:ext cx="16386353" cy="35509"/>
            <a:chOff x="0" y="0"/>
            <a:chExt cx="21848470" cy="47346"/>
          </a:xfrm>
        </p:grpSpPr>
        <p:sp>
          <p:nvSpPr>
            <p:cNvPr name="Freeform 8" id="8"/>
            <p:cNvSpPr/>
            <p:nvPr/>
          </p:nvSpPr>
          <p:spPr>
            <a:xfrm flipH="false" flipV="false" rot="0">
              <a:off x="0" y="0"/>
              <a:ext cx="21848445" cy="47371"/>
            </a:xfrm>
            <a:custGeom>
              <a:avLst/>
              <a:gdLst/>
              <a:ahLst/>
              <a:cxnLst/>
              <a:rect r="r" b="b" t="t" l="l"/>
              <a:pathLst>
                <a:path h="47371" w="21848445">
                  <a:moveTo>
                    <a:pt x="0" y="0"/>
                  </a:moveTo>
                  <a:lnTo>
                    <a:pt x="21848445" y="0"/>
                  </a:lnTo>
                  <a:lnTo>
                    <a:pt x="21848445" y="47371"/>
                  </a:lnTo>
                  <a:lnTo>
                    <a:pt x="0" y="47371"/>
                  </a:lnTo>
                  <a:close/>
                </a:path>
              </a:pathLst>
            </a:custGeom>
            <a:solidFill>
              <a:srgbClr val="D0D0D0"/>
            </a:solidFill>
            <a:ln w="19050" cap="sq">
              <a:solidFill>
                <a:srgbClr val="333333"/>
              </a:solidFill>
              <a:prstDash val="solid"/>
              <a:miter/>
            </a:ln>
          </p:spPr>
        </p:sp>
      </p:grpSp>
      <p:grpSp>
        <p:nvGrpSpPr>
          <p:cNvPr name="Group 9" id="9"/>
          <p:cNvGrpSpPr/>
          <p:nvPr/>
        </p:nvGrpSpPr>
        <p:grpSpPr>
          <a:xfrm rot="0">
            <a:off x="15636240" y="9806940"/>
            <a:ext cx="1645920" cy="356616"/>
            <a:chOff x="0" y="0"/>
            <a:chExt cx="2194560" cy="475488"/>
          </a:xfrm>
        </p:grpSpPr>
        <p:sp>
          <p:nvSpPr>
            <p:cNvPr name="Freeform 10" id="10"/>
            <p:cNvSpPr/>
            <p:nvPr/>
          </p:nvSpPr>
          <p:spPr>
            <a:xfrm flipH="false" flipV="false" rot="0">
              <a:off x="0" y="0"/>
              <a:ext cx="2194560" cy="475488"/>
            </a:xfrm>
            <a:custGeom>
              <a:avLst/>
              <a:gdLst/>
              <a:ahLst/>
              <a:cxnLst/>
              <a:rect r="r" b="b" t="t" l="l"/>
              <a:pathLst>
                <a:path h="475488" w="2194560">
                  <a:moveTo>
                    <a:pt x="0" y="0"/>
                  </a:moveTo>
                  <a:lnTo>
                    <a:pt x="2194560" y="0"/>
                  </a:lnTo>
                  <a:lnTo>
                    <a:pt x="2194560" y="475488"/>
                  </a:lnTo>
                  <a:lnTo>
                    <a:pt x="0" y="475488"/>
                  </a:lnTo>
                  <a:close/>
                </a:path>
              </a:pathLst>
            </a:custGeom>
            <a:blipFill>
              <a:blip r:embed="rId3">
                <a:alphaModFix amt="0"/>
              </a:blip>
              <a:stretch>
                <a:fillRect l="0" t="-39930" r="0" b="-39930"/>
              </a:stretch>
            </a:blipFill>
          </p:spPr>
        </p:sp>
        <p:sp>
          <p:nvSpPr>
            <p:cNvPr name="TextBox 11" id="11"/>
            <p:cNvSpPr txBox="true"/>
            <p:nvPr/>
          </p:nvSpPr>
          <p:spPr>
            <a:xfrm>
              <a:off x="0" y="-28575"/>
              <a:ext cx="2194560" cy="504063"/>
            </a:xfrm>
            <a:prstGeom prst="rect">
              <a:avLst/>
            </a:prstGeom>
          </p:spPr>
          <p:txBody>
            <a:bodyPr anchor="ctr" rtlCol="false" tIns="0" lIns="0" bIns="0" rIns="0"/>
            <a:lstStyle/>
            <a:p>
              <a:pPr algn="r">
                <a:lnSpc>
                  <a:spcPts val="1980"/>
                </a:lnSpc>
              </a:pPr>
              <a:r>
                <a:rPr lang="en-US" sz="1650">
                  <a:solidFill>
                    <a:srgbClr val="6B6B6B"/>
                  </a:solidFill>
                  <a:latin typeface="Calibri (MS)"/>
                  <a:ea typeface="Calibri (MS)"/>
                  <a:cs typeface="Calibri (MS)"/>
                  <a:sym typeface="Calibri (MS)"/>
                </a:rPr>
                <a:t>02</a:t>
              </a:r>
            </a:p>
          </p:txBody>
        </p:sp>
      </p:grpSp>
      <p:grpSp>
        <p:nvGrpSpPr>
          <p:cNvPr name="Group 12" id="12"/>
          <p:cNvGrpSpPr/>
          <p:nvPr/>
        </p:nvGrpSpPr>
        <p:grpSpPr>
          <a:xfrm rot="0">
            <a:off x="950595" y="1951863"/>
            <a:ext cx="80772" cy="1459230"/>
            <a:chOff x="0" y="0"/>
            <a:chExt cx="107696" cy="1945640"/>
          </a:xfrm>
        </p:grpSpPr>
        <p:sp>
          <p:nvSpPr>
            <p:cNvPr name="Freeform 13" id="13"/>
            <p:cNvSpPr/>
            <p:nvPr/>
          </p:nvSpPr>
          <p:spPr>
            <a:xfrm flipH="false" flipV="false" rot="0">
              <a:off x="0" y="0"/>
              <a:ext cx="107696" cy="1945640"/>
            </a:xfrm>
            <a:custGeom>
              <a:avLst/>
              <a:gdLst/>
              <a:ahLst/>
              <a:cxnLst/>
              <a:rect r="r" b="b" t="t" l="l"/>
              <a:pathLst>
                <a:path h="1945640" w="107696">
                  <a:moveTo>
                    <a:pt x="0" y="0"/>
                  </a:moveTo>
                  <a:lnTo>
                    <a:pt x="107696" y="0"/>
                  </a:lnTo>
                  <a:lnTo>
                    <a:pt x="107696" y="1945640"/>
                  </a:lnTo>
                  <a:lnTo>
                    <a:pt x="0" y="1945640"/>
                  </a:lnTo>
                  <a:close/>
                </a:path>
              </a:pathLst>
            </a:custGeom>
            <a:solidFill>
              <a:srgbClr val="FF8A80"/>
            </a:solidFill>
            <a:ln w="19050" cap="sq">
              <a:solidFill>
                <a:srgbClr val="333333"/>
              </a:solidFill>
              <a:prstDash val="solid"/>
              <a:miter/>
            </a:ln>
          </p:spPr>
        </p:sp>
      </p:grpSp>
      <p:sp>
        <p:nvSpPr>
          <p:cNvPr name="TextBox 14" id="14"/>
          <p:cNvSpPr txBox="true"/>
          <p:nvPr/>
        </p:nvSpPr>
        <p:spPr>
          <a:xfrm rot="0">
            <a:off x="1371600" y="1794510"/>
            <a:ext cx="15773400" cy="1771650"/>
          </a:xfrm>
          <a:prstGeom prst="rect">
            <a:avLst/>
          </a:prstGeom>
        </p:spPr>
        <p:txBody>
          <a:bodyPr anchor="t" rtlCol="false" tIns="0" lIns="0" bIns="0" rIns="0">
            <a:spAutoFit/>
          </a:bodyPr>
          <a:lstStyle/>
          <a:p>
            <a:pPr algn="l">
              <a:lnSpc>
                <a:spcPts val="3240"/>
              </a:lnSpc>
            </a:pPr>
            <a:r>
              <a:rPr lang="en-US" sz="2700">
                <a:solidFill>
                  <a:srgbClr val="2B2B2B"/>
                </a:solidFill>
                <a:latin typeface="Calibri (MS)"/>
                <a:ea typeface="Calibri (MS)"/>
                <a:cs typeface="Calibri (MS)"/>
                <a:sym typeface="Calibri (MS)"/>
              </a:rPr>
              <a:t>Echo Vision is an AI-powered assistive perception concept that aims to help visually impaired individuals understand their surroundings through intelligent environmental sensing and meaningful information delivery.</a:t>
            </a:r>
          </a:p>
        </p:txBody>
      </p:sp>
      <p:grpSp>
        <p:nvGrpSpPr>
          <p:cNvPr name="Group 15" id="15"/>
          <p:cNvGrpSpPr/>
          <p:nvPr/>
        </p:nvGrpSpPr>
        <p:grpSpPr>
          <a:xfrm rot="0">
            <a:off x="950595" y="4077843"/>
            <a:ext cx="80772" cy="1459230"/>
            <a:chOff x="0" y="0"/>
            <a:chExt cx="107696" cy="1945640"/>
          </a:xfrm>
        </p:grpSpPr>
        <p:sp>
          <p:nvSpPr>
            <p:cNvPr name="Freeform 16" id="16"/>
            <p:cNvSpPr/>
            <p:nvPr/>
          </p:nvSpPr>
          <p:spPr>
            <a:xfrm flipH="false" flipV="false" rot="0">
              <a:off x="0" y="0"/>
              <a:ext cx="107696" cy="1945640"/>
            </a:xfrm>
            <a:custGeom>
              <a:avLst/>
              <a:gdLst/>
              <a:ahLst/>
              <a:cxnLst/>
              <a:rect r="r" b="b" t="t" l="l"/>
              <a:pathLst>
                <a:path h="1945640" w="107696">
                  <a:moveTo>
                    <a:pt x="0" y="0"/>
                  </a:moveTo>
                  <a:lnTo>
                    <a:pt x="107696" y="0"/>
                  </a:lnTo>
                  <a:lnTo>
                    <a:pt x="107696" y="1945640"/>
                  </a:lnTo>
                  <a:lnTo>
                    <a:pt x="0" y="1945640"/>
                  </a:lnTo>
                  <a:close/>
                </a:path>
              </a:pathLst>
            </a:custGeom>
            <a:solidFill>
              <a:srgbClr val="FF8A80"/>
            </a:solidFill>
            <a:ln w="19050" cap="sq">
              <a:solidFill>
                <a:srgbClr val="333333"/>
              </a:solidFill>
              <a:prstDash val="solid"/>
              <a:miter/>
            </a:ln>
          </p:spPr>
        </p:sp>
      </p:grpSp>
      <p:sp>
        <p:nvSpPr>
          <p:cNvPr name="TextBox 17" id="17"/>
          <p:cNvSpPr txBox="true"/>
          <p:nvPr/>
        </p:nvSpPr>
        <p:spPr>
          <a:xfrm rot="0">
            <a:off x="1371600" y="3920490"/>
            <a:ext cx="15773400" cy="1771650"/>
          </a:xfrm>
          <a:prstGeom prst="rect">
            <a:avLst/>
          </a:prstGeom>
        </p:spPr>
        <p:txBody>
          <a:bodyPr anchor="t" rtlCol="false" tIns="0" lIns="0" bIns="0" rIns="0">
            <a:spAutoFit/>
          </a:bodyPr>
          <a:lstStyle/>
          <a:p>
            <a:pPr algn="l">
              <a:lnSpc>
                <a:spcPts val="3240"/>
              </a:lnSpc>
            </a:pPr>
            <a:r>
              <a:rPr lang="en-US" sz="2700">
                <a:solidFill>
                  <a:srgbClr val="2B2B2B"/>
                </a:solidFill>
                <a:latin typeface="Calibri (MS)"/>
                <a:ea typeface="Calibri (MS)"/>
                <a:cs typeface="Calibri (MS)"/>
                <a:sym typeface="Calibri (MS)"/>
              </a:rPr>
              <a:t>The system will combine virtual environment simulation, computer vision concepts and spatial perception to turn raw environmental information into clear guidance.</a:t>
            </a:r>
          </a:p>
        </p:txBody>
      </p:sp>
      <p:grpSp>
        <p:nvGrpSpPr>
          <p:cNvPr name="Group 18" id="18"/>
          <p:cNvGrpSpPr/>
          <p:nvPr/>
        </p:nvGrpSpPr>
        <p:grpSpPr>
          <a:xfrm rot="0">
            <a:off x="950595" y="6203823"/>
            <a:ext cx="80772" cy="1459230"/>
            <a:chOff x="0" y="0"/>
            <a:chExt cx="107696" cy="1945640"/>
          </a:xfrm>
        </p:grpSpPr>
        <p:sp>
          <p:nvSpPr>
            <p:cNvPr name="Freeform 19" id="19"/>
            <p:cNvSpPr/>
            <p:nvPr/>
          </p:nvSpPr>
          <p:spPr>
            <a:xfrm flipH="false" flipV="false" rot="0">
              <a:off x="0" y="0"/>
              <a:ext cx="107696" cy="1945640"/>
            </a:xfrm>
            <a:custGeom>
              <a:avLst/>
              <a:gdLst/>
              <a:ahLst/>
              <a:cxnLst/>
              <a:rect r="r" b="b" t="t" l="l"/>
              <a:pathLst>
                <a:path h="1945640" w="107696">
                  <a:moveTo>
                    <a:pt x="0" y="0"/>
                  </a:moveTo>
                  <a:lnTo>
                    <a:pt x="107696" y="0"/>
                  </a:lnTo>
                  <a:lnTo>
                    <a:pt x="107696" y="1945640"/>
                  </a:lnTo>
                  <a:lnTo>
                    <a:pt x="0" y="1945640"/>
                  </a:lnTo>
                  <a:close/>
                </a:path>
              </a:pathLst>
            </a:custGeom>
            <a:solidFill>
              <a:srgbClr val="FF8A80"/>
            </a:solidFill>
            <a:ln w="19050" cap="sq">
              <a:solidFill>
                <a:srgbClr val="333333"/>
              </a:solidFill>
              <a:prstDash val="solid"/>
              <a:miter/>
            </a:ln>
          </p:spPr>
        </p:sp>
      </p:grpSp>
      <p:sp>
        <p:nvSpPr>
          <p:cNvPr name="TextBox 20" id="20"/>
          <p:cNvSpPr txBox="true"/>
          <p:nvPr/>
        </p:nvSpPr>
        <p:spPr>
          <a:xfrm rot="0">
            <a:off x="1371600" y="6046470"/>
            <a:ext cx="15773400" cy="1771650"/>
          </a:xfrm>
          <a:prstGeom prst="rect">
            <a:avLst/>
          </a:prstGeom>
        </p:spPr>
        <p:txBody>
          <a:bodyPr anchor="t" rtlCol="false" tIns="0" lIns="0" bIns="0" rIns="0">
            <a:spAutoFit/>
          </a:bodyPr>
          <a:lstStyle/>
          <a:p>
            <a:pPr algn="l">
              <a:lnSpc>
                <a:spcPts val="3240"/>
              </a:lnSpc>
            </a:pPr>
            <a:r>
              <a:rPr lang="en-US" sz="2700">
                <a:solidFill>
                  <a:srgbClr val="2B2B2B"/>
                </a:solidFill>
                <a:latin typeface="Calibri (MS)"/>
                <a:ea typeface="Calibri (MS)"/>
                <a:cs typeface="Calibri (MS)"/>
                <a:sym typeface="Calibri (MS)"/>
              </a:rPr>
              <a:t>Development follows a Unity-based digital twin approach. Perception capabilities will first be designed and refined in a virtual environment, before any physical hardware is introduced.</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grpSp>
        <p:nvGrpSpPr>
          <p:cNvPr name="Group 2" id="2"/>
          <p:cNvGrpSpPr/>
          <p:nvPr/>
        </p:nvGrpSpPr>
        <p:grpSpPr>
          <a:xfrm rot="0">
            <a:off x="960120" y="576072"/>
            <a:ext cx="16322040" cy="658368"/>
            <a:chOff x="0" y="0"/>
            <a:chExt cx="21762720" cy="877824"/>
          </a:xfrm>
        </p:grpSpPr>
        <p:sp>
          <p:nvSpPr>
            <p:cNvPr name="Freeform 3" id="3"/>
            <p:cNvSpPr/>
            <p:nvPr/>
          </p:nvSpPr>
          <p:spPr>
            <a:xfrm flipH="false" flipV="false" rot="0">
              <a:off x="0" y="0"/>
              <a:ext cx="21762720" cy="877824"/>
            </a:xfrm>
            <a:custGeom>
              <a:avLst/>
              <a:gdLst/>
              <a:ahLst/>
              <a:cxnLst/>
              <a:rect r="r" b="b" t="t" l="l"/>
              <a:pathLst>
                <a:path h="877824" w="21762720">
                  <a:moveTo>
                    <a:pt x="0" y="0"/>
                  </a:moveTo>
                  <a:lnTo>
                    <a:pt x="21762720" y="0"/>
                  </a:lnTo>
                  <a:lnTo>
                    <a:pt x="21762720" y="877824"/>
                  </a:lnTo>
                  <a:lnTo>
                    <a:pt x="0" y="877824"/>
                  </a:lnTo>
                  <a:close/>
                </a:path>
              </a:pathLst>
            </a:custGeom>
            <a:blipFill>
              <a:blip r:embed="rId3">
                <a:alphaModFix amt="0"/>
              </a:blip>
              <a:stretch>
                <a:fillRect l="0" t="-433066" r="0" b="-433066"/>
              </a:stretch>
            </a:blipFill>
          </p:spPr>
        </p:sp>
        <p:sp>
          <p:nvSpPr>
            <p:cNvPr name="TextBox 4" id="4"/>
            <p:cNvSpPr txBox="true"/>
            <p:nvPr/>
          </p:nvSpPr>
          <p:spPr>
            <a:xfrm>
              <a:off x="0" y="0"/>
              <a:ext cx="21762720" cy="877824"/>
            </a:xfrm>
            <a:prstGeom prst="rect">
              <a:avLst/>
            </a:prstGeom>
          </p:spPr>
          <p:txBody>
            <a:bodyPr anchor="ctr" rtlCol="false" tIns="0" lIns="0" bIns="0" rIns="0"/>
            <a:lstStyle/>
            <a:p>
              <a:pPr algn="l">
                <a:lnSpc>
                  <a:spcPts val="5759"/>
                </a:lnSpc>
              </a:pPr>
              <a:r>
                <a:rPr lang="en-US" sz="4800">
                  <a:solidFill>
                    <a:srgbClr val="2B2B2B"/>
                  </a:solidFill>
                  <a:latin typeface="Georgia"/>
                  <a:ea typeface="Georgia"/>
                  <a:cs typeface="Georgia"/>
                  <a:sym typeface="Georgia"/>
                </a:rPr>
                <a:t>Problem Statement</a:t>
              </a:r>
            </a:p>
          </p:txBody>
        </p:sp>
      </p:grpSp>
      <p:grpSp>
        <p:nvGrpSpPr>
          <p:cNvPr name="Group 5" id="5"/>
          <p:cNvGrpSpPr/>
          <p:nvPr/>
        </p:nvGrpSpPr>
        <p:grpSpPr>
          <a:xfrm rot="0">
            <a:off x="950595" y="1293495"/>
            <a:ext cx="1088898" cy="67056"/>
            <a:chOff x="0" y="0"/>
            <a:chExt cx="1451864" cy="89408"/>
          </a:xfrm>
        </p:grpSpPr>
        <p:sp>
          <p:nvSpPr>
            <p:cNvPr name="Freeform 6" id="6"/>
            <p:cNvSpPr/>
            <p:nvPr/>
          </p:nvSpPr>
          <p:spPr>
            <a:xfrm flipH="false" flipV="false" rot="0">
              <a:off x="0" y="0"/>
              <a:ext cx="1451864" cy="89408"/>
            </a:xfrm>
            <a:custGeom>
              <a:avLst/>
              <a:gdLst/>
              <a:ahLst/>
              <a:cxnLst/>
              <a:rect r="r" b="b" t="t" l="l"/>
              <a:pathLst>
                <a:path h="89408" w="1451864">
                  <a:moveTo>
                    <a:pt x="0" y="0"/>
                  </a:moveTo>
                  <a:lnTo>
                    <a:pt x="1451864" y="0"/>
                  </a:lnTo>
                  <a:lnTo>
                    <a:pt x="1451864" y="89408"/>
                  </a:lnTo>
                  <a:lnTo>
                    <a:pt x="0" y="89408"/>
                  </a:lnTo>
                  <a:close/>
                </a:path>
              </a:pathLst>
            </a:custGeom>
            <a:solidFill>
              <a:srgbClr val="FF8A80"/>
            </a:solidFill>
            <a:ln w="19050" cap="sq">
              <a:solidFill>
                <a:srgbClr val="333333"/>
              </a:solidFill>
              <a:prstDash val="solid"/>
              <a:miter/>
            </a:ln>
          </p:spPr>
        </p:sp>
      </p:grpSp>
      <p:grpSp>
        <p:nvGrpSpPr>
          <p:cNvPr name="Group 7" id="7"/>
          <p:cNvGrpSpPr/>
          <p:nvPr/>
        </p:nvGrpSpPr>
        <p:grpSpPr>
          <a:xfrm rot="0">
            <a:off x="950595" y="9701403"/>
            <a:ext cx="16386353" cy="35509"/>
            <a:chOff x="0" y="0"/>
            <a:chExt cx="21848470" cy="47346"/>
          </a:xfrm>
        </p:grpSpPr>
        <p:sp>
          <p:nvSpPr>
            <p:cNvPr name="Freeform 8" id="8"/>
            <p:cNvSpPr/>
            <p:nvPr/>
          </p:nvSpPr>
          <p:spPr>
            <a:xfrm flipH="false" flipV="false" rot="0">
              <a:off x="0" y="0"/>
              <a:ext cx="21848445" cy="47371"/>
            </a:xfrm>
            <a:custGeom>
              <a:avLst/>
              <a:gdLst/>
              <a:ahLst/>
              <a:cxnLst/>
              <a:rect r="r" b="b" t="t" l="l"/>
              <a:pathLst>
                <a:path h="47371" w="21848445">
                  <a:moveTo>
                    <a:pt x="0" y="0"/>
                  </a:moveTo>
                  <a:lnTo>
                    <a:pt x="21848445" y="0"/>
                  </a:lnTo>
                  <a:lnTo>
                    <a:pt x="21848445" y="47371"/>
                  </a:lnTo>
                  <a:lnTo>
                    <a:pt x="0" y="47371"/>
                  </a:lnTo>
                  <a:close/>
                </a:path>
              </a:pathLst>
            </a:custGeom>
            <a:solidFill>
              <a:srgbClr val="D0D0D0"/>
            </a:solidFill>
            <a:ln w="19050" cap="sq">
              <a:solidFill>
                <a:srgbClr val="333333"/>
              </a:solidFill>
              <a:prstDash val="solid"/>
              <a:miter/>
            </a:ln>
          </p:spPr>
        </p:sp>
      </p:grpSp>
      <p:grpSp>
        <p:nvGrpSpPr>
          <p:cNvPr name="Group 9" id="9"/>
          <p:cNvGrpSpPr/>
          <p:nvPr/>
        </p:nvGrpSpPr>
        <p:grpSpPr>
          <a:xfrm rot="0">
            <a:off x="15636240" y="9806940"/>
            <a:ext cx="1645920" cy="356616"/>
            <a:chOff x="0" y="0"/>
            <a:chExt cx="2194560" cy="475488"/>
          </a:xfrm>
        </p:grpSpPr>
        <p:sp>
          <p:nvSpPr>
            <p:cNvPr name="Freeform 10" id="10"/>
            <p:cNvSpPr/>
            <p:nvPr/>
          </p:nvSpPr>
          <p:spPr>
            <a:xfrm flipH="false" flipV="false" rot="0">
              <a:off x="0" y="0"/>
              <a:ext cx="2194560" cy="475488"/>
            </a:xfrm>
            <a:custGeom>
              <a:avLst/>
              <a:gdLst/>
              <a:ahLst/>
              <a:cxnLst/>
              <a:rect r="r" b="b" t="t" l="l"/>
              <a:pathLst>
                <a:path h="475488" w="2194560">
                  <a:moveTo>
                    <a:pt x="0" y="0"/>
                  </a:moveTo>
                  <a:lnTo>
                    <a:pt x="2194560" y="0"/>
                  </a:lnTo>
                  <a:lnTo>
                    <a:pt x="2194560" y="475488"/>
                  </a:lnTo>
                  <a:lnTo>
                    <a:pt x="0" y="475488"/>
                  </a:lnTo>
                  <a:close/>
                </a:path>
              </a:pathLst>
            </a:custGeom>
            <a:blipFill>
              <a:blip r:embed="rId3">
                <a:alphaModFix amt="0"/>
              </a:blip>
              <a:stretch>
                <a:fillRect l="0" t="-39930" r="0" b="-39930"/>
              </a:stretch>
            </a:blipFill>
          </p:spPr>
        </p:sp>
        <p:sp>
          <p:nvSpPr>
            <p:cNvPr name="TextBox 11" id="11"/>
            <p:cNvSpPr txBox="true"/>
            <p:nvPr/>
          </p:nvSpPr>
          <p:spPr>
            <a:xfrm>
              <a:off x="0" y="-28575"/>
              <a:ext cx="2194560" cy="504063"/>
            </a:xfrm>
            <a:prstGeom prst="rect">
              <a:avLst/>
            </a:prstGeom>
          </p:spPr>
          <p:txBody>
            <a:bodyPr anchor="ctr" rtlCol="false" tIns="0" lIns="0" bIns="0" rIns="0"/>
            <a:lstStyle/>
            <a:p>
              <a:pPr algn="r">
                <a:lnSpc>
                  <a:spcPts val="1980"/>
                </a:lnSpc>
              </a:pPr>
              <a:r>
                <a:rPr lang="en-US" sz="1650">
                  <a:solidFill>
                    <a:srgbClr val="6B6B6B"/>
                  </a:solidFill>
                  <a:latin typeface="Calibri (MS)"/>
                  <a:ea typeface="Calibri (MS)"/>
                  <a:cs typeface="Calibri (MS)"/>
                  <a:sym typeface="Calibri (MS)"/>
                </a:rPr>
                <a:t>03</a:t>
              </a:r>
            </a:p>
          </p:txBody>
        </p:sp>
      </p:grpSp>
      <p:sp>
        <p:nvSpPr>
          <p:cNvPr name="TextBox 12" id="12"/>
          <p:cNvSpPr txBox="true"/>
          <p:nvPr/>
        </p:nvSpPr>
        <p:spPr>
          <a:xfrm rot="0">
            <a:off x="960120" y="1794510"/>
            <a:ext cx="8915400" cy="3486150"/>
          </a:xfrm>
          <a:prstGeom prst="rect">
            <a:avLst/>
          </a:prstGeom>
        </p:spPr>
        <p:txBody>
          <a:bodyPr anchor="t" rtlCol="false" tIns="0" lIns="0" bIns="0" rIns="0">
            <a:spAutoFit/>
          </a:bodyPr>
          <a:lstStyle/>
          <a:p>
            <a:pPr algn="l">
              <a:lnSpc>
                <a:spcPts val="3240"/>
              </a:lnSpc>
            </a:pPr>
            <a:r>
              <a:rPr lang="en-US" sz="2700">
                <a:solidFill>
                  <a:srgbClr val="2B2B2B"/>
                </a:solidFill>
                <a:latin typeface="Calibri (MS)"/>
                <a:ea typeface="Calibri (MS)"/>
                <a:cs typeface="Calibri (MS)"/>
                <a:sym typeface="Calibri (MS)"/>
              </a:rPr>
              <a:t>Visually impaired individuals find it difficult to identify objects along their path, to judge how far obstacles are, and to move through unfamiliar places without assistance. Conventional mobility aids support physical navigation, but offer limited contextual information about what lies ahead.</a:t>
            </a:r>
          </a:p>
        </p:txBody>
      </p:sp>
      <p:grpSp>
        <p:nvGrpSpPr>
          <p:cNvPr name="Group 13" id="13"/>
          <p:cNvGrpSpPr/>
          <p:nvPr/>
        </p:nvGrpSpPr>
        <p:grpSpPr>
          <a:xfrm rot="0">
            <a:off x="10346055" y="1910715"/>
            <a:ext cx="6945630" cy="677418"/>
            <a:chOff x="0" y="0"/>
            <a:chExt cx="9260840" cy="903224"/>
          </a:xfrm>
        </p:grpSpPr>
        <p:sp>
          <p:nvSpPr>
            <p:cNvPr name="Freeform 14" id="14"/>
            <p:cNvSpPr/>
            <p:nvPr/>
          </p:nvSpPr>
          <p:spPr>
            <a:xfrm flipH="false" flipV="false" rot="0">
              <a:off x="0" y="0"/>
              <a:ext cx="9260840" cy="903224"/>
            </a:xfrm>
            <a:custGeom>
              <a:avLst/>
              <a:gdLst/>
              <a:ahLst/>
              <a:cxnLst/>
              <a:rect r="r" b="b" t="t" l="l"/>
              <a:pathLst>
                <a:path h="903224" w="9260840">
                  <a:moveTo>
                    <a:pt x="0" y="75311"/>
                  </a:moveTo>
                  <a:cubicBezTo>
                    <a:pt x="0" y="33655"/>
                    <a:pt x="33655" y="0"/>
                    <a:pt x="75311" y="0"/>
                  </a:cubicBezTo>
                  <a:lnTo>
                    <a:pt x="9185529" y="0"/>
                  </a:lnTo>
                  <a:cubicBezTo>
                    <a:pt x="9227058" y="0"/>
                    <a:pt x="9260840" y="33655"/>
                    <a:pt x="9260840" y="75311"/>
                  </a:cubicBezTo>
                  <a:lnTo>
                    <a:pt x="9260840" y="827913"/>
                  </a:lnTo>
                  <a:cubicBezTo>
                    <a:pt x="9260840" y="869442"/>
                    <a:pt x="9227186" y="903224"/>
                    <a:pt x="9185529" y="903224"/>
                  </a:cubicBezTo>
                  <a:lnTo>
                    <a:pt x="75311" y="903224"/>
                  </a:lnTo>
                  <a:cubicBezTo>
                    <a:pt x="33655" y="903224"/>
                    <a:pt x="0" y="869569"/>
                    <a:pt x="0" y="827913"/>
                  </a:cubicBezTo>
                  <a:close/>
                </a:path>
              </a:pathLst>
            </a:custGeom>
            <a:solidFill>
              <a:srgbClr val="FFFFFF"/>
            </a:solidFill>
            <a:ln w="19050" cap="sq">
              <a:solidFill>
                <a:srgbClr val="DCDCDC"/>
              </a:solidFill>
              <a:prstDash val="solid"/>
              <a:miter/>
            </a:ln>
          </p:spPr>
        </p:sp>
      </p:grpSp>
      <p:grpSp>
        <p:nvGrpSpPr>
          <p:cNvPr name="Group 15" id="15"/>
          <p:cNvGrpSpPr/>
          <p:nvPr/>
        </p:nvGrpSpPr>
        <p:grpSpPr>
          <a:xfrm rot="0">
            <a:off x="10346055" y="1910715"/>
            <a:ext cx="115062" cy="677418"/>
            <a:chOff x="0" y="0"/>
            <a:chExt cx="153416" cy="903224"/>
          </a:xfrm>
        </p:grpSpPr>
        <p:sp>
          <p:nvSpPr>
            <p:cNvPr name="Freeform 16" id="16"/>
            <p:cNvSpPr/>
            <p:nvPr/>
          </p:nvSpPr>
          <p:spPr>
            <a:xfrm flipH="false" flipV="false" rot="0">
              <a:off x="0" y="0"/>
              <a:ext cx="153416" cy="903224"/>
            </a:xfrm>
            <a:custGeom>
              <a:avLst/>
              <a:gdLst/>
              <a:ahLst/>
              <a:cxnLst/>
              <a:rect r="r" b="b" t="t" l="l"/>
              <a:pathLst>
                <a:path h="903224" w="153416">
                  <a:moveTo>
                    <a:pt x="0" y="0"/>
                  </a:moveTo>
                  <a:lnTo>
                    <a:pt x="153416" y="0"/>
                  </a:lnTo>
                  <a:lnTo>
                    <a:pt x="153416" y="903224"/>
                  </a:lnTo>
                  <a:lnTo>
                    <a:pt x="0" y="903224"/>
                  </a:lnTo>
                  <a:close/>
                </a:path>
              </a:pathLst>
            </a:custGeom>
            <a:solidFill>
              <a:srgbClr val="FF8A80"/>
            </a:solidFill>
            <a:ln w="19050" cap="sq">
              <a:solidFill>
                <a:srgbClr val="333333"/>
              </a:solidFill>
              <a:prstDash val="solid"/>
              <a:miter/>
            </a:ln>
          </p:spPr>
        </p:sp>
      </p:grpSp>
      <p:grpSp>
        <p:nvGrpSpPr>
          <p:cNvPr name="Group 17" id="17"/>
          <p:cNvGrpSpPr/>
          <p:nvPr/>
        </p:nvGrpSpPr>
        <p:grpSpPr>
          <a:xfrm rot="0">
            <a:off x="10767060" y="1920240"/>
            <a:ext cx="6240780" cy="658368"/>
            <a:chOff x="0" y="0"/>
            <a:chExt cx="8321040" cy="877824"/>
          </a:xfrm>
        </p:grpSpPr>
        <p:sp>
          <p:nvSpPr>
            <p:cNvPr name="Freeform 18" id="18"/>
            <p:cNvSpPr/>
            <p:nvPr/>
          </p:nvSpPr>
          <p:spPr>
            <a:xfrm flipH="false" flipV="false" rot="0">
              <a:off x="0" y="0"/>
              <a:ext cx="8321040" cy="877824"/>
            </a:xfrm>
            <a:custGeom>
              <a:avLst/>
              <a:gdLst/>
              <a:ahLst/>
              <a:cxnLst/>
              <a:rect r="r" b="b" t="t" l="l"/>
              <a:pathLst>
                <a:path h="877824" w="8321040">
                  <a:moveTo>
                    <a:pt x="0" y="0"/>
                  </a:moveTo>
                  <a:lnTo>
                    <a:pt x="8321040" y="0"/>
                  </a:lnTo>
                  <a:lnTo>
                    <a:pt x="8321040" y="877824"/>
                  </a:lnTo>
                  <a:lnTo>
                    <a:pt x="0" y="877824"/>
                  </a:lnTo>
                  <a:close/>
                </a:path>
              </a:pathLst>
            </a:custGeom>
            <a:blipFill>
              <a:blip r:embed="rId3">
                <a:alphaModFix amt="0"/>
              </a:blip>
              <a:stretch>
                <a:fillRect l="0" t="-134701" r="0" b="-134701"/>
              </a:stretch>
            </a:blipFill>
          </p:spPr>
        </p:sp>
        <p:sp>
          <p:nvSpPr>
            <p:cNvPr name="TextBox 19" id="19"/>
            <p:cNvSpPr txBox="true"/>
            <p:nvPr/>
          </p:nvSpPr>
          <p:spPr>
            <a:xfrm>
              <a:off x="0" y="-57150"/>
              <a:ext cx="8321040" cy="934974"/>
            </a:xfrm>
            <a:prstGeom prst="rect">
              <a:avLst/>
            </a:prstGeom>
          </p:spPr>
          <p:txBody>
            <a:bodyPr anchor="ctr" rtlCol="false" tIns="0" lIns="0" bIns="0" rIns="0"/>
            <a:lstStyle/>
            <a:p>
              <a:pPr algn="l">
                <a:lnSpc>
                  <a:spcPts val="2700"/>
                </a:lnSpc>
              </a:pPr>
              <a:r>
                <a:rPr lang="en-US" sz="2250">
                  <a:solidFill>
                    <a:srgbClr val="2B2B2B"/>
                  </a:solidFill>
                  <a:latin typeface="Calibri (MS)"/>
                  <a:ea typeface="Calibri (MS)"/>
                  <a:cs typeface="Calibri (MS)"/>
                  <a:sym typeface="Calibri (MS)"/>
                </a:rPr>
                <a:t>Obstacle awareness</a:t>
              </a:r>
            </a:p>
          </p:txBody>
        </p:sp>
      </p:grpSp>
      <p:grpSp>
        <p:nvGrpSpPr>
          <p:cNvPr name="Group 20" id="20"/>
          <p:cNvGrpSpPr/>
          <p:nvPr/>
        </p:nvGrpSpPr>
        <p:grpSpPr>
          <a:xfrm rot="0">
            <a:off x="10346055" y="2706243"/>
            <a:ext cx="6945630" cy="677418"/>
            <a:chOff x="0" y="0"/>
            <a:chExt cx="9260840" cy="903224"/>
          </a:xfrm>
        </p:grpSpPr>
        <p:sp>
          <p:nvSpPr>
            <p:cNvPr name="Freeform 21" id="21"/>
            <p:cNvSpPr/>
            <p:nvPr/>
          </p:nvSpPr>
          <p:spPr>
            <a:xfrm flipH="false" flipV="false" rot="0">
              <a:off x="0" y="0"/>
              <a:ext cx="9260840" cy="903224"/>
            </a:xfrm>
            <a:custGeom>
              <a:avLst/>
              <a:gdLst/>
              <a:ahLst/>
              <a:cxnLst/>
              <a:rect r="r" b="b" t="t" l="l"/>
              <a:pathLst>
                <a:path h="903224" w="9260840">
                  <a:moveTo>
                    <a:pt x="0" y="75311"/>
                  </a:moveTo>
                  <a:cubicBezTo>
                    <a:pt x="0" y="33655"/>
                    <a:pt x="33655" y="0"/>
                    <a:pt x="75311" y="0"/>
                  </a:cubicBezTo>
                  <a:lnTo>
                    <a:pt x="9185529" y="0"/>
                  </a:lnTo>
                  <a:cubicBezTo>
                    <a:pt x="9227058" y="0"/>
                    <a:pt x="9260840" y="33655"/>
                    <a:pt x="9260840" y="75311"/>
                  </a:cubicBezTo>
                  <a:lnTo>
                    <a:pt x="9260840" y="827913"/>
                  </a:lnTo>
                  <a:cubicBezTo>
                    <a:pt x="9260840" y="869442"/>
                    <a:pt x="9227186" y="903224"/>
                    <a:pt x="9185529" y="903224"/>
                  </a:cubicBezTo>
                  <a:lnTo>
                    <a:pt x="75311" y="903224"/>
                  </a:lnTo>
                  <a:cubicBezTo>
                    <a:pt x="33655" y="903224"/>
                    <a:pt x="0" y="869569"/>
                    <a:pt x="0" y="827913"/>
                  </a:cubicBezTo>
                  <a:close/>
                </a:path>
              </a:pathLst>
            </a:custGeom>
            <a:solidFill>
              <a:srgbClr val="FFFFFF"/>
            </a:solidFill>
            <a:ln w="19050" cap="sq">
              <a:solidFill>
                <a:srgbClr val="DCDCDC"/>
              </a:solidFill>
              <a:prstDash val="solid"/>
              <a:miter/>
            </a:ln>
          </p:spPr>
        </p:sp>
      </p:grpSp>
      <p:grpSp>
        <p:nvGrpSpPr>
          <p:cNvPr name="Group 22" id="22"/>
          <p:cNvGrpSpPr/>
          <p:nvPr/>
        </p:nvGrpSpPr>
        <p:grpSpPr>
          <a:xfrm rot="0">
            <a:off x="10346055" y="2706243"/>
            <a:ext cx="115062" cy="677418"/>
            <a:chOff x="0" y="0"/>
            <a:chExt cx="153416" cy="903224"/>
          </a:xfrm>
        </p:grpSpPr>
        <p:sp>
          <p:nvSpPr>
            <p:cNvPr name="Freeform 23" id="23"/>
            <p:cNvSpPr/>
            <p:nvPr/>
          </p:nvSpPr>
          <p:spPr>
            <a:xfrm flipH="false" flipV="false" rot="0">
              <a:off x="0" y="0"/>
              <a:ext cx="153416" cy="903224"/>
            </a:xfrm>
            <a:custGeom>
              <a:avLst/>
              <a:gdLst/>
              <a:ahLst/>
              <a:cxnLst/>
              <a:rect r="r" b="b" t="t" l="l"/>
              <a:pathLst>
                <a:path h="903224" w="153416">
                  <a:moveTo>
                    <a:pt x="0" y="0"/>
                  </a:moveTo>
                  <a:lnTo>
                    <a:pt x="153416" y="0"/>
                  </a:lnTo>
                  <a:lnTo>
                    <a:pt x="153416" y="903224"/>
                  </a:lnTo>
                  <a:lnTo>
                    <a:pt x="0" y="903224"/>
                  </a:lnTo>
                  <a:close/>
                </a:path>
              </a:pathLst>
            </a:custGeom>
            <a:solidFill>
              <a:srgbClr val="FF8A80"/>
            </a:solidFill>
            <a:ln w="19050" cap="sq">
              <a:solidFill>
                <a:srgbClr val="333333"/>
              </a:solidFill>
              <a:prstDash val="solid"/>
              <a:miter/>
            </a:ln>
          </p:spPr>
        </p:sp>
      </p:grpSp>
      <p:grpSp>
        <p:nvGrpSpPr>
          <p:cNvPr name="Group 24" id="24"/>
          <p:cNvGrpSpPr/>
          <p:nvPr/>
        </p:nvGrpSpPr>
        <p:grpSpPr>
          <a:xfrm rot="0">
            <a:off x="10767060" y="2715768"/>
            <a:ext cx="6240780" cy="658368"/>
            <a:chOff x="0" y="0"/>
            <a:chExt cx="8321040" cy="877824"/>
          </a:xfrm>
        </p:grpSpPr>
        <p:sp>
          <p:nvSpPr>
            <p:cNvPr name="Freeform 25" id="25"/>
            <p:cNvSpPr/>
            <p:nvPr/>
          </p:nvSpPr>
          <p:spPr>
            <a:xfrm flipH="false" flipV="false" rot="0">
              <a:off x="0" y="0"/>
              <a:ext cx="8321040" cy="877824"/>
            </a:xfrm>
            <a:custGeom>
              <a:avLst/>
              <a:gdLst/>
              <a:ahLst/>
              <a:cxnLst/>
              <a:rect r="r" b="b" t="t" l="l"/>
              <a:pathLst>
                <a:path h="877824" w="8321040">
                  <a:moveTo>
                    <a:pt x="0" y="0"/>
                  </a:moveTo>
                  <a:lnTo>
                    <a:pt x="8321040" y="0"/>
                  </a:lnTo>
                  <a:lnTo>
                    <a:pt x="8321040" y="877824"/>
                  </a:lnTo>
                  <a:lnTo>
                    <a:pt x="0" y="877824"/>
                  </a:lnTo>
                  <a:close/>
                </a:path>
              </a:pathLst>
            </a:custGeom>
            <a:blipFill>
              <a:blip r:embed="rId3">
                <a:alphaModFix amt="0"/>
              </a:blip>
              <a:stretch>
                <a:fillRect l="0" t="-134701" r="0" b="-134701"/>
              </a:stretch>
            </a:blipFill>
          </p:spPr>
        </p:sp>
        <p:sp>
          <p:nvSpPr>
            <p:cNvPr name="TextBox 26" id="26"/>
            <p:cNvSpPr txBox="true"/>
            <p:nvPr/>
          </p:nvSpPr>
          <p:spPr>
            <a:xfrm>
              <a:off x="0" y="-57150"/>
              <a:ext cx="8321040" cy="934974"/>
            </a:xfrm>
            <a:prstGeom prst="rect">
              <a:avLst/>
            </a:prstGeom>
          </p:spPr>
          <p:txBody>
            <a:bodyPr anchor="ctr" rtlCol="false" tIns="0" lIns="0" bIns="0" rIns="0"/>
            <a:lstStyle/>
            <a:p>
              <a:pPr algn="l">
                <a:lnSpc>
                  <a:spcPts val="2700"/>
                </a:lnSpc>
              </a:pPr>
              <a:r>
                <a:rPr lang="en-US" sz="2250">
                  <a:solidFill>
                    <a:srgbClr val="2B2B2B"/>
                  </a:solidFill>
                  <a:latin typeface="Calibri (MS)"/>
                  <a:ea typeface="Calibri (MS)"/>
                  <a:cs typeface="Calibri (MS)"/>
                  <a:sym typeface="Calibri (MS)"/>
                </a:rPr>
                <a:t>Distance awareness</a:t>
              </a:r>
            </a:p>
          </p:txBody>
        </p:sp>
      </p:grpSp>
      <p:grpSp>
        <p:nvGrpSpPr>
          <p:cNvPr name="Group 27" id="27"/>
          <p:cNvGrpSpPr/>
          <p:nvPr/>
        </p:nvGrpSpPr>
        <p:grpSpPr>
          <a:xfrm rot="0">
            <a:off x="10346055" y="3501771"/>
            <a:ext cx="6945630" cy="677418"/>
            <a:chOff x="0" y="0"/>
            <a:chExt cx="9260840" cy="903224"/>
          </a:xfrm>
        </p:grpSpPr>
        <p:sp>
          <p:nvSpPr>
            <p:cNvPr name="Freeform 28" id="28"/>
            <p:cNvSpPr/>
            <p:nvPr/>
          </p:nvSpPr>
          <p:spPr>
            <a:xfrm flipH="false" flipV="false" rot="0">
              <a:off x="0" y="0"/>
              <a:ext cx="9260840" cy="903224"/>
            </a:xfrm>
            <a:custGeom>
              <a:avLst/>
              <a:gdLst/>
              <a:ahLst/>
              <a:cxnLst/>
              <a:rect r="r" b="b" t="t" l="l"/>
              <a:pathLst>
                <a:path h="903224" w="9260840">
                  <a:moveTo>
                    <a:pt x="0" y="75311"/>
                  </a:moveTo>
                  <a:cubicBezTo>
                    <a:pt x="0" y="33655"/>
                    <a:pt x="33655" y="0"/>
                    <a:pt x="75311" y="0"/>
                  </a:cubicBezTo>
                  <a:lnTo>
                    <a:pt x="9185529" y="0"/>
                  </a:lnTo>
                  <a:cubicBezTo>
                    <a:pt x="9227058" y="0"/>
                    <a:pt x="9260840" y="33655"/>
                    <a:pt x="9260840" y="75311"/>
                  </a:cubicBezTo>
                  <a:lnTo>
                    <a:pt x="9260840" y="827913"/>
                  </a:lnTo>
                  <a:cubicBezTo>
                    <a:pt x="9260840" y="869442"/>
                    <a:pt x="9227186" y="903224"/>
                    <a:pt x="9185529" y="903224"/>
                  </a:cubicBezTo>
                  <a:lnTo>
                    <a:pt x="75311" y="903224"/>
                  </a:lnTo>
                  <a:cubicBezTo>
                    <a:pt x="33655" y="903224"/>
                    <a:pt x="0" y="869569"/>
                    <a:pt x="0" y="827913"/>
                  </a:cubicBezTo>
                  <a:close/>
                </a:path>
              </a:pathLst>
            </a:custGeom>
            <a:solidFill>
              <a:srgbClr val="FFFFFF"/>
            </a:solidFill>
            <a:ln w="19050" cap="sq">
              <a:solidFill>
                <a:srgbClr val="DCDCDC"/>
              </a:solidFill>
              <a:prstDash val="solid"/>
              <a:miter/>
            </a:ln>
          </p:spPr>
        </p:sp>
      </p:grpSp>
      <p:grpSp>
        <p:nvGrpSpPr>
          <p:cNvPr name="Group 29" id="29"/>
          <p:cNvGrpSpPr/>
          <p:nvPr/>
        </p:nvGrpSpPr>
        <p:grpSpPr>
          <a:xfrm rot="0">
            <a:off x="10346055" y="3501771"/>
            <a:ext cx="115062" cy="677418"/>
            <a:chOff x="0" y="0"/>
            <a:chExt cx="153416" cy="903224"/>
          </a:xfrm>
        </p:grpSpPr>
        <p:sp>
          <p:nvSpPr>
            <p:cNvPr name="Freeform 30" id="30"/>
            <p:cNvSpPr/>
            <p:nvPr/>
          </p:nvSpPr>
          <p:spPr>
            <a:xfrm flipH="false" flipV="false" rot="0">
              <a:off x="0" y="0"/>
              <a:ext cx="153416" cy="903224"/>
            </a:xfrm>
            <a:custGeom>
              <a:avLst/>
              <a:gdLst/>
              <a:ahLst/>
              <a:cxnLst/>
              <a:rect r="r" b="b" t="t" l="l"/>
              <a:pathLst>
                <a:path h="903224" w="153416">
                  <a:moveTo>
                    <a:pt x="0" y="0"/>
                  </a:moveTo>
                  <a:lnTo>
                    <a:pt x="153416" y="0"/>
                  </a:lnTo>
                  <a:lnTo>
                    <a:pt x="153416" y="903224"/>
                  </a:lnTo>
                  <a:lnTo>
                    <a:pt x="0" y="903224"/>
                  </a:lnTo>
                  <a:close/>
                </a:path>
              </a:pathLst>
            </a:custGeom>
            <a:solidFill>
              <a:srgbClr val="FF8A80"/>
            </a:solidFill>
            <a:ln w="19050" cap="sq">
              <a:solidFill>
                <a:srgbClr val="333333"/>
              </a:solidFill>
              <a:prstDash val="solid"/>
              <a:miter/>
            </a:ln>
          </p:spPr>
        </p:sp>
      </p:grpSp>
      <p:grpSp>
        <p:nvGrpSpPr>
          <p:cNvPr name="Group 31" id="31"/>
          <p:cNvGrpSpPr/>
          <p:nvPr/>
        </p:nvGrpSpPr>
        <p:grpSpPr>
          <a:xfrm rot="0">
            <a:off x="10767060" y="3511296"/>
            <a:ext cx="6240780" cy="658368"/>
            <a:chOff x="0" y="0"/>
            <a:chExt cx="8321040" cy="877824"/>
          </a:xfrm>
        </p:grpSpPr>
        <p:sp>
          <p:nvSpPr>
            <p:cNvPr name="Freeform 32" id="32"/>
            <p:cNvSpPr/>
            <p:nvPr/>
          </p:nvSpPr>
          <p:spPr>
            <a:xfrm flipH="false" flipV="false" rot="0">
              <a:off x="0" y="0"/>
              <a:ext cx="8321040" cy="877824"/>
            </a:xfrm>
            <a:custGeom>
              <a:avLst/>
              <a:gdLst/>
              <a:ahLst/>
              <a:cxnLst/>
              <a:rect r="r" b="b" t="t" l="l"/>
              <a:pathLst>
                <a:path h="877824" w="8321040">
                  <a:moveTo>
                    <a:pt x="0" y="0"/>
                  </a:moveTo>
                  <a:lnTo>
                    <a:pt x="8321040" y="0"/>
                  </a:lnTo>
                  <a:lnTo>
                    <a:pt x="8321040" y="877824"/>
                  </a:lnTo>
                  <a:lnTo>
                    <a:pt x="0" y="877824"/>
                  </a:lnTo>
                  <a:close/>
                </a:path>
              </a:pathLst>
            </a:custGeom>
            <a:blipFill>
              <a:blip r:embed="rId3">
                <a:alphaModFix amt="0"/>
              </a:blip>
              <a:stretch>
                <a:fillRect l="0" t="-134701" r="0" b="-134701"/>
              </a:stretch>
            </a:blipFill>
          </p:spPr>
        </p:sp>
        <p:sp>
          <p:nvSpPr>
            <p:cNvPr name="TextBox 33" id="33"/>
            <p:cNvSpPr txBox="true"/>
            <p:nvPr/>
          </p:nvSpPr>
          <p:spPr>
            <a:xfrm>
              <a:off x="0" y="-57150"/>
              <a:ext cx="8321040" cy="934974"/>
            </a:xfrm>
            <a:prstGeom prst="rect">
              <a:avLst/>
            </a:prstGeom>
          </p:spPr>
          <p:txBody>
            <a:bodyPr anchor="ctr" rtlCol="false" tIns="0" lIns="0" bIns="0" rIns="0"/>
            <a:lstStyle/>
            <a:p>
              <a:pPr algn="l">
                <a:lnSpc>
                  <a:spcPts val="2700"/>
                </a:lnSpc>
              </a:pPr>
              <a:r>
                <a:rPr lang="en-US" sz="2250">
                  <a:solidFill>
                    <a:srgbClr val="2B2B2B"/>
                  </a:solidFill>
                  <a:latin typeface="Calibri (MS)"/>
                  <a:ea typeface="Calibri (MS)"/>
                  <a:cs typeface="Calibri (MS)"/>
                  <a:sym typeface="Calibri (MS)"/>
                </a:rPr>
                <a:t>Environmental understanding</a:t>
              </a:r>
            </a:p>
          </p:txBody>
        </p:sp>
      </p:grpSp>
      <p:grpSp>
        <p:nvGrpSpPr>
          <p:cNvPr name="Group 34" id="34"/>
          <p:cNvGrpSpPr/>
          <p:nvPr/>
        </p:nvGrpSpPr>
        <p:grpSpPr>
          <a:xfrm rot="0">
            <a:off x="10346055" y="4297299"/>
            <a:ext cx="6945630" cy="677418"/>
            <a:chOff x="0" y="0"/>
            <a:chExt cx="9260840" cy="903224"/>
          </a:xfrm>
        </p:grpSpPr>
        <p:sp>
          <p:nvSpPr>
            <p:cNvPr name="Freeform 35" id="35"/>
            <p:cNvSpPr/>
            <p:nvPr/>
          </p:nvSpPr>
          <p:spPr>
            <a:xfrm flipH="false" flipV="false" rot="0">
              <a:off x="0" y="0"/>
              <a:ext cx="9260840" cy="903224"/>
            </a:xfrm>
            <a:custGeom>
              <a:avLst/>
              <a:gdLst/>
              <a:ahLst/>
              <a:cxnLst/>
              <a:rect r="r" b="b" t="t" l="l"/>
              <a:pathLst>
                <a:path h="903224" w="9260840">
                  <a:moveTo>
                    <a:pt x="0" y="75311"/>
                  </a:moveTo>
                  <a:cubicBezTo>
                    <a:pt x="0" y="33655"/>
                    <a:pt x="33655" y="0"/>
                    <a:pt x="75311" y="0"/>
                  </a:cubicBezTo>
                  <a:lnTo>
                    <a:pt x="9185529" y="0"/>
                  </a:lnTo>
                  <a:cubicBezTo>
                    <a:pt x="9227058" y="0"/>
                    <a:pt x="9260840" y="33655"/>
                    <a:pt x="9260840" y="75311"/>
                  </a:cubicBezTo>
                  <a:lnTo>
                    <a:pt x="9260840" y="827913"/>
                  </a:lnTo>
                  <a:cubicBezTo>
                    <a:pt x="9260840" y="869442"/>
                    <a:pt x="9227186" y="903224"/>
                    <a:pt x="9185529" y="903224"/>
                  </a:cubicBezTo>
                  <a:lnTo>
                    <a:pt x="75311" y="903224"/>
                  </a:lnTo>
                  <a:cubicBezTo>
                    <a:pt x="33655" y="903224"/>
                    <a:pt x="0" y="869569"/>
                    <a:pt x="0" y="827913"/>
                  </a:cubicBezTo>
                  <a:close/>
                </a:path>
              </a:pathLst>
            </a:custGeom>
            <a:solidFill>
              <a:srgbClr val="FFFFFF"/>
            </a:solidFill>
            <a:ln w="19050" cap="sq">
              <a:solidFill>
                <a:srgbClr val="DCDCDC"/>
              </a:solidFill>
              <a:prstDash val="solid"/>
              <a:miter/>
            </a:ln>
          </p:spPr>
        </p:sp>
      </p:grpSp>
      <p:grpSp>
        <p:nvGrpSpPr>
          <p:cNvPr name="Group 36" id="36"/>
          <p:cNvGrpSpPr/>
          <p:nvPr/>
        </p:nvGrpSpPr>
        <p:grpSpPr>
          <a:xfrm rot="0">
            <a:off x="10346055" y="4297299"/>
            <a:ext cx="115062" cy="677418"/>
            <a:chOff x="0" y="0"/>
            <a:chExt cx="153416" cy="903224"/>
          </a:xfrm>
        </p:grpSpPr>
        <p:sp>
          <p:nvSpPr>
            <p:cNvPr name="Freeform 37" id="37"/>
            <p:cNvSpPr/>
            <p:nvPr/>
          </p:nvSpPr>
          <p:spPr>
            <a:xfrm flipH="false" flipV="false" rot="0">
              <a:off x="0" y="0"/>
              <a:ext cx="153416" cy="903224"/>
            </a:xfrm>
            <a:custGeom>
              <a:avLst/>
              <a:gdLst/>
              <a:ahLst/>
              <a:cxnLst/>
              <a:rect r="r" b="b" t="t" l="l"/>
              <a:pathLst>
                <a:path h="903224" w="153416">
                  <a:moveTo>
                    <a:pt x="0" y="0"/>
                  </a:moveTo>
                  <a:lnTo>
                    <a:pt x="153416" y="0"/>
                  </a:lnTo>
                  <a:lnTo>
                    <a:pt x="153416" y="903224"/>
                  </a:lnTo>
                  <a:lnTo>
                    <a:pt x="0" y="903224"/>
                  </a:lnTo>
                  <a:close/>
                </a:path>
              </a:pathLst>
            </a:custGeom>
            <a:solidFill>
              <a:srgbClr val="FF8A80"/>
            </a:solidFill>
            <a:ln w="19050" cap="sq">
              <a:solidFill>
                <a:srgbClr val="333333"/>
              </a:solidFill>
              <a:prstDash val="solid"/>
              <a:miter/>
            </a:ln>
          </p:spPr>
        </p:sp>
      </p:grpSp>
      <p:grpSp>
        <p:nvGrpSpPr>
          <p:cNvPr name="Group 38" id="38"/>
          <p:cNvGrpSpPr/>
          <p:nvPr/>
        </p:nvGrpSpPr>
        <p:grpSpPr>
          <a:xfrm rot="0">
            <a:off x="10767060" y="4306824"/>
            <a:ext cx="6240780" cy="658368"/>
            <a:chOff x="0" y="0"/>
            <a:chExt cx="8321040" cy="877824"/>
          </a:xfrm>
        </p:grpSpPr>
        <p:sp>
          <p:nvSpPr>
            <p:cNvPr name="Freeform 39" id="39"/>
            <p:cNvSpPr/>
            <p:nvPr/>
          </p:nvSpPr>
          <p:spPr>
            <a:xfrm flipH="false" flipV="false" rot="0">
              <a:off x="0" y="0"/>
              <a:ext cx="8321040" cy="877824"/>
            </a:xfrm>
            <a:custGeom>
              <a:avLst/>
              <a:gdLst/>
              <a:ahLst/>
              <a:cxnLst/>
              <a:rect r="r" b="b" t="t" l="l"/>
              <a:pathLst>
                <a:path h="877824" w="8321040">
                  <a:moveTo>
                    <a:pt x="0" y="0"/>
                  </a:moveTo>
                  <a:lnTo>
                    <a:pt x="8321040" y="0"/>
                  </a:lnTo>
                  <a:lnTo>
                    <a:pt x="8321040" y="877824"/>
                  </a:lnTo>
                  <a:lnTo>
                    <a:pt x="0" y="877824"/>
                  </a:lnTo>
                  <a:close/>
                </a:path>
              </a:pathLst>
            </a:custGeom>
            <a:blipFill>
              <a:blip r:embed="rId3">
                <a:alphaModFix amt="0"/>
              </a:blip>
              <a:stretch>
                <a:fillRect l="0" t="-134701" r="0" b="-134701"/>
              </a:stretch>
            </a:blipFill>
          </p:spPr>
        </p:sp>
        <p:sp>
          <p:nvSpPr>
            <p:cNvPr name="TextBox 40" id="40"/>
            <p:cNvSpPr txBox="true"/>
            <p:nvPr/>
          </p:nvSpPr>
          <p:spPr>
            <a:xfrm>
              <a:off x="0" y="-57150"/>
              <a:ext cx="8321040" cy="934974"/>
            </a:xfrm>
            <a:prstGeom prst="rect">
              <a:avLst/>
            </a:prstGeom>
          </p:spPr>
          <p:txBody>
            <a:bodyPr anchor="ctr" rtlCol="false" tIns="0" lIns="0" bIns="0" rIns="0"/>
            <a:lstStyle/>
            <a:p>
              <a:pPr algn="l">
                <a:lnSpc>
                  <a:spcPts val="2700"/>
                </a:lnSpc>
              </a:pPr>
              <a:r>
                <a:rPr lang="en-US" sz="2250">
                  <a:solidFill>
                    <a:srgbClr val="2B2B2B"/>
                  </a:solidFill>
                  <a:latin typeface="Calibri (MS)"/>
                  <a:ea typeface="Calibri (MS)"/>
                  <a:cs typeface="Calibri (MS)"/>
                  <a:sym typeface="Calibri (MS)"/>
                </a:rPr>
                <a:t>Unfamiliar environments</a:t>
              </a:r>
            </a:p>
          </p:txBody>
        </p:sp>
      </p:grpSp>
      <p:grpSp>
        <p:nvGrpSpPr>
          <p:cNvPr name="Group 41" id="41"/>
          <p:cNvGrpSpPr/>
          <p:nvPr/>
        </p:nvGrpSpPr>
        <p:grpSpPr>
          <a:xfrm rot="0">
            <a:off x="950595" y="5956935"/>
            <a:ext cx="115062" cy="2693670"/>
            <a:chOff x="0" y="0"/>
            <a:chExt cx="153416" cy="3591560"/>
          </a:xfrm>
        </p:grpSpPr>
        <p:sp>
          <p:nvSpPr>
            <p:cNvPr name="Freeform 42" id="42"/>
            <p:cNvSpPr/>
            <p:nvPr/>
          </p:nvSpPr>
          <p:spPr>
            <a:xfrm flipH="false" flipV="false" rot="0">
              <a:off x="0" y="0"/>
              <a:ext cx="153416" cy="3591560"/>
            </a:xfrm>
            <a:custGeom>
              <a:avLst/>
              <a:gdLst/>
              <a:ahLst/>
              <a:cxnLst/>
              <a:rect r="r" b="b" t="t" l="l"/>
              <a:pathLst>
                <a:path h="3591560" w="153416">
                  <a:moveTo>
                    <a:pt x="0" y="0"/>
                  </a:moveTo>
                  <a:lnTo>
                    <a:pt x="153416" y="0"/>
                  </a:lnTo>
                  <a:lnTo>
                    <a:pt x="153416" y="3591560"/>
                  </a:lnTo>
                  <a:lnTo>
                    <a:pt x="0" y="3591560"/>
                  </a:lnTo>
                  <a:close/>
                </a:path>
              </a:pathLst>
            </a:custGeom>
            <a:solidFill>
              <a:srgbClr val="FF8A80"/>
            </a:solidFill>
            <a:ln w="19050" cap="sq">
              <a:solidFill>
                <a:srgbClr val="333333"/>
              </a:solidFill>
              <a:prstDash val="solid"/>
              <a:miter/>
            </a:ln>
          </p:spPr>
        </p:sp>
      </p:grpSp>
      <p:grpSp>
        <p:nvGrpSpPr>
          <p:cNvPr name="Group 43" id="43"/>
          <p:cNvGrpSpPr/>
          <p:nvPr/>
        </p:nvGrpSpPr>
        <p:grpSpPr>
          <a:xfrm rot="0">
            <a:off x="1046607" y="5956935"/>
            <a:ext cx="16272510" cy="2693670"/>
            <a:chOff x="0" y="0"/>
            <a:chExt cx="21696680" cy="3591560"/>
          </a:xfrm>
        </p:grpSpPr>
        <p:sp>
          <p:nvSpPr>
            <p:cNvPr name="Freeform 44" id="44"/>
            <p:cNvSpPr/>
            <p:nvPr/>
          </p:nvSpPr>
          <p:spPr>
            <a:xfrm flipH="false" flipV="false" rot="0">
              <a:off x="0" y="0"/>
              <a:ext cx="21696680" cy="3591560"/>
            </a:xfrm>
            <a:custGeom>
              <a:avLst/>
              <a:gdLst/>
              <a:ahLst/>
              <a:cxnLst/>
              <a:rect r="r" b="b" t="t" l="l"/>
              <a:pathLst>
                <a:path h="3591560" w="21696680">
                  <a:moveTo>
                    <a:pt x="0" y="73660"/>
                  </a:moveTo>
                  <a:cubicBezTo>
                    <a:pt x="0" y="33020"/>
                    <a:pt x="33020" y="0"/>
                    <a:pt x="73660" y="0"/>
                  </a:cubicBezTo>
                  <a:lnTo>
                    <a:pt x="21623020" y="0"/>
                  </a:lnTo>
                  <a:cubicBezTo>
                    <a:pt x="21663659" y="0"/>
                    <a:pt x="21696680" y="33020"/>
                    <a:pt x="21696680" y="73660"/>
                  </a:cubicBezTo>
                  <a:lnTo>
                    <a:pt x="21696680" y="3517900"/>
                  </a:lnTo>
                  <a:cubicBezTo>
                    <a:pt x="21696680" y="3558540"/>
                    <a:pt x="21663659" y="3591560"/>
                    <a:pt x="21623020" y="3591560"/>
                  </a:cubicBezTo>
                  <a:lnTo>
                    <a:pt x="73660" y="3591560"/>
                  </a:lnTo>
                  <a:cubicBezTo>
                    <a:pt x="33020" y="3591560"/>
                    <a:pt x="0" y="3558540"/>
                    <a:pt x="0" y="3517900"/>
                  </a:cubicBezTo>
                  <a:close/>
                </a:path>
              </a:pathLst>
            </a:custGeom>
            <a:solidFill>
              <a:srgbClr val="FFFFFF"/>
            </a:solidFill>
            <a:ln w="19050" cap="sq">
              <a:solidFill>
                <a:srgbClr val="DCDCDC"/>
              </a:solidFill>
              <a:prstDash val="solid"/>
              <a:miter/>
            </a:ln>
          </p:spPr>
        </p:sp>
      </p:grpSp>
      <p:grpSp>
        <p:nvGrpSpPr>
          <p:cNvPr name="Group 45" id="45"/>
          <p:cNvGrpSpPr/>
          <p:nvPr/>
        </p:nvGrpSpPr>
        <p:grpSpPr>
          <a:xfrm rot="0">
            <a:off x="1577340" y="6240780"/>
            <a:ext cx="15361920" cy="2125980"/>
            <a:chOff x="0" y="0"/>
            <a:chExt cx="20482560" cy="2834640"/>
          </a:xfrm>
        </p:grpSpPr>
        <p:sp>
          <p:nvSpPr>
            <p:cNvPr name="Freeform 46" id="46"/>
            <p:cNvSpPr/>
            <p:nvPr/>
          </p:nvSpPr>
          <p:spPr>
            <a:xfrm flipH="false" flipV="false" rot="0">
              <a:off x="0" y="0"/>
              <a:ext cx="20482561" cy="2834640"/>
            </a:xfrm>
            <a:custGeom>
              <a:avLst/>
              <a:gdLst/>
              <a:ahLst/>
              <a:cxnLst/>
              <a:rect r="r" b="b" t="t" l="l"/>
              <a:pathLst>
                <a:path h="2834640" w="20482561">
                  <a:moveTo>
                    <a:pt x="0" y="0"/>
                  </a:moveTo>
                  <a:lnTo>
                    <a:pt x="20482561" y="0"/>
                  </a:lnTo>
                  <a:lnTo>
                    <a:pt x="20482561" y="2834640"/>
                  </a:lnTo>
                  <a:lnTo>
                    <a:pt x="0" y="2834640"/>
                  </a:lnTo>
                  <a:close/>
                </a:path>
              </a:pathLst>
            </a:custGeom>
            <a:blipFill>
              <a:blip r:embed="rId3">
                <a:alphaModFix amt="0"/>
              </a:blip>
              <a:stretch>
                <a:fillRect l="0" t="-90795" r="0" b="-90795"/>
              </a:stretch>
            </a:blipFill>
          </p:spPr>
        </p:sp>
        <p:sp>
          <p:nvSpPr>
            <p:cNvPr name="TextBox 47" id="47"/>
            <p:cNvSpPr txBox="true"/>
            <p:nvPr/>
          </p:nvSpPr>
          <p:spPr>
            <a:xfrm>
              <a:off x="0" y="-19050"/>
              <a:ext cx="20482560" cy="2853690"/>
            </a:xfrm>
            <a:prstGeom prst="rect">
              <a:avLst/>
            </a:prstGeom>
          </p:spPr>
          <p:txBody>
            <a:bodyPr anchor="ctr" rtlCol="false" tIns="0" lIns="0" bIns="0" rIns="0"/>
            <a:lstStyle/>
            <a:p>
              <a:pPr algn="l">
                <a:lnSpc>
                  <a:spcPts val="3240"/>
                </a:lnSpc>
              </a:pPr>
              <a:r>
                <a:rPr lang="en-US" sz="2700" b="true">
                  <a:solidFill>
                    <a:srgbClr val="2B2B2B"/>
                  </a:solidFill>
                  <a:latin typeface="Georgia Bold"/>
                  <a:ea typeface="Georgia Bold"/>
                  <a:cs typeface="Georgia Bold"/>
                  <a:sym typeface="Georgia Bold"/>
                </a:rPr>
                <a:t>Problem definition.  </a:t>
              </a:r>
              <a:r>
                <a:rPr lang="en-US" sz="2700">
                  <a:solidFill>
                    <a:srgbClr val="2B2B2B"/>
                  </a:solidFill>
                  <a:latin typeface="Georgia"/>
                  <a:ea typeface="Georgia"/>
                  <a:cs typeface="Georgia"/>
                  <a:sym typeface="Georgia"/>
                </a:rPr>
                <a:t>To develop an intelligent assistive perception system that interprets environmental information and provides meaningful feedback to visually impaired individuals.</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grpSp>
        <p:nvGrpSpPr>
          <p:cNvPr name="Group 2" id="2"/>
          <p:cNvGrpSpPr/>
          <p:nvPr/>
        </p:nvGrpSpPr>
        <p:grpSpPr>
          <a:xfrm rot="0">
            <a:off x="960120" y="576072"/>
            <a:ext cx="16322040" cy="658368"/>
            <a:chOff x="0" y="0"/>
            <a:chExt cx="21762720" cy="877824"/>
          </a:xfrm>
        </p:grpSpPr>
        <p:sp>
          <p:nvSpPr>
            <p:cNvPr name="Freeform 3" id="3"/>
            <p:cNvSpPr/>
            <p:nvPr/>
          </p:nvSpPr>
          <p:spPr>
            <a:xfrm flipH="false" flipV="false" rot="0">
              <a:off x="0" y="0"/>
              <a:ext cx="21762720" cy="877824"/>
            </a:xfrm>
            <a:custGeom>
              <a:avLst/>
              <a:gdLst/>
              <a:ahLst/>
              <a:cxnLst/>
              <a:rect r="r" b="b" t="t" l="l"/>
              <a:pathLst>
                <a:path h="877824" w="21762720">
                  <a:moveTo>
                    <a:pt x="0" y="0"/>
                  </a:moveTo>
                  <a:lnTo>
                    <a:pt x="21762720" y="0"/>
                  </a:lnTo>
                  <a:lnTo>
                    <a:pt x="21762720" y="877824"/>
                  </a:lnTo>
                  <a:lnTo>
                    <a:pt x="0" y="877824"/>
                  </a:lnTo>
                  <a:close/>
                </a:path>
              </a:pathLst>
            </a:custGeom>
            <a:blipFill>
              <a:blip r:embed="rId3">
                <a:alphaModFix amt="0"/>
              </a:blip>
              <a:stretch>
                <a:fillRect l="0" t="-433066" r="0" b="-433066"/>
              </a:stretch>
            </a:blipFill>
          </p:spPr>
        </p:sp>
        <p:sp>
          <p:nvSpPr>
            <p:cNvPr name="TextBox 4" id="4"/>
            <p:cNvSpPr txBox="true"/>
            <p:nvPr/>
          </p:nvSpPr>
          <p:spPr>
            <a:xfrm>
              <a:off x="0" y="0"/>
              <a:ext cx="21762720" cy="877824"/>
            </a:xfrm>
            <a:prstGeom prst="rect">
              <a:avLst/>
            </a:prstGeom>
          </p:spPr>
          <p:txBody>
            <a:bodyPr anchor="ctr" rtlCol="false" tIns="0" lIns="0" bIns="0" rIns="0"/>
            <a:lstStyle/>
            <a:p>
              <a:pPr algn="l">
                <a:lnSpc>
                  <a:spcPts val="5759"/>
                </a:lnSpc>
              </a:pPr>
              <a:r>
                <a:rPr lang="en-US" sz="4800">
                  <a:solidFill>
                    <a:srgbClr val="2B2B2B"/>
                  </a:solidFill>
                  <a:latin typeface="Georgia"/>
                  <a:ea typeface="Georgia"/>
                  <a:cs typeface="Georgia"/>
                  <a:sym typeface="Georgia"/>
                </a:rPr>
                <a:t>Objectives</a:t>
              </a:r>
            </a:p>
          </p:txBody>
        </p:sp>
      </p:grpSp>
      <p:grpSp>
        <p:nvGrpSpPr>
          <p:cNvPr name="Group 5" id="5"/>
          <p:cNvGrpSpPr/>
          <p:nvPr/>
        </p:nvGrpSpPr>
        <p:grpSpPr>
          <a:xfrm rot="0">
            <a:off x="950595" y="1293495"/>
            <a:ext cx="1088898" cy="67056"/>
            <a:chOff x="0" y="0"/>
            <a:chExt cx="1451864" cy="89408"/>
          </a:xfrm>
        </p:grpSpPr>
        <p:sp>
          <p:nvSpPr>
            <p:cNvPr name="Freeform 6" id="6"/>
            <p:cNvSpPr/>
            <p:nvPr/>
          </p:nvSpPr>
          <p:spPr>
            <a:xfrm flipH="false" flipV="false" rot="0">
              <a:off x="0" y="0"/>
              <a:ext cx="1451864" cy="89408"/>
            </a:xfrm>
            <a:custGeom>
              <a:avLst/>
              <a:gdLst/>
              <a:ahLst/>
              <a:cxnLst/>
              <a:rect r="r" b="b" t="t" l="l"/>
              <a:pathLst>
                <a:path h="89408" w="1451864">
                  <a:moveTo>
                    <a:pt x="0" y="0"/>
                  </a:moveTo>
                  <a:lnTo>
                    <a:pt x="1451864" y="0"/>
                  </a:lnTo>
                  <a:lnTo>
                    <a:pt x="1451864" y="89408"/>
                  </a:lnTo>
                  <a:lnTo>
                    <a:pt x="0" y="89408"/>
                  </a:lnTo>
                  <a:close/>
                </a:path>
              </a:pathLst>
            </a:custGeom>
            <a:solidFill>
              <a:srgbClr val="FF8A80"/>
            </a:solidFill>
            <a:ln w="19050" cap="sq">
              <a:solidFill>
                <a:srgbClr val="333333"/>
              </a:solidFill>
              <a:prstDash val="solid"/>
              <a:miter/>
            </a:ln>
          </p:spPr>
        </p:sp>
      </p:grpSp>
      <p:grpSp>
        <p:nvGrpSpPr>
          <p:cNvPr name="Group 7" id="7"/>
          <p:cNvGrpSpPr/>
          <p:nvPr/>
        </p:nvGrpSpPr>
        <p:grpSpPr>
          <a:xfrm rot="0">
            <a:off x="950595" y="9701403"/>
            <a:ext cx="16386353" cy="35509"/>
            <a:chOff x="0" y="0"/>
            <a:chExt cx="21848470" cy="47346"/>
          </a:xfrm>
        </p:grpSpPr>
        <p:sp>
          <p:nvSpPr>
            <p:cNvPr name="Freeform 8" id="8"/>
            <p:cNvSpPr/>
            <p:nvPr/>
          </p:nvSpPr>
          <p:spPr>
            <a:xfrm flipH="false" flipV="false" rot="0">
              <a:off x="0" y="0"/>
              <a:ext cx="21848445" cy="47371"/>
            </a:xfrm>
            <a:custGeom>
              <a:avLst/>
              <a:gdLst/>
              <a:ahLst/>
              <a:cxnLst/>
              <a:rect r="r" b="b" t="t" l="l"/>
              <a:pathLst>
                <a:path h="47371" w="21848445">
                  <a:moveTo>
                    <a:pt x="0" y="0"/>
                  </a:moveTo>
                  <a:lnTo>
                    <a:pt x="21848445" y="0"/>
                  </a:lnTo>
                  <a:lnTo>
                    <a:pt x="21848445" y="47371"/>
                  </a:lnTo>
                  <a:lnTo>
                    <a:pt x="0" y="47371"/>
                  </a:lnTo>
                  <a:close/>
                </a:path>
              </a:pathLst>
            </a:custGeom>
            <a:solidFill>
              <a:srgbClr val="D0D0D0"/>
            </a:solidFill>
            <a:ln w="19050" cap="sq">
              <a:solidFill>
                <a:srgbClr val="333333"/>
              </a:solidFill>
              <a:prstDash val="solid"/>
              <a:miter/>
            </a:ln>
          </p:spPr>
        </p:sp>
      </p:grpSp>
      <p:grpSp>
        <p:nvGrpSpPr>
          <p:cNvPr name="Group 9" id="9"/>
          <p:cNvGrpSpPr/>
          <p:nvPr/>
        </p:nvGrpSpPr>
        <p:grpSpPr>
          <a:xfrm rot="0">
            <a:off x="15636240" y="9806940"/>
            <a:ext cx="1645920" cy="356616"/>
            <a:chOff x="0" y="0"/>
            <a:chExt cx="2194560" cy="475488"/>
          </a:xfrm>
        </p:grpSpPr>
        <p:sp>
          <p:nvSpPr>
            <p:cNvPr name="Freeform 10" id="10"/>
            <p:cNvSpPr/>
            <p:nvPr/>
          </p:nvSpPr>
          <p:spPr>
            <a:xfrm flipH="false" flipV="false" rot="0">
              <a:off x="0" y="0"/>
              <a:ext cx="2194560" cy="475488"/>
            </a:xfrm>
            <a:custGeom>
              <a:avLst/>
              <a:gdLst/>
              <a:ahLst/>
              <a:cxnLst/>
              <a:rect r="r" b="b" t="t" l="l"/>
              <a:pathLst>
                <a:path h="475488" w="2194560">
                  <a:moveTo>
                    <a:pt x="0" y="0"/>
                  </a:moveTo>
                  <a:lnTo>
                    <a:pt x="2194560" y="0"/>
                  </a:lnTo>
                  <a:lnTo>
                    <a:pt x="2194560" y="475488"/>
                  </a:lnTo>
                  <a:lnTo>
                    <a:pt x="0" y="475488"/>
                  </a:lnTo>
                  <a:close/>
                </a:path>
              </a:pathLst>
            </a:custGeom>
            <a:blipFill>
              <a:blip r:embed="rId3">
                <a:alphaModFix amt="0"/>
              </a:blip>
              <a:stretch>
                <a:fillRect l="0" t="-39930" r="0" b="-39930"/>
              </a:stretch>
            </a:blipFill>
          </p:spPr>
        </p:sp>
        <p:sp>
          <p:nvSpPr>
            <p:cNvPr name="TextBox 11" id="11"/>
            <p:cNvSpPr txBox="true"/>
            <p:nvPr/>
          </p:nvSpPr>
          <p:spPr>
            <a:xfrm>
              <a:off x="0" y="-28575"/>
              <a:ext cx="2194560" cy="504063"/>
            </a:xfrm>
            <a:prstGeom prst="rect">
              <a:avLst/>
            </a:prstGeom>
          </p:spPr>
          <p:txBody>
            <a:bodyPr anchor="ctr" rtlCol="false" tIns="0" lIns="0" bIns="0" rIns="0"/>
            <a:lstStyle/>
            <a:p>
              <a:pPr algn="r">
                <a:lnSpc>
                  <a:spcPts val="1980"/>
                </a:lnSpc>
              </a:pPr>
              <a:r>
                <a:rPr lang="en-US" sz="1650">
                  <a:solidFill>
                    <a:srgbClr val="6B6B6B"/>
                  </a:solidFill>
                  <a:latin typeface="Calibri (MS)"/>
                  <a:ea typeface="Calibri (MS)"/>
                  <a:cs typeface="Calibri (MS)"/>
                  <a:sym typeface="Calibri (MS)"/>
                </a:rPr>
                <a:t>04</a:t>
              </a:r>
            </a:p>
          </p:txBody>
        </p:sp>
      </p:grpSp>
      <p:grpSp>
        <p:nvGrpSpPr>
          <p:cNvPr name="Group 12" id="12"/>
          <p:cNvGrpSpPr/>
          <p:nvPr/>
        </p:nvGrpSpPr>
        <p:grpSpPr>
          <a:xfrm rot="0">
            <a:off x="775102" y="1920240"/>
            <a:ext cx="1028700" cy="576072"/>
            <a:chOff x="0" y="0"/>
            <a:chExt cx="1371600" cy="768096"/>
          </a:xfrm>
        </p:grpSpPr>
        <p:sp>
          <p:nvSpPr>
            <p:cNvPr name="Freeform 13" id="13"/>
            <p:cNvSpPr/>
            <p:nvPr/>
          </p:nvSpPr>
          <p:spPr>
            <a:xfrm flipH="false" flipV="false" rot="0">
              <a:off x="0" y="0"/>
              <a:ext cx="1371600" cy="768096"/>
            </a:xfrm>
            <a:custGeom>
              <a:avLst/>
              <a:gdLst/>
              <a:ahLst/>
              <a:cxnLst/>
              <a:rect r="r" b="b" t="t" l="l"/>
              <a:pathLst>
                <a:path h="768096" w="1371600">
                  <a:moveTo>
                    <a:pt x="0" y="0"/>
                  </a:moveTo>
                  <a:lnTo>
                    <a:pt x="1371600" y="0"/>
                  </a:lnTo>
                  <a:lnTo>
                    <a:pt x="1371600" y="768096"/>
                  </a:lnTo>
                  <a:lnTo>
                    <a:pt x="0" y="768096"/>
                  </a:lnTo>
                  <a:close/>
                </a:path>
              </a:pathLst>
            </a:custGeom>
            <a:blipFill>
              <a:blip r:embed="rId3">
                <a:alphaModFix amt="0"/>
              </a:blip>
              <a:stretch>
                <a:fillRect l="-21849" t="0" r="-21849" b="0"/>
              </a:stretch>
            </a:blipFill>
          </p:spPr>
        </p:sp>
        <p:sp>
          <p:nvSpPr>
            <p:cNvPr name="TextBox 14" id="14"/>
            <p:cNvSpPr txBox="true"/>
            <p:nvPr/>
          </p:nvSpPr>
          <p:spPr>
            <a:xfrm>
              <a:off x="0" y="-9525"/>
              <a:ext cx="1371600" cy="777621"/>
            </a:xfrm>
            <a:prstGeom prst="rect">
              <a:avLst/>
            </a:prstGeom>
          </p:spPr>
          <p:txBody>
            <a:bodyPr anchor="ctr" rtlCol="false" tIns="0" lIns="0" bIns="0" rIns="0"/>
            <a:lstStyle/>
            <a:p>
              <a:pPr algn="l">
                <a:lnSpc>
                  <a:spcPts val="4680"/>
                </a:lnSpc>
              </a:pPr>
              <a:r>
                <a:rPr lang="en-US" sz="3900">
                  <a:solidFill>
                    <a:srgbClr val="FF8A80"/>
                  </a:solidFill>
                  <a:latin typeface="Georgia"/>
                  <a:ea typeface="Georgia"/>
                  <a:cs typeface="Georgia"/>
                  <a:sym typeface="Georgia"/>
                </a:rPr>
                <a:t>01</a:t>
              </a:r>
            </a:p>
          </p:txBody>
        </p:sp>
      </p:grpSp>
      <p:sp>
        <p:nvSpPr>
          <p:cNvPr name="TextBox 15" id="15"/>
          <p:cNvSpPr txBox="true"/>
          <p:nvPr/>
        </p:nvSpPr>
        <p:spPr>
          <a:xfrm rot="0">
            <a:off x="2009542" y="1863090"/>
            <a:ext cx="6858000" cy="876300"/>
          </a:xfrm>
          <a:prstGeom prst="rect">
            <a:avLst/>
          </a:prstGeom>
        </p:spPr>
        <p:txBody>
          <a:bodyPr anchor="t" rtlCol="false" tIns="0" lIns="0" bIns="0" rIns="0">
            <a:spAutoFit/>
          </a:bodyPr>
          <a:lstStyle/>
          <a:p>
            <a:pPr algn="l">
              <a:lnSpc>
                <a:spcPts val="3240"/>
              </a:lnSpc>
            </a:pPr>
            <a:r>
              <a:rPr lang="en-US" sz="2700">
                <a:solidFill>
                  <a:srgbClr val="2B2B2B"/>
                </a:solidFill>
                <a:latin typeface="Calibri (MS)"/>
                <a:ea typeface="Calibri (MS)"/>
                <a:cs typeface="Calibri (MS)"/>
                <a:sym typeface="Calibri (MS)"/>
              </a:rPr>
              <a:t>Build a Unity-based digital twin of </a:t>
            </a:r>
          </a:p>
          <a:p>
            <a:pPr algn="l">
              <a:lnSpc>
                <a:spcPts val="3240"/>
              </a:lnSpc>
            </a:pPr>
            <a:r>
              <a:rPr lang="en-US" sz="2700">
                <a:solidFill>
                  <a:srgbClr val="2B2B2B"/>
                </a:solidFill>
                <a:latin typeface="Calibri (MS)"/>
                <a:ea typeface="Calibri (MS)"/>
                <a:cs typeface="Calibri (MS)"/>
                <a:sym typeface="Calibri (MS)"/>
              </a:rPr>
              <a:t>real-world surroundings</a:t>
            </a:r>
          </a:p>
        </p:txBody>
      </p:sp>
      <p:grpSp>
        <p:nvGrpSpPr>
          <p:cNvPr name="Group 16" id="16"/>
          <p:cNvGrpSpPr/>
          <p:nvPr/>
        </p:nvGrpSpPr>
        <p:grpSpPr>
          <a:xfrm rot="0">
            <a:off x="765577" y="3320606"/>
            <a:ext cx="1028700" cy="576072"/>
            <a:chOff x="0" y="0"/>
            <a:chExt cx="1371600" cy="768096"/>
          </a:xfrm>
        </p:grpSpPr>
        <p:sp>
          <p:nvSpPr>
            <p:cNvPr name="Freeform 17" id="17"/>
            <p:cNvSpPr/>
            <p:nvPr/>
          </p:nvSpPr>
          <p:spPr>
            <a:xfrm flipH="false" flipV="false" rot="0">
              <a:off x="0" y="0"/>
              <a:ext cx="1371600" cy="768096"/>
            </a:xfrm>
            <a:custGeom>
              <a:avLst/>
              <a:gdLst/>
              <a:ahLst/>
              <a:cxnLst/>
              <a:rect r="r" b="b" t="t" l="l"/>
              <a:pathLst>
                <a:path h="768096" w="1371600">
                  <a:moveTo>
                    <a:pt x="0" y="0"/>
                  </a:moveTo>
                  <a:lnTo>
                    <a:pt x="1371600" y="0"/>
                  </a:lnTo>
                  <a:lnTo>
                    <a:pt x="1371600" y="768096"/>
                  </a:lnTo>
                  <a:lnTo>
                    <a:pt x="0" y="768096"/>
                  </a:lnTo>
                  <a:close/>
                </a:path>
              </a:pathLst>
            </a:custGeom>
            <a:blipFill>
              <a:blip r:embed="rId3">
                <a:alphaModFix amt="0"/>
              </a:blip>
              <a:stretch>
                <a:fillRect l="-21849" t="0" r="-21849" b="0"/>
              </a:stretch>
            </a:blipFill>
          </p:spPr>
        </p:sp>
        <p:sp>
          <p:nvSpPr>
            <p:cNvPr name="TextBox 18" id="18"/>
            <p:cNvSpPr txBox="true"/>
            <p:nvPr/>
          </p:nvSpPr>
          <p:spPr>
            <a:xfrm>
              <a:off x="0" y="-9525"/>
              <a:ext cx="1371600" cy="777621"/>
            </a:xfrm>
            <a:prstGeom prst="rect">
              <a:avLst/>
            </a:prstGeom>
          </p:spPr>
          <p:txBody>
            <a:bodyPr anchor="ctr" rtlCol="false" tIns="0" lIns="0" bIns="0" rIns="0"/>
            <a:lstStyle/>
            <a:p>
              <a:pPr algn="l">
                <a:lnSpc>
                  <a:spcPts val="4680"/>
                </a:lnSpc>
              </a:pPr>
              <a:r>
                <a:rPr lang="en-US" sz="3900">
                  <a:solidFill>
                    <a:srgbClr val="FF8A80"/>
                  </a:solidFill>
                  <a:latin typeface="Georgia"/>
                  <a:ea typeface="Georgia"/>
                  <a:cs typeface="Georgia"/>
                  <a:sym typeface="Georgia"/>
                </a:rPr>
                <a:t>02</a:t>
              </a:r>
            </a:p>
          </p:txBody>
        </p:sp>
      </p:grpSp>
      <p:sp>
        <p:nvSpPr>
          <p:cNvPr name="TextBox 19" id="19"/>
          <p:cNvSpPr txBox="true"/>
          <p:nvPr/>
        </p:nvSpPr>
        <p:spPr>
          <a:xfrm rot="0">
            <a:off x="2009542" y="3429953"/>
            <a:ext cx="6858000" cy="876300"/>
          </a:xfrm>
          <a:prstGeom prst="rect">
            <a:avLst/>
          </a:prstGeom>
        </p:spPr>
        <p:txBody>
          <a:bodyPr anchor="t" rtlCol="false" tIns="0" lIns="0" bIns="0" rIns="0">
            <a:spAutoFit/>
          </a:bodyPr>
          <a:lstStyle/>
          <a:p>
            <a:pPr algn="l">
              <a:lnSpc>
                <a:spcPts val="3240"/>
              </a:lnSpc>
            </a:pPr>
            <a:r>
              <a:rPr lang="en-US" sz="2700">
                <a:solidFill>
                  <a:srgbClr val="2B2B2B"/>
                </a:solidFill>
                <a:latin typeface="Calibri (MS)"/>
                <a:ea typeface="Calibri (MS)"/>
                <a:cs typeface="Calibri (MS)"/>
                <a:sym typeface="Calibri (MS)"/>
              </a:rPr>
              <a:t>Establish a virtual camera-based capture </a:t>
            </a:r>
          </a:p>
          <a:p>
            <a:pPr algn="l">
              <a:lnSpc>
                <a:spcPts val="3240"/>
              </a:lnSpc>
            </a:pPr>
            <a:r>
              <a:rPr lang="en-US" sz="2700">
                <a:solidFill>
                  <a:srgbClr val="2B2B2B"/>
                </a:solidFill>
                <a:latin typeface="Calibri (MS)"/>
                <a:ea typeface="Calibri (MS)"/>
                <a:cs typeface="Calibri (MS)"/>
                <a:sym typeface="Calibri (MS)"/>
              </a:rPr>
              <a:t>system</a:t>
            </a:r>
          </a:p>
        </p:txBody>
      </p:sp>
      <p:grpSp>
        <p:nvGrpSpPr>
          <p:cNvPr name="Group 20" id="20"/>
          <p:cNvGrpSpPr/>
          <p:nvPr/>
        </p:nvGrpSpPr>
        <p:grpSpPr>
          <a:xfrm rot="0">
            <a:off x="775102" y="4458653"/>
            <a:ext cx="1028700" cy="576072"/>
            <a:chOff x="0" y="0"/>
            <a:chExt cx="1371600" cy="768096"/>
          </a:xfrm>
        </p:grpSpPr>
        <p:sp>
          <p:nvSpPr>
            <p:cNvPr name="Freeform 21" id="21"/>
            <p:cNvSpPr/>
            <p:nvPr/>
          </p:nvSpPr>
          <p:spPr>
            <a:xfrm flipH="false" flipV="false" rot="0">
              <a:off x="0" y="0"/>
              <a:ext cx="1371600" cy="768096"/>
            </a:xfrm>
            <a:custGeom>
              <a:avLst/>
              <a:gdLst/>
              <a:ahLst/>
              <a:cxnLst/>
              <a:rect r="r" b="b" t="t" l="l"/>
              <a:pathLst>
                <a:path h="768096" w="1371600">
                  <a:moveTo>
                    <a:pt x="0" y="0"/>
                  </a:moveTo>
                  <a:lnTo>
                    <a:pt x="1371600" y="0"/>
                  </a:lnTo>
                  <a:lnTo>
                    <a:pt x="1371600" y="768096"/>
                  </a:lnTo>
                  <a:lnTo>
                    <a:pt x="0" y="768096"/>
                  </a:lnTo>
                  <a:close/>
                </a:path>
              </a:pathLst>
            </a:custGeom>
            <a:blipFill>
              <a:blip r:embed="rId3">
                <a:alphaModFix amt="0"/>
              </a:blip>
              <a:stretch>
                <a:fillRect l="-21849" t="0" r="-21849" b="0"/>
              </a:stretch>
            </a:blipFill>
          </p:spPr>
        </p:sp>
        <p:sp>
          <p:nvSpPr>
            <p:cNvPr name="TextBox 22" id="22"/>
            <p:cNvSpPr txBox="true"/>
            <p:nvPr/>
          </p:nvSpPr>
          <p:spPr>
            <a:xfrm>
              <a:off x="0" y="-9525"/>
              <a:ext cx="1371600" cy="777621"/>
            </a:xfrm>
            <a:prstGeom prst="rect">
              <a:avLst/>
            </a:prstGeom>
          </p:spPr>
          <p:txBody>
            <a:bodyPr anchor="ctr" rtlCol="false" tIns="0" lIns="0" bIns="0" rIns="0"/>
            <a:lstStyle/>
            <a:p>
              <a:pPr algn="l">
                <a:lnSpc>
                  <a:spcPts val="4680"/>
                </a:lnSpc>
              </a:pPr>
              <a:r>
                <a:rPr lang="en-US" sz="3900">
                  <a:solidFill>
                    <a:srgbClr val="FF8A80"/>
                  </a:solidFill>
                  <a:latin typeface="Georgia"/>
                  <a:ea typeface="Georgia"/>
                  <a:cs typeface="Georgia"/>
                  <a:sym typeface="Georgia"/>
                </a:rPr>
                <a:t>03</a:t>
              </a:r>
            </a:p>
          </p:txBody>
        </p:sp>
      </p:grpSp>
      <p:sp>
        <p:nvSpPr>
          <p:cNvPr name="TextBox 23" id="23"/>
          <p:cNvSpPr txBox="true"/>
          <p:nvPr/>
        </p:nvSpPr>
        <p:spPr>
          <a:xfrm rot="0">
            <a:off x="2009542" y="4525328"/>
            <a:ext cx="6858000" cy="876300"/>
          </a:xfrm>
          <a:prstGeom prst="rect">
            <a:avLst/>
          </a:prstGeom>
        </p:spPr>
        <p:txBody>
          <a:bodyPr anchor="t" rtlCol="false" tIns="0" lIns="0" bIns="0" rIns="0">
            <a:spAutoFit/>
          </a:bodyPr>
          <a:lstStyle/>
          <a:p>
            <a:pPr algn="l">
              <a:lnSpc>
                <a:spcPts val="3240"/>
              </a:lnSpc>
            </a:pPr>
            <a:r>
              <a:rPr lang="en-US" sz="2700">
                <a:solidFill>
                  <a:srgbClr val="2B2B2B"/>
                </a:solidFill>
                <a:latin typeface="Calibri (MS)"/>
                <a:ea typeface="Calibri (MS)"/>
                <a:cs typeface="Calibri (MS)"/>
                <a:sym typeface="Calibri (MS)"/>
              </a:rPr>
              <a:t>Detect ground surfaces and potential</a:t>
            </a:r>
          </a:p>
          <a:p>
            <a:pPr algn="l">
              <a:lnSpc>
                <a:spcPts val="3240"/>
              </a:lnSpc>
            </a:pPr>
            <a:r>
              <a:rPr lang="en-US" sz="2700">
                <a:solidFill>
                  <a:srgbClr val="2B2B2B"/>
                </a:solidFill>
                <a:latin typeface="Calibri (MS)"/>
                <a:ea typeface="Calibri (MS)"/>
                <a:cs typeface="Calibri (MS)"/>
                <a:sym typeface="Calibri (MS)"/>
              </a:rPr>
              <a:t>obstacles</a:t>
            </a:r>
          </a:p>
        </p:txBody>
      </p:sp>
      <p:grpSp>
        <p:nvGrpSpPr>
          <p:cNvPr name="Group 24" id="24"/>
          <p:cNvGrpSpPr/>
          <p:nvPr/>
        </p:nvGrpSpPr>
        <p:grpSpPr>
          <a:xfrm rot="0">
            <a:off x="765577" y="5856732"/>
            <a:ext cx="1028700" cy="576072"/>
            <a:chOff x="0" y="0"/>
            <a:chExt cx="1371600" cy="768096"/>
          </a:xfrm>
        </p:grpSpPr>
        <p:sp>
          <p:nvSpPr>
            <p:cNvPr name="Freeform 25" id="25"/>
            <p:cNvSpPr/>
            <p:nvPr/>
          </p:nvSpPr>
          <p:spPr>
            <a:xfrm flipH="false" flipV="false" rot="0">
              <a:off x="0" y="0"/>
              <a:ext cx="1371600" cy="768096"/>
            </a:xfrm>
            <a:custGeom>
              <a:avLst/>
              <a:gdLst/>
              <a:ahLst/>
              <a:cxnLst/>
              <a:rect r="r" b="b" t="t" l="l"/>
              <a:pathLst>
                <a:path h="768096" w="1371600">
                  <a:moveTo>
                    <a:pt x="0" y="0"/>
                  </a:moveTo>
                  <a:lnTo>
                    <a:pt x="1371600" y="0"/>
                  </a:lnTo>
                  <a:lnTo>
                    <a:pt x="1371600" y="768096"/>
                  </a:lnTo>
                  <a:lnTo>
                    <a:pt x="0" y="768096"/>
                  </a:lnTo>
                  <a:close/>
                </a:path>
              </a:pathLst>
            </a:custGeom>
            <a:blipFill>
              <a:blip r:embed="rId3">
                <a:alphaModFix amt="0"/>
              </a:blip>
              <a:stretch>
                <a:fillRect l="-21849" t="0" r="-21849" b="0"/>
              </a:stretch>
            </a:blipFill>
          </p:spPr>
        </p:sp>
        <p:sp>
          <p:nvSpPr>
            <p:cNvPr name="TextBox 26" id="26"/>
            <p:cNvSpPr txBox="true"/>
            <p:nvPr/>
          </p:nvSpPr>
          <p:spPr>
            <a:xfrm>
              <a:off x="0" y="-9525"/>
              <a:ext cx="1371600" cy="777621"/>
            </a:xfrm>
            <a:prstGeom prst="rect">
              <a:avLst/>
            </a:prstGeom>
          </p:spPr>
          <p:txBody>
            <a:bodyPr anchor="ctr" rtlCol="false" tIns="0" lIns="0" bIns="0" rIns="0"/>
            <a:lstStyle/>
            <a:p>
              <a:pPr algn="l">
                <a:lnSpc>
                  <a:spcPts val="4680"/>
                </a:lnSpc>
              </a:pPr>
              <a:r>
                <a:rPr lang="en-US" sz="3900">
                  <a:solidFill>
                    <a:srgbClr val="FF8A80"/>
                  </a:solidFill>
                  <a:latin typeface="Georgia"/>
                  <a:ea typeface="Georgia"/>
                  <a:cs typeface="Georgia"/>
                  <a:sym typeface="Georgia"/>
                </a:rPr>
                <a:t>04</a:t>
              </a:r>
            </a:p>
          </p:txBody>
        </p:sp>
      </p:grpSp>
      <p:sp>
        <p:nvSpPr>
          <p:cNvPr name="TextBox 27" id="27"/>
          <p:cNvSpPr txBox="true"/>
          <p:nvPr/>
        </p:nvSpPr>
        <p:spPr>
          <a:xfrm rot="0">
            <a:off x="2000017" y="5922740"/>
            <a:ext cx="6858000" cy="876300"/>
          </a:xfrm>
          <a:prstGeom prst="rect">
            <a:avLst/>
          </a:prstGeom>
        </p:spPr>
        <p:txBody>
          <a:bodyPr anchor="t" rtlCol="false" tIns="0" lIns="0" bIns="0" rIns="0">
            <a:spAutoFit/>
          </a:bodyPr>
          <a:lstStyle/>
          <a:p>
            <a:pPr algn="l">
              <a:lnSpc>
                <a:spcPts val="3240"/>
              </a:lnSpc>
            </a:pPr>
            <a:r>
              <a:rPr lang="en-US" sz="2700">
                <a:solidFill>
                  <a:srgbClr val="2B2B2B"/>
                </a:solidFill>
                <a:latin typeface="Calibri (MS)"/>
                <a:ea typeface="Calibri (MS)"/>
                <a:cs typeface="Calibri (MS)"/>
                <a:sym typeface="Calibri (MS)"/>
              </a:rPr>
              <a:t>Identify objects and estimate their </a:t>
            </a:r>
          </a:p>
          <a:p>
            <a:pPr algn="l">
              <a:lnSpc>
                <a:spcPts val="3240"/>
              </a:lnSpc>
            </a:pPr>
            <a:r>
              <a:rPr lang="en-US" sz="2700">
                <a:solidFill>
                  <a:srgbClr val="2B2B2B"/>
                </a:solidFill>
                <a:latin typeface="Calibri (MS)"/>
                <a:ea typeface="Calibri (MS)"/>
                <a:cs typeface="Calibri (MS)"/>
                <a:sym typeface="Calibri (MS)"/>
              </a:rPr>
              <a:t>distances</a:t>
            </a:r>
          </a:p>
        </p:txBody>
      </p:sp>
      <p:grpSp>
        <p:nvGrpSpPr>
          <p:cNvPr name="Group 28" id="28"/>
          <p:cNvGrpSpPr/>
          <p:nvPr/>
        </p:nvGrpSpPr>
        <p:grpSpPr>
          <a:xfrm rot="0">
            <a:off x="765577" y="7141940"/>
            <a:ext cx="1028700" cy="576072"/>
            <a:chOff x="0" y="0"/>
            <a:chExt cx="1371600" cy="768096"/>
          </a:xfrm>
        </p:grpSpPr>
        <p:sp>
          <p:nvSpPr>
            <p:cNvPr name="Freeform 29" id="29"/>
            <p:cNvSpPr/>
            <p:nvPr/>
          </p:nvSpPr>
          <p:spPr>
            <a:xfrm flipH="false" flipV="false" rot="0">
              <a:off x="0" y="0"/>
              <a:ext cx="1371600" cy="768096"/>
            </a:xfrm>
            <a:custGeom>
              <a:avLst/>
              <a:gdLst/>
              <a:ahLst/>
              <a:cxnLst/>
              <a:rect r="r" b="b" t="t" l="l"/>
              <a:pathLst>
                <a:path h="768096" w="1371600">
                  <a:moveTo>
                    <a:pt x="0" y="0"/>
                  </a:moveTo>
                  <a:lnTo>
                    <a:pt x="1371600" y="0"/>
                  </a:lnTo>
                  <a:lnTo>
                    <a:pt x="1371600" y="768096"/>
                  </a:lnTo>
                  <a:lnTo>
                    <a:pt x="0" y="768096"/>
                  </a:lnTo>
                  <a:close/>
                </a:path>
              </a:pathLst>
            </a:custGeom>
            <a:blipFill>
              <a:blip r:embed="rId3">
                <a:alphaModFix amt="0"/>
              </a:blip>
              <a:stretch>
                <a:fillRect l="-21849" t="0" r="-21849" b="0"/>
              </a:stretch>
            </a:blipFill>
          </p:spPr>
        </p:sp>
        <p:sp>
          <p:nvSpPr>
            <p:cNvPr name="TextBox 30" id="30"/>
            <p:cNvSpPr txBox="true"/>
            <p:nvPr/>
          </p:nvSpPr>
          <p:spPr>
            <a:xfrm>
              <a:off x="0" y="-9525"/>
              <a:ext cx="1371600" cy="777621"/>
            </a:xfrm>
            <a:prstGeom prst="rect">
              <a:avLst/>
            </a:prstGeom>
          </p:spPr>
          <p:txBody>
            <a:bodyPr anchor="ctr" rtlCol="false" tIns="0" lIns="0" bIns="0" rIns="0"/>
            <a:lstStyle/>
            <a:p>
              <a:pPr algn="l">
                <a:lnSpc>
                  <a:spcPts val="4680"/>
                </a:lnSpc>
              </a:pPr>
              <a:r>
                <a:rPr lang="en-US" sz="3900">
                  <a:solidFill>
                    <a:srgbClr val="FF8A80"/>
                  </a:solidFill>
                  <a:latin typeface="Georgia"/>
                  <a:ea typeface="Georgia"/>
                  <a:cs typeface="Georgia"/>
                  <a:sym typeface="Georgia"/>
                </a:rPr>
                <a:t>05</a:t>
              </a:r>
            </a:p>
          </p:txBody>
        </p:sp>
      </p:grpSp>
      <p:sp>
        <p:nvSpPr>
          <p:cNvPr name="TextBox 31" id="31"/>
          <p:cNvSpPr txBox="true"/>
          <p:nvPr/>
        </p:nvSpPr>
        <p:spPr>
          <a:xfrm rot="0">
            <a:off x="2000017" y="7084790"/>
            <a:ext cx="6858000" cy="876300"/>
          </a:xfrm>
          <a:prstGeom prst="rect">
            <a:avLst/>
          </a:prstGeom>
        </p:spPr>
        <p:txBody>
          <a:bodyPr anchor="t" rtlCol="false" tIns="0" lIns="0" bIns="0" rIns="0">
            <a:spAutoFit/>
          </a:bodyPr>
          <a:lstStyle/>
          <a:p>
            <a:pPr algn="l">
              <a:lnSpc>
                <a:spcPts val="3240"/>
              </a:lnSpc>
            </a:pPr>
            <a:r>
              <a:rPr lang="en-US" sz="2700">
                <a:solidFill>
                  <a:srgbClr val="2B2B2B"/>
                </a:solidFill>
                <a:latin typeface="Calibri (MS)"/>
                <a:ea typeface="Calibri (MS)"/>
                <a:cs typeface="Calibri (MS)"/>
                <a:sym typeface="Calibri (MS)"/>
              </a:rPr>
              <a:t>Develop a structured environmental </a:t>
            </a:r>
          </a:p>
          <a:p>
            <a:pPr algn="l">
              <a:lnSpc>
                <a:spcPts val="3240"/>
              </a:lnSpc>
            </a:pPr>
            <a:r>
              <a:rPr lang="en-US" sz="2700">
                <a:solidFill>
                  <a:srgbClr val="2B2B2B"/>
                </a:solidFill>
                <a:latin typeface="Calibri (MS)"/>
                <a:ea typeface="Calibri (MS)"/>
                <a:cs typeface="Calibri (MS)"/>
                <a:sym typeface="Calibri (MS)"/>
              </a:rPr>
              <a:t>perception pipeline</a:t>
            </a:r>
          </a:p>
        </p:txBody>
      </p:sp>
      <p:grpSp>
        <p:nvGrpSpPr>
          <p:cNvPr name="Group 32" id="32"/>
          <p:cNvGrpSpPr/>
          <p:nvPr/>
        </p:nvGrpSpPr>
        <p:grpSpPr>
          <a:xfrm rot="0">
            <a:off x="765577" y="8542115"/>
            <a:ext cx="1028700" cy="576072"/>
            <a:chOff x="0" y="0"/>
            <a:chExt cx="1371600" cy="768096"/>
          </a:xfrm>
        </p:grpSpPr>
        <p:sp>
          <p:nvSpPr>
            <p:cNvPr name="Freeform 33" id="33"/>
            <p:cNvSpPr/>
            <p:nvPr/>
          </p:nvSpPr>
          <p:spPr>
            <a:xfrm flipH="false" flipV="false" rot="0">
              <a:off x="0" y="0"/>
              <a:ext cx="1371600" cy="768096"/>
            </a:xfrm>
            <a:custGeom>
              <a:avLst/>
              <a:gdLst/>
              <a:ahLst/>
              <a:cxnLst/>
              <a:rect r="r" b="b" t="t" l="l"/>
              <a:pathLst>
                <a:path h="768096" w="1371600">
                  <a:moveTo>
                    <a:pt x="0" y="0"/>
                  </a:moveTo>
                  <a:lnTo>
                    <a:pt x="1371600" y="0"/>
                  </a:lnTo>
                  <a:lnTo>
                    <a:pt x="1371600" y="768096"/>
                  </a:lnTo>
                  <a:lnTo>
                    <a:pt x="0" y="768096"/>
                  </a:lnTo>
                  <a:close/>
                </a:path>
              </a:pathLst>
            </a:custGeom>
            <a:blipFill>
              <a:blip r:embed="rId3">
                <a:alphaModFix amt="0"/>
              </a:blip>
              <a:stretch>
                <a:fillRect l="-21849" t="0" r="-21849" b="0"/>
              </a:stretch>
            </a:blipFill>
          </p:spPr>
        </p:sp>
        <p:sp>
          <p:nvSpPr>
            <p:cNvPr name="TextBox 34" id="34"/>
            <p:cNvSpPr txBox="true"/>
            <p:nvPr/>
          </p:nvSpPr>
          <p:spPr>
            <a:xfrm>
              <a:off x="0" y="-9525"/>
              <a:ext cx="1371600" cy="777621"/>
            </a:xfrm>
            <a:prstGeom prst="rect">
              <a:avLst/>
            </a:prstGeom>
          </p:spPr>
          <p:txBody>
            <a:bodyPr anchor="ctr" rtlCol="false" tIns="0" lIns="0" bIns="0" rIns="0"/>
            <a:lstStyle/>
            <a:p>
              <a:pPr algn="l">
                <a:lnSpc>
                  <a:spcPts val="4680"/>
                </a:lnSpc>
              </a:pPr>
              <a:r>
                <a:rPr lang="en-US" sz="3900">
                  <a:solidFill>
                    <a:srgbClr val="FF8A80"/>
                  </a:solidFill>
                  <a:latin typeface="Georgia"/>
                  <a:ea typeface="Georgia"/>
                  <a:cs typeface="Georgia"/>
                  <a:sym typeface="Georgia"/>
                </a:rPr>
                <a:t>06</a:t>
              </a:r>
            </a:p>
          </p:txBody>
        </p:sp>
      </p:grpSp>
      <p:sp>
        <p:nvSpPr>
          <p:cNvPr name="TextBox 35" id="35"/>
          <p:cNvSpPr txBox="true"/>
          <p:nvPr/>
        </p:nvSpPr>
        <p:spPr>
          <a:xfrm rot="0">
            <a:off x="2000017" y="8484965"/>
            <a:ext cx="6858000" cy="876300"/>
          </a:xfrm>
          <a:prstGeom prst="rect">
            <a:avLst/>
          </a:prstGeom>
        </p:spPr>
        <p:txBody>
          <a:bodyPr anchor="t" rtlCol="false" tIns="0" lIns="0" bIns="0" rIns="0">
            <a:spAutoFit/>
          </a:bodyPr>
          <a:lstStyle/>
          <a:p>
            <a:pPr algn="l">
              <a:lnSpc>
                <a:spcPts val="3240"/>
              </a:lnSpc>
            </a:pPr>
            <a:r>
              <a:rPr lang="en-US" sz="2700">
                <a:solidFill>
                  <a:srgbClr val="2B2B2B"/>
                </a:solidFill>
                <a:latin typeface="Calibri (MS)"/>
                <a:ea typeface="Calibri (MS)"/>
                <a:cs typeface="Calibri (MS)"/>
                <a:sym typeface="Calibri (MS)"/>
              </a:rPr>
              <a:t>Lay the foundation for audio guidance</a:t>
            </a:r>
          </a:p>
          <a:p>
            <a:pPr algn="l">
              <a:lnSpc>
                <a:spcPts val="3240"/>
              </a:lnSpc>
            </a:pPr>
            <a:r>
              <a:rPr lang="en-US" sz="2700">
                <a:solidFill>
                  <a:srgbClr val="2B2B2B"/>
                </a:solidFill>
                <a:latin typeface="Calibri (MS)"/>
                <a:ea typeface="Calibri (MS)"/>
                <a:cs typeface="Calibri (MS)"/>
                <a:sym typeface="Calibri (MS)"/>
              </a:rPr>
              <a:t>and hardware integration</a:t>
            </a:r>
          </a:p>
        </p:txBody>
      </p:sp>
      <p:sp>
        <p:nvSpPr>
          <p:cNvPr name="Freeform 36" id="36"/>
          <p:cNvSpPr/>
          <p:nvPr/>
        </p:nvSpPr>
        <p:spPr>
          <a:xfrm flipH="false" flipV="false" rot="0">
            <a:off x="7649645" y="1920240"/>
            <a:ext cx="10492249" cy="6831388"/>
          </a:xfrm>
          <a:custGeom>
            <a:avLst/>
            <a:gdLst/>
            <a:ahLst/>
            <a:cxnLst/>
            <a:rect r="r" b="b" t="t" l="l"/>
            <a:pathLst>
              <a:path h="6831388" w="10492249">
                <a:moveTo>
                  <a:pt x="0" y="0"/>
                </a:moveTo>
                <a:lnTo>
                  <a:pt x="10492249" y="0"/>
                </a:lnTo>
                <a:lnTo>
                  <a:pt x="10492249" y="6831388"/>
                </a:lnTo>
                <a:lnTo>
                  <a:pt x="0" y="6831388"/>
                </a:lnTo>
                <a:lnTo>
                  <a:pt x="0" y="0"/>
                </a:lnTo>
                <a:close/>
              </a:path>
            </a:pathLst>
          </a:custGeom>
          <a:blipFill>
            <a:blip r:embed="rId4"/>
            <a:stretch>
              <a:fillRect l="-1580" t="0" r="0" b="-4011"/>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grpSp>
        <p:nvGrpSpPr>
          <p:cNvPr name="Group 2" id="2"/>
          <p:cNvGrpSpPr/>
          <p:nvPr/>
        </p:nvGrpSpPr>
        <p:grpSpPr>
          <a:xfrm rot="0">
            <a:off x="960120" y="576072"/>
            <a:ext cx="16322040" cy="658368"/>
            <a:chOff x="0" y="0"/>
            <a:chExt cx="21762720" cy="877824"/>
          </a:xfrm>
        </p:grpSpPr>
        <p:sp>
          <p:nvSpPr>
            <p:cNvPr name="Freeform 3" id="3"/>
            <p:cNvSpPr/>
            <p:nvPr/>
          </p:nvSpPr>
          <p:spPr>
            <a:xfrm flipH="false" flipV="false" rot="0">
              <a:off x="0" y="0"/>
              <a:ext cx="21762720" cy="877824"/>
            </a:xfrm>
            <a:custGeom>
              <a:avLst/>
              <a:gdLst/>
              <a:ahLst/>
              <a:cxnLst/>
              <a:rect r="r" b="b" t="t" l="l"/>
              <a:pathLst>
                <a:path h="877824" w="21762720">
                  <a:moveTo>
                    <a:pt x="0" y="0"/>
                  </a:moveTo>
                  <a:lnTo>
                    <a:pt x="21762720" y="0"/>
                  </a:lnTo>
                  <a:lnTo>
                    <a:pt x="21762720" y="877824"/>
                  </a:lnTo>
                  <a:lnTo>
                    <a:pt x="0" y="877824"/>
                  </a:lnTo>
                  <a:close/>
                </a:path>
              </a:pathLst>
            </a:custGeom>
            <a:blipFill>
              <a:blip r:embed="rId3">
                <a:alphaModFix amt="0"/>
              </a:blip>
              <a:stretch>
                <a:fillRect l="0" t="-433066" r="0" b="-433066"/>
              </a:stretch>
            </a:blipFill>
          </p:spPr>
        </p:sp>
        <p:sp>
          <p:nvSpPr>
            <p:cNvPr name="TextBox 4" id="4"/>
            <p:cNvSpPr txBox="true"/>
            <p:nvPr/>
          </p:nvSpPr>
          <p:spPr>
            <a:xfrm>
              <a:off x="0" y="0"/>
              <a:ext cx="21762720" cy="877824"/>
            </a:xfrm>
            <a:prstGeom prst="rect">
              <a:avLst/>
            </a:prstGeom>
          </p:spPr>
          <p:txBody>
            <a:bodyPr anchor="ctr" rtlCol="false" tIns="0" lIns="0" bIns="0" rIns="0"/>
            <a:lstStyle/>
            <a:p>
              <a:pPr algn="l">
                <a:lnSpc>
                  <a:spcPts val="5759"/>
                </a:lnSpc>
              </a:pPr>
              <a:r>
                <a:rPr lang="en-US" sz="4800">
                  <a:solidFill>
                    <a:srgbClr val="2B2B2B"/>
                  </a:solidFill>
                  <a:latin typeface="Georgia"/>
                  <a:ea typeface="Georgia"/>
                  <a:cs typeface="Georgia"/>
                  <a:sym typeface="Georgia"/>
                </a:rPr>
                <a:t>Proposed Solution</a:t>
              </a:r>
            </a:p>
          </p:txBody>
        </p:sp>
      </p:grpSp>
      <p:grpSp>
        <p:nvGrpSpPr>
          <p:cNvPr name="Group 5" id="5"/>
          <p:cNvGrpSpPr/>
          <p:nvPr/>
        </p:nvGrpSpPr>
        <p:grpSpPr>
          <a:xfrm rot="0">
            <a:off x="950595" y="1293495"/>
            <a:ext cx="1088898" cy="67056"/>
            <a:chOff x="0" y="0"/>
            <a:chExt cx="1451864" cy="89408"/>
          </a:xfrm>
        </p:grpSpPr>
        <p:sp>
          <p:nvSpPr>
            <p:cNvPr name="Freeform 6" id="6"/>
            <p:cNvSpPr/>
            <p:nvPr/>
          </p:nvSpPr>
          <p:spPr>
            <a:xfrm flipH="false" flipV="false" rot="0">
              <a:off x="0" y="0"/>
              <a:ext cx="1451864" cy="89408"/>
            </a:xfrm>
            <a:custGeom>
              <a:avLst/>
              <a:gdLst/>
              <a:ahLst/>
              <a:cxnLst/>
              <a:rect r="r" b="b" t="t" l="l"/>
              <a:pathLst>
                <a:path h="89408" w="1451864">
                  <a:moveTo>
                    <a:pt x="0" y="0"/>
                  </a:moveTo>
                  <a:lnTo>
                    <a:pt x="1451864" y="0"/>
                  </a:lnTo>
                  <a:lnTo>
                    <a:pt x="1451864" y="89408"/>
                  </a:lnTo>
                  <a:lnTo>
                    <a:pt x="0" y="89408"/>
                  </a:lnTo>
                  <a:close/>
                </a:path>
              </a:pathLst>
            </a:custGeom>
            <a:solidFill>
              <a:srgbClr val="FF8A80"/>
            </a:solidFill>
            <a:ln w="19050" cap="sq">
              <a:solidFill>
                <a:srgbClr val="333333"/>
              </a:solidFill>
              <a:prstDash val="solid"/>
              <a:miter/>
            </a:ln>
          </p:spPr>
        </p:sp>
      </p:grpSp>
      <p:grpSp>
        <p:nvGrpSpPr>
          <p:cNvPr name="Group 7" id="7"/>
          <p:cNvGrpSpPr/>
          <p:nvPr/>
        </p:nvGrpSpPr>
        <p:grpSpPr>
          <a:xfrm rot="0">
            <a:off x="950595" y="9701403"/>
            <a:ext cx="16386353" cy="35509"/>
            <a:chOff x="0" y="0"/>
            <a:chExt cx="21848470" cy="47346"/>
          </a:xfrm>
        </p:grpSpPr>
        <p:sp>
          <p:nvSpPr>
            <p:cNvPr name="Freeform 8" id="8"/>
            <p:cNvSpPr/>
            <p:nvPr/>
          </p:nvSpPr>
          <p:spPr>
            <a:xfrm flipH="false" flipV="false" rot="0">
              <a:off x="0" y="0"/>
              <a:ext cx="21848445" cy="47371"/>
            </a:xfrm>
            <a:custGeom>
              <a:avLst/>
              <a:gdLst/>
              <a:ahLst/>
              <a:cxnLst/>
              <a:rect r="r" b="b" t="t" l="l"/>
              <a:pathLst>
                <a:path h="47371" w="21848445">
                  <a:moveTo>
                    <a:pt x="0" y="0"/>
                  </a:moveTo>
                  <a:lnTo>
                    <a:pt x="21848445" y="0"/>
                  </a:lnTo>
                  <a:lnTo>
                    <a:pt x="21848445" y="47371"/>
                  </a:lnTo>
                  <a:lnTo>
                    <a:pt x="0" y="47371"/>
                  </a:lnTo>
                  <a:close/>
                </a:path>
              </a:pathLst>
            </a:custGeom>
            <a:solidFill>
              <a:srgbClr val="D0D0D0"/>
            </a:solidFill>
            <a:ln w="19050" cap="sq">
              <a:solidFill>
                <a:srgbClr val="333333"/>
              </a:solidFill>
              <a:prstDash val="solid"/>
              <a:miter/>
            </a:ln>
          </p:spPr>
        </p:sp>
      </p:grpSp>
      <p:grpSp>
        <p:nvGrpSpPr>
          <p:cNvPr name="Group 9" id="9"/>
          <p:cNvGrpSpPr/>
          <p:nvPr/>
        </p:nvGrpSpPr>
        <p:grpSpPr>
          <a:xfrm rot="0">
            <a:off x="15636240" y="9806940"/>
            <a:ext cx="1645920" cy="356616"/>
            <a:chOff x="0" y="0"/>
            <a:chExt cx="2194560" cy="475488"/>
          </a:xfrm>
        </p:grpSpPr>
        <p:sp>
          <p:nvSpPr>
            <p:cNvPr name="Freeform 10" id="10"/>
            <p:cNvSpPr/>
            <p:nvPr/>
          </p:nvSpPr>
          <p:spPr>
            <a:xfrm flipH="false" flipV="false" rot="0">
              <a:off x="0" y="0"/>
              <a:ext cx="2194560" cy="475488"/>
            </a:xfrm>
            <a:custGeom>
              <a:avLst/>
              <a:gdLst/>
              <a:ahLst/>
              <a:cxnLst/>
              <a:rect r="r" b="b" t="t" l="l"/>
              <a:pathLst>
                <a:path h="475488" w="2194560">
                  <a:moveTo>
                    <a:pt x="0" y="0"/>
                  </a:moveTo>
                  <a:lnTo>
                    <a:pt x="2194560" y="0"/>
                  </a:lnTo>
                  <a:lnTo>
                    <a:pt x="2194560" y="475488"/>
                  </a:lnTo>
                  <a:lnTo>
                    <a:pt x="0" y="475488"/>
                  </a:lnTo>
                  <a:close/>
                </a:path>
              </a:pathLst>
            </a:custGeom>
            <a:blipFill>
              <a:blip r:embed="rId3">
                <a:alphaModFix amt="0"/>
              </a:blip>
              <a:stretch>
                <a:fillRect l="0" t="-39930" r="0" b="-39930"/>
              </a:stretch>
            </a:blipFill>
          </p:spPr>
        </p:sp>
        <p:sp>
          <p:nvSpPr>
            <p:cNvPr name="TextBox 11" id="11"/>
            <p:cNvSpPr txBox="true"/>
            <p:nvPr/>
          </p:nvSpPr>
          <p:spPr>
            <a:xfrm>
              <a:off x="0" y="-28575"/>
              <a:ext cx="2194560" cy="504063"/>
            </a:xfrm>
            <a:prstGeom prst="rect">
              <a:avLst/>
            </a:prstGeom>
          </p:spPr>
          <p:txBody>
            <a:bodyPr anchor="ctr" rtlCol="false" tIns="0" lIns="0" bIns="0" rIns="0"/>
            <a:lstStyle/>
            <a:p>
              <a:pPr algn="r">
                <a:lnSpc>
                  <a:spcPts val="1980"/>
                </a:lnSpc>
              </a:pPr>
              <a:r>
                <a:rPr lang="en-US" sz="1650">
                  <a:solidFill>
                    <a:srgbClr val="6B6B6B"/>
                  </a:solidFill>
                  <a:latin typeface="Calibri (MS)"/>
                  <a:ea typeface="Calibri (MS)"/>
                  <a:cs typeface="Calibri (MS)"/>
                  <a:sym typeface="Calibri (MS)"/>
                </a:rPr>
                <a:t>05</a:t>
              </a:r>
            </a:p>
          </p:txBody>
        </p:sp>
      </p:grpSp>
      <p:grpSp>
        <p:nvGrpSpPr>
          <p:cNvPr name="Group 12" id="12"/>
          <p:cNvGrpSpPr/>
          <p:nvPr/>
        </p:nvGrpSpPr>
        <p:grpSpPr>
          <a:xfrm rot="0">
            <a:off x="1015625" y="2125684"/>
            <a:ext cx="16322040" cy="1303020"/>
            <a:chOff x="0" y="0"/>
            <a:chExt cx="21762720" cy="1737360"/>
          </a:xfrm>
        </p:grpSpPr>
        <p:sp>
          <p:nvSpPr>
            <p:cNvPr name="Freeform 13" id="13"/>
            <p:cNvSpPr/>
            <p:nvPr/>
          </p:nvSpPr>
          <p:spPr>
            <a:xfrm flipH="false" flipV="false" rot="0">
              <a:off x="0" y="0"/>
              <a:ext cx="21762720" cy="1737360"/>
            </a:xfrm>
            <a:custGeom>
              <a:avLst/>
              <a:gdLst/>
              <a:ahLst/>
              <a:cxnLst/>
              <a:rect r="r" b="b" t="t" l="l"/>
              <a:pathLst>
                <a:path h="1737360" w="21762720">
                  <a:moveTo>
                    <a:pt x="0" y="0"/>
                  </a:moveTo>
                  <a:lnTo>
                    <a:pt x="21762720" y="0"/>
                  </a:lnTo>
                  <a:lnTo>
                    <a:pt x="21762720" y="1737360"/>
                  </a:lnTo>
                  <a:lnTo>
                    <a:pt x="0" y="1737360"/>
                  </a:lnTo>
                  <a:close/>
                </a:path>
              </a:pathLst>
            </a:custGeom>
            <a:blipFill>
              <a:blip r:embed="rId3">
                <a:alphaModFix amt="0"/>
              </a:blip>
              <a:stretch>
                <a:fillRect l="0" t="-194075" r="0" b="-194075"/>
              </a:stretch>
            </a:blipFill>
          </p:spPr>
        </p:sp>
        <p:sp>
          <p:nvSpPr>
            <p:cNvPr name="TextBox 14" id="14"/>
            <p:cNvSpPr txBox="true"/>
            <p:nvPr/>
          </p:nvSpPr>
          <p:spPr>
            <a:xfrm>
              <a:off x="0" y="-57150"/>
              <a:ext cx="21762720" cy="1794510"/>
            </a:xfrm>
            <a:prstGeom prst="rect">
              <a:avLst/>
            </a:prstGeom>
          </p:spPr>
          <p:txBody>
            <a:bodyPr anchor="ctr" rtlCol="false" tIns="0" lIns="0" bIns="0" rIns="0"/>
            <a:lstStyle/>
            <a:p>
              <a:pPr algn="l">
                <a:lnSpc>
                  <a:spcPts val="3240"/>
                </a:lnSpc>
              </a:pPr>
              <a:r>
                <a:rPr lang="en-US" sz="2700">
                  <a:solidFill>
                    <a:srgbClr val="2B2B2B"/>
                  </a:solidFill>
                  <a:latin typeface="Calibri (MS)"/>
                  <a:ea typeface="Calibri (MS)"/>
                  <a:cs typeface="Calibri (MS)"/>
                  <a:sym typeface="Calibri (MS)"/>
                </a:rPr>
                <a:t>Echo Vision proposes an integrated pipeline that captures the surrounding environment, analyses it, and converts the result into understandable guidance. A virtual camera will observe the Unity scene, and a custom perception component will process what it sees.</a:t>
              </a:r>
            </a:p>
          </p:txBody>
        </p:sp>
      </p:grpSp>
      <p:sp>
        <p:nvSpPr>
          <p:cNvPr name="Freeform 15" id="15"/>
          <p:cNvSpPr/>
          <p:nvPr/>
        </p:nvSpPr>
        <p:spPr>
          <a:xfrm flipH="false" flipV="false" rot="0">
            <a:off x="501931" y="4413177"/>
            <a:ext cx="17284138" cy="2570754"/>
          </a:xfrm>
          <a:custGeom>
            <a:avLst/>
            <a:gdLst/>
            <a:ahLst/>
            <a:cxnLst/>
            <a:rect r="r" b="b" t="t" l="l"/>
            <a:pathLst>
              <a:path h="2570754" w="17284138">
                <a:moveTo>
                  <a:pt x="0" y="0"/>
                </a:moveTo>
                <a:lnTo>
                  <a:pt x="17284138" y="0"/>
                </a:lnTo>
                <a:lnTo>
                  <a:pt x="17284138" y="2570754"/>
                </a:lnTo>
                <a:lnTo>
                  <a:pt x="0" y="2570754"/>
                </a:lnTo>
                <a:lnTo>
                  <a:pt x="0" y="0"/>
                </a:lnTo>
                <a:close/>
              </a:path>
            </a:pathLst>
          </a:custGeom>
          <a:blipFill>
            <a:blip r:embed="rId4"/>
            <a:stretch>
              <a:fillRect l="0" t="-63916" r="0" b="-60055"/>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grpSp>
        <p:nvGrpSpPr>
          <p:cNvPr name="Group 2" id="2"/>
          <p:cNvGrpSpPr/>
          <p:nvPr/>
        </p:nvGrpSpPr>
        <p:grpSpPr>
          <a:xfrm rot="0">
            <a:off x="960120" y="576072"/>
            <a:ext cx="16322040" cy="658368"/>
            <a:chOff x="0" y="0"/>
            <a:chExt cx="21762720" cy="877824"/>
          </a:xfrm>
        </p:grpSpPr>
        <p:sp>
          <p:nvSpPr>
            <p:cNvPr name="Freeform 3" id="3"/>
            <p:cNvSpPr/>
            <p:nvPr/>
          </p:nvSpPr>
          <p:spPr>
            <a:xfrm flipH="false" flipV="false" rot="0">
              <a:off x="0" y="0"/>
              <a:ext cx="21762720" cy="877824"/>
            </a:xfrm>
            <a:custGeom>
              <a:avLst/>
              <a:gdLst/>
              <a:ahLst/>
              <a:cxnLst/>
              <a:rect r="r" b="b" t="t" l="l"/>
              <a:pathLst>
                <a:path h="877824" w="21762720">
                  <a:moveTo>
                    <a:pt x="0" y="0"/>
                  </a:moveTo>
                  <a:lnTo>
                    <a:pt x="21762720" y="0"/>
                  </a:lnTo>
                  <a:lnTo>
                    <a:pt x="21762720" y="877824"/>
                  </a:lnTo>
                  <a:lnTo>
                    <a:pt x="0" y="877824"/>
                  </a:lnTo>
                  <a:close/>
                </a:path>
              </a:pathLst>
            </a:custGeom>
            <a:blipFill>
              <a:blip r:embed="rId3">
                <a:alphaModFix amt="0"/>
              </a:blip>
              <a:stretch>
                <a:fillRect l="0" t="-433066" r="0" b="-433066"/>
              </a:stretch>
            </a:blipFill>
          </p:spPr>
        </p:sp>
        <p:sp>
          <p:nvSpPr>
            <p:cNvPr name="TextBox 4" id="4"/>
            <p:cNvSpPr txBox="true"/>
            <p:nvPr/>
          </p:nvSpPr>
          <p:spPr>
            <a:xfrm>
              <a:off x="0" y="0"/>
              <a:ext cx="21762720" cy="877824"/>
            </a:xfrm>
            <a:prstGeom prst="rect">
              <a:avLst/>
            </a:prstGeom>
          </p:spPr>
          <p:txBody>
            <a:bodyPr anchor="ctr" rtlCol="false" tIns="0" lIns="0" bIns="0" rIns="0"/>
            <a:lstStyle/>
            <a:p>
              <a:pPr algn="l">
                <a:lnSpc>
                  <a:spcPts val="5759"/>
                </a:lnSpc>
              </a:pPr>
              <a:r>
                <a:rPr lang="en-US" sz="4800">
                  <a:solidFill>
                    <a:srgbClr val="2B2B2B"/>
                  </a:solidFill>
                  <a:latin typeface="Georgia"/>
                  <a:ea typeface="Georgia"/>
                  <a:cs typeface="Georgia"/>
                  <a:sym typeface="Georgia"/>
                </a:rPr>
                <a:t>Digital Twin Methodology</a:t>
              </a:r>
            </a:p>
          </p:txBody>
        </p:sp>
      </p:grpSp>
      <p:grpSp>
        <p:nvGrpSpPr>
          <p:cNvPr name="Group 5" id="5"/>
          <p:cNvGrpSpPr/>
          <p:nvPr/>
        </p:nvGrpSpPr>
        <p:grpSpPr>
          <a:xfrm rot="0">
            <a:off x="950595" y="1293495"/>
            <a:ext cx="1088898" cy="67056"/>
            <a:chOff x="0" y="0"/>
            <a:chExt cx="1451864" cy="89408"/>
          </a:xfrm>
        </p:grpSpPr>
        <p:sp>
          <p:nvSpPr>
            <p:cNvPr name="Freeform 6" id="6"/>
            <p:cNvSpPr/>
            <p:nvPr/>
          </p:nvSpPr>
          <p:spPr>
            <a:xfrm flipH="false" flipV="false" rot="0">
              <a:off x="0" y="0"/>
              <a:ext cx="1451864" cy="89408"/>
            </a:xfrm>
            <a:custGeom>
              <a:avLst/>
              <a:gdLst/>
              <a:ahLst/>
              <a:cxnLst/>
              <a:rect r="r" b="b" t="t" l="l"/>
              <a:pathLst>
                <a:path h="89408" w="1451864">
                  <a:moveTo>
                    <a:pt x="0" y="0"/>
                  </a:moveTo>
                  <a:lnTo>
                    <a:pt x="1451864" y="0"/>
                  </a:lnTo>
                  <a:lnTo>
                    <a:pt x="1451864" y="89408"/>
                  </a:lnTo>
                  <a:lnTo>
                    <a:pt x="0" y="89408"/>
                  </a:lnTo>
                  <a:close/>
                </a:path>
              </a:pathLst>
            </a:custGeom>
            <a:solidFill>
              <a:srgbClr val="FF8A80"/>
            </a:solidFill>
            <a:ln w="19050" cap="sq">
              <a:solidFill>
                <a:srgbClr val="333333"/>
              </a:solidFill>
              <a:prstDash val="solid"/>
              <a:miter/>
            </a:ln>
          </p:spPr>
        </p:sp>
      </p:grpSp>
      <p:grpSp>
        <p:nvGrpSpPr>
          <p:cNvPr name="Group 7" id="7"/>
          <p:cNvGrpSpPr/>
          <p:nvPr/>
        </p:nvGrpSpPr>
        <p:grpSpPr>
          <a:xfrm rot="0">
            <a:off x="950595" y="9701403"/>
            <a:ext cx="16386353" cy="35509"/>
            <a:chOff x="0" y="0"/>
            <a:chExt cx="21848470" cy="47346"/>
          </a:xfrm>
        </p:grpSpPr>
        <p:sp>
          <p:nvSpPr>
            <p:cNvPr name="Freeform 8" id="8"/>
            <p:cNvSpPr/>
            <p:nvPr/>
          </p:nvSpPr>
          <p:spPr>
            <a:xfrm flipH="false" flipV="false" rot="0">
              <a:off x="0" y="0"/>
              <a:ext cx="21848445" cy="47371"/>
            </a:xfrm>
            <a:custGeom>
              <a:avLst/>
              <a:gdLst/>
              <a:ahLst/>
              <a:cxnLst/>
              <a:rect r="r" b="b" t="t" l="l"/>
              <a:pathLst>
                <a:path h="47371" w="21848445">
                  <a:moveTo>
                    <a:pt x="0" y="0"/>
                  </a:moveTo>
                  <a:lnTo>
                    <a:pt x="21848445" y="0"/>
                  </a:lnTo>
                  <a:lnTo>
                    <a:pt x="21848445" y="47371"/>
                  </a:lnTo>
                  <a:lnTo>
                    <a:pt x="0" y="47371"/>
                  </a:lnTo>
                  <a:close/>
                </a:path>
              </a:pathLst>
            </a:custGeom>
            <a:solidFill>
              <a:srgbClr val="D0D0D0"/>
            </a:solidFill>
            <a:ln w="19050" cap="sq">
              <a:solidFill>
                <a:srgbClr val="333333"/>
              </a:solidFill>
              <a:prstDash val="solid"/>
              <a:miter/>
            </a:ln>
          </p:spPr>
        </p:sp>
      </p:grpSp>
      <p:grpSp>
        <p:nvGrpSpPr>
          <p:cNvPr name="Group 9" id="9"/>
          <p:cNvGrpSpPr/>
          <p:nvPr/>
        </p:nvGrpSpPr>
        <p:grpSpPr>
          <a:xfrm rot="0">
            <a:off x="15636240" y="9806940"/>
            <a:ext cx="1645920" cy="356616"/>
            <a:chOff x="0" y="0"/>
            <a:chExt cx="2194560" cy="475488"/>
          </a:xfrm>
        </p:grpSpPr>
        <p:sp>
          <p:nvSpPr>
            <p:cNvPr name="Freeform 10" id="10"/>
            <p:cNvSpPr/>
            <p:nvPr/>
          </p:nvSpPr>
          <p:spPr>
            <a:xfrm flipH="false" flipV="false" rot="0">
              <a:off x="0" y="0"/>
              <a:ext cx="2194560" cy="475488"/>
            </a:xfrm>
            <a:custGeom>
              <a:avLst/>
              <a:gdLst/>
              <a:ahLst/>
              <a:cxnLst/>
              <a:rect r="r" b="b" t="t" l="l"/>
              <a:pathLst>
                <a:path h="475488" w="2194560">
                  <a:moveTo>
                    <a:pt x="0" y="0"/>
                  </a:moveTo>
                  <a:lnTo>
                    <a:pt x="2194560" y="0"/>
                  </a:lnTo>
                  <a:lnTo>
                    <a:pt x="2194560" y="475488"/>
                  </a:lnTo>
                  <a:lnTo>
                    <a:pt x="0" y="475488"/>
                  </a:lnTo>
                  <a:close/>
                </a:path>
              </a:pathLst>
            </a:custGeom>
            <a:blipFill>
              <a:blip r:embed="rId3">
                <a:alphaModFix amt="0"/>
              </a:blip>
              <a:stretch>
                <a:fillRect l="0" t="-39930" r="0" b="-39930"/>
              </a:stretch>
            </a:blipFill>
          </p:spPr>
        </p:sp>
        <p:sp>
          <p:nvSpPr>
            <p:cNvPr name="TextBox 11" id="11"/>
            <p:cNvSpPr txBox="true"/>
            <p:nvPr/>
          </p:nvSpPr>
          <p:spPr>
            <a:xfrm>
              <a:off x="0" y="-28575"/>
              <a:ext cx="2194560" cy="504063"/>
            </a:xfrm>
            <a:prstGeom prst="rect">
              <a:avLst/>
            </a:prstGeom>
          </p:spPr>
          <p:txBody>
            <a:bodyPr anchor="ctr" rtlCol="false" tIns="0" lIns="0" bIns="0" rIns="0"/>
            <a:lstStyle/>
            <a:p>
              <a:pPr algn="r">
                <a:lnSpc>
                  <a:spcPts val="1980"/>
                </a:lnSpc>
              </a:pPr>
              <a:r>
                <a:rPr lang="en-US" sz="1650">
                  <a:solidFill>
                    <a:srgbClr val="6B6B6B"/>
                  </a:solidFill>
                  <a:latin typeface="Calibri (MS)"/>
                  <a:ea typeface="Calibri (MS)"/>
                  <a:cs typeface="Calibri (MS)"/>
                  <a:sym typeface="Calibri (MS)"/>
                </a:rPr>
                <a:t>06</a:t>
              </a:r>
            </a:p>
          </p:txBody>
        </p:sp>
      </p:grpSp>
      <p:grpSp>
        <p:nvGrpSpPr>
          <p:cNvPr name="Group 12" id="12"/>
          <p:cNvGrpSpPr/>
          <p:nvPr/>
        </p:nvGrpSpPr>
        <p:grpSpPr>
          <a:xfrm rot="0">
            <a:off x="960120" y="1783080"/>
            <a:ext cx="7406640" cy="1714500"/>
            <a:chOff x="0" y="0"/>
            <a:chExt cx="9875520" cy="2286000"/>
          </a:xfrm>
        </p:grpSpPr>
        <p:sp>
          <p:nvSpPr>
            <p:cNvPr name="Freeform 13" id="13"/>
            <p:cNvSpPr/>
            <p:nvPr/>
          </p:nvSpPr>
          <p:spPr>
            <a:xfrm flipH="false" flipV="false" rot="0">
              <a:off x="0" y="0"/>
              <a:ext cx="9875520" cy="2286000"/>
            </a:xfrm>
            <a:custGeom>
              <a:avLst/>
              <a:gdLst/>
              <a:ahLst/>
              <a:cxnLst/>
              <a:rect r="r" b="b" t="t" l="l"/>
              <a:pathLst>
                <a:path h="2286000" w="9875520">
                  <a:moveTo>
                    <a:pt x="0" y="0"/>
                  </a:moveTo>
                  <a:lnTo>
                    <a:pt x="9875520" y="0"/>
                  </a:lnTo>
                  <a:lnTo>
                    <a:pt x="9875520" y="2286000"/>
                  </a:lnTo>
                  <a:lnTo>
                    <a:pt x="0" y="2286000"/>
                  </a:lnTo>
                  <a:close/>
                </a:path>
              </a:pathLst>
            </a:custGeom>
            <a:blipFill>
              <a:blip r:embed="rId3">
                <a:alphaModFix amt="0"/>
              </a:blip>
              <a:stretch>
                <a:fillRect l="0" t="-34175" r="0" b="-34175"/>
              </a:stretch>
            </a:blipFill>
          </p:spPr>
        </p:sp>
        <p:sp>
          <p:nvSpPr>
            <p:cNvPr name="TextBox 14" id="14"/>
            <p:cNvSpPr txBox="true"/>
            <p:nvPr/>
          </p:nvSpPr>
          <p:spPr>
            <a:xfrm>
              <a:off x="0" y="-47625"/>
              <a:ext cx="9875520" cy="2333625"/>
            </a:xfrm>
            <a:prstGeom prst="rect">
              <a:avLst/>
            </a:prstGeom>
          </p:spPr>
          <p:txBody>
            <a:bodyPr anchor="ctr" rtlCol="false" tIns="0" lIns="0" bIns="0" rIns="0"/>
            <a:lstStyle/>
            <a:p>
              <a:pPr algn="l">
                <a:lnSpc>
                  <a:spcPts val="3060"/>
                </a:lnSpc>
              </a:pPr>
              <a:r>
                <a:rPr lang="en-US" sz="2550">
                  <a:solidFill>
                    <a:srgbClr val="2B2B2B"/>
                  </a:solidFill>
                  <a:latin typeface="Calibri (MS)"/>
                  <a:ea typeface="Calibri (MS)"/>
                  <a:cs typeface="Calibri (MS)"/>
                  <a:sym typeface="Calibri (MS)"/>
                </a:rPr>
                <a:t>A digital twin is a virtual representation of a physical environment that can be modelled, observed and evaluated.</a:t>
              </a:r>
            </a:p>
          </p:txBody>
        </p:sp>
      </p:grpSp>
      <p:grpSp>
        <p:nvGrpSpPr>
          <p:cNvPr name="Group 15" id="15"/>
          <p:cNvGrpSpPr/>
          <p:nvPr/>
        </p:nvGrpSpPr>
        <p:grpSpPr>
          <a:xfrm rot="0">
            <a:off x="960120" y="3703320"/>
            <a:ext cx="7406640" cy="2194560"/>
            <a:chOff x="0" y="0"/>
            <a:chExt cx="9875520" cy="2926080"/>
          </a:xfrm>
        </p:grpSpPr>
        <p:sp>
          <p:nvSpPr>
            <p:cNvPr name="Freeform 16" id="16"/>
            <p:cNvSpPr/>
            <p:nvPr/>
          </p:nvSpPr>
          <p:spPr>
            <a:xfrm flipH="false" flipV="false" rot="0">
              <a:off x="0" y="0"/>
              <a:ext cx="9875520" cy="2926080"/>
            </a:xfrm>
            <a:custGeom>
              <a:avLst/>
              <a:gdLst/>
              <a:ahLst/>
              <a:cxnLst/>
              <a:rect r="r" b="b" t="t" l="l"/>
              <a:pathLst>
                <a:path h="2926080" w="9875520">
                  <a:moveTo>
                    <a:pt x="0" y="0"/>
                  </a:moveTo>
                  <a:lnTo>
                    <a:pt x="9875520" y="0"/>
                  </a:lnTo>
                  <a:lnTo>
                    <a:pt x="9875520" y="2926080"/>
                  </a:lnTo>
                  <a:lnTo>
                    <a:pt x="0" y="2926080"/>
                  </a:lnTo>
                  <a:close/>
                </a:path>
              </a:pathLst>
            </a:custGeom>
            <a:blipFill>
              <a:blip r:embed="rId3">
                <a:alphaModFix amt="0"/>
              </a:blip>
              <a:stretch>
                <a:fillRect l="0" t="-15762" r="0" b="-15762"/>
              </a:stretch>
            </a:blipFill>
          </p:spPr>
        </p:sp>
        <p:sp>
          <p:nvSpPr>
            <p:cNvPr name="TextBox 17" id="17"/>
            <p:cNvSpPr txBox="true"/>
            <p:nvPr/>
          </p:nvSpPr>
          <p:spPr>
            <a:xfrm>
              <a:off x="0" y="-47625"/>
              <a:ext cx="9875520" cy="2973705"/>
            </a:xfrm>
            <a:prstGeom prst="rect">
              <a:avLst/>
            </a:prstGeom>
          </p:spPr>
          <p:txBody>
            <a:bodyPr anchor="ctr" rtlCol="false" tIns="0" lIns="0" bIns="0" rIns="0"/>
            <a:lstStyle/>
            <a:p>
              <a:pPr algn="l">
                <a:lnSpc>
                  <a:spcPts val="3060"/>
                </a:lnSpc>
              </a:pPr>
              <a:r>
                <a:rPr lang="en-US" sz="2550">
                  <a:solidFill>
                    <a:srgbClr val="2B2B2B"/>
                  </a:solidFill>
                  <a:latin typeface="Calibri (MS)"/>
                  <a:ea typeface="Calibri (MS)"/>
                  <a:cs typeface="Calibri (MS)"/>
                  <a:sym typeface="Calibri (MS)"/>
                </a:rPr>
                <a:t>Unity will serve as this virtual environment, giving the perception pipeline controlled, repeatable scenes with flexible object placement and less early dependence on hardware.</a:t>
              </a:r>
            </a:p>
          </p:txBody>
        </p:sp>
      </p:grpSp>
      <p:grpSp>
        <p:nvGrpSpPr>
          <p:cNvPr name="Group 18" id="18"/>
          <p:cNvGrpSpPr/>
          <p:nvPr/>
        </p:nvGrpSpPr>
        <p:grpSpPr>
          <a:xfrm rot="0">
            <a:off x="8905875" y="1704975"/>
            <a:ext cx="8454390" cy="5985510"/>
            <a:chOff x="0" y="0"/>
            <a:chExt cx="11272520" cy="7980680"/>
          </a:xfrm>
        </p:grpSpPr>
        <p:sp>
          <p:nvSpPr>
            <p:cNvPr name="Freeform 19" id="19"/>
            <p:cNvSpPr/>
            <p:nvPr/>
          </p:nvSpPr>
          <p:spPr>
            <a:xfrm flipH="false" flipV="false" rot="0">
              <a:off x="0" y="0"/>
              <a:ext cx="11272520" cy="7980680"/>
            </a:xfrm>
            <a:custGeom>
              <a:avLst/>
              <a:gdLst/>
              <a:ahLst/>
              <a:cxnLst/>
              <a:rect r="r" b="b" t="t" l="l"/>
              <a:pathLst>
                <a:path h="7980680" w="11272520">
                  <a:moveTo>
                    <a:pt x="0" y="128397"/>
                  </a:moveTo>
                  <a:cubicBezTo>
                    <a:pt x="0" y="57531"/>
                    <a:pt x="57531" y="0"/>
                    <a:pt x="128397" y="0"/>
                  </a:cubicBezTo>
                  <a:lnTo>
                    <a:pt x="11144123" y="0"/>
                  </a:lnTo>
                  <a:cubicBezTo>
                    <a:pt x="11214989" y="0"/>
                    <a:pt x="11272520" y="57531"/>
                    <a:pt x="11272520" y="128397"/>
                  </a:cubicBezTo>
                  <a:lnTo>
                    <a:pt x="11272520" y="7852283"/>
                  </a:lnTo>
                  <a:cubicBezTo>
                    <a:pt x="11272520" y="7923149"/>
                    <a:pt x="11214989" y="7980680"/>
                    <a:pt x="11144123" y="7980680"/>
                  </a:cubicBezTo>
                  <a:lnTo>
                    <a:pt x="128397" y="7980680"/>
                  </a:lnTo>
                  <a:cubicBezTo>
                    <a:pt x="57531" y="7980680"/>
                    <a:pt x="0" y="7923149"/>
                    <a:pt x="0" y="7852283"/>
                  </a:cubicBezTo>
                  <a:close/>
                </a:path>
              </a:pathLst>
            </a:custGeom>
            <a:solidFill>
              <a:srgbClr val="E9E9E9"/>
            </a:solidFill>
            <a:ln w="19050" cap="sq">
              <a:solidFill>
                <a:srgbClr val="DCDCDC"/>
              </a:solidFill>
              <a:prstDash val="solid"/>
              <a:miter/>
            </a:ln>
          </p:spPr>
        </p:sp>
      </p:grpSp>
      <p:grpSp>
        <p:nvGrpSpPr>
          <p:cNvPr name="Group 20" id="20"/>
          <p:cNvGrpSpPr/>
          <p:nvPr/>
        </p:nvGrpSpPr>
        <p:grpSpPr>
          <a:xfrm rot="-10800000">
            <a:off x="9660255" y="2253615"/>
            <a:ext cx="6945630" cy="3928110"/>
            <a:chOff x="0" y="0"/>
            <a:chExt cx="9260840" cy="5237480"/>
          </a:xfrm>
        </p:grpSpPr>
        <p:sp>
          <p:nvSpPr>
            <p:cNvPr name="Freeform 21" id="21"/>
            <p:cNvSpPr/>
            <p:nvPr/>
          </p:nvSpPr>
          <p:spPr>
            <a:xfrm flipH="false" flipV="false" rot="0">
              <a:off x="0" y="0"/>
              <a:ext cx="9260840" cy="5237480"/>
            </a:xfrm>
            <a:custGeom>
              <a:avLst/>
              <a:gdLst/>
              <a:ahLst/>
              <a:cxnLst/>
              <a:rect r="r" b="b" t="t" l="l"/>
              <a:pathLst>
                <a:path h="5237480" w="9260840">
                  <a:moveTo>
                    <a:pt x="0" y="5237480"/>
                  </a:moveTo>
                  <a:lnTo>
                    <a:pt x="4630420" y="0"/>
                  </a:lnTo>
                  <a:lnTo>
                    <a:pt x="9260840" y="5237480"/>
                  </a:lnTo>
                  <a:close/>
                </a:path>
              </a:pathLst>
            </a:custGeom>
            <a:solidFill>
              <a:srgbClr val="FF8A80">
                <a:alpha val="3922"/>
              </a:srgbClr>
            </a:solidFill>
            <a:ln w="19050" cap="sq">
              <a:solidFill>
                <a:srgbClr val="333333"/>
              </a:solidFill>
              <a:prstDash val="solid"/>
              <a:miter/>
            </a:ln>
          </p:spPr>
        </p:sp>
      </p:grpSp>
      <p:grpSp>
        <p:nvGrpSpPr>
          <p:cNvPr name="Group 22" id="22"/>
          <p:cNvGrpSpPr/>
          <p:nvPr/>
        </p:nvGrpSpPr>
        <p:grpSpPr>
          <a:xfrm rot="0">
            <a:off x="14598015" y="2459355"/>
            <a:ext cx="1939290" cy="1184910"/>
            <a:chOff x="0" y="0"/>
            <a:chExt cx="2585720" cy="1579880"/>
          </a:xfrm>
        </p:grpSpPr>
        <p:sp>
          <p:nvSpPr>
            <p:cNvPr name="Freeform 23" id="23"/>
            <p:cNvSpPr/>
            <p:nvPr/>
          </p:nvSpPr>
          <p:spPr>
            <a:xfrm flipH="false" flipV="false" rot="0">
              <a:off x="0" y="0"/>
              <a:ext cx="2585720" cy="1579880"/>
            </a:xfrm>
            <a:custGeom>
              <a:avLst/>
              <a:gdLst/>
              <a:ahLst/>
              <a:cxnLst/>
              <a:rect r="r" b="b" t="t" l="l"/>
              <a:pathLst>
                <a:path h="1579880" w="2585720">
                  <a:moveTo>
                    <a:pt x="0" y="74295"/>
                  </a:moveTo>
                  <a:cubicBezTo>
                    <a:pt x="0" y="33274"/>
                    <a:pt x="33274" y="0"/>
                    <a:pt x="74295" y="0"/>
                  </a:cubicBezTo>
                  <a:lnTo>
                    <a:pt x="2511425" y="0"/>
                  </a:lnTo>
                  <a:cubicBezTo>
                    <a:pt x="2552446" y="0"/>
                    <a:pt x="2585720" y="33274"/>
                    <a:pt x="2585720" y="74295"/>
                  </a:cubicBezTo>
                  <a:lnTo>
                    <a:pt x="2585720" y="1505585"/>
                  </a:lnTo>
                  <a:cubicBezTo>
                    <a:pt x="2585720" y="1546606"/>
                    <a:pt x="2552446" y="1579880"/>
                    <a:pt x="2511425" y="1579880"/>
                  </a:cubicBezTo>
                  <a:lnTo>
                    <a:pt x="74295" y="1579880"/>
                  </a:lnTo>
                  <a:cubicBezTo>
                    <a:pt x="33274" y="1579880"/>
                    <a:pt x="0" y="1546606"/>
                    <a:pt x="0" y="1505585"/>
                  </a:cubicBezTo>
                  <a:close/>
                </a:path>
              </a:pathLst>
            </a:custGeom>
            <a:solidFill>
              <a:srgbClr val="B9B9B9"/>
            </a:solidFill>
            <a:ln w="19050" cap="sq">
              <a:solidFill>
                <a:srgbClr val="333333"/>
              </a:solidFill>
              <a:prstDash val="solid"/>
              <a:miter/>
            </a:ln>
          </p:spPr>
        </p:sp>
      </p:grpSp>
      <p:grpSp>
        <p:nvGrpSpPr>
          <p:cNvPr name="Group 24" id="24"/>
          <p:cNvGrpSpPr/>
          <p:nvPr/>
        </p:nvGrpSpPr>
        <p:grpSpPr>
          <a:xfrm rot="0">
            <a:off x="14607540" y="3703320"/>
            <a:ext cx="1920240" cy="342900"/>
            <a:chOff x="0" y="0"/>
            <a:chExt cx="2560320" cy="457200"/>
          </a:xfrm>
        </p:grpSpPr>
        <p:sp>
          <p:nvSpPr>
            <p:cNvPr name="Freeform 25" id="25"/>
            <p:cNvSpPr/>
            <p:nvPr/>
          </p:nvSpPr>
          <p:spPr>
            <a:xfrm flipH="false" flipV="false" rot="0">
              <a:off x="0" y="0"/>
              <a:ext cx="2560320" cy="457200"/>
            </a:xfrm>
            <a:custGeom>
              <a:avLst/>
              <a:gdLst/>
              <a:ahLst/>
              <a:cxnLst/>
              <a:rect r="r" b="b" t="t" l="l"/>
              <a:pathLst>
                <a:path h="457200" w="2560320">
                  <a:moveTo>
                    <a:pt x="0" y="0"/>
                  </a:moveTo>
                  <a:lnTo>
                    <a:pt x="2560320" y="0"/>
                  </a:lnTo>
                  <a:lnTo>
                    <a:pt x="2560320" y="457200"/>
                  </a:lnTo>
                  <a:lnTo>
                    <a:pt x="0" y="457200"/>
                  </a:lnTo>
                  <a:close/>
                </a:path>
              </a:pathLst>
            </a:custGeom>
            <a:blipFill>
              <a:blip r:embed="rId3">
                <a:alphaModFix amt="0"/>
              </a:blip>
              <a:stretch>
                <a:fillRect l="0" t="-59116" r="0" b="-59116"/>
              </a:stretch>
            </a:blipFill>
          </p:spPr>
        </p:sp>
        <p:sp>
          <p:nvSpPr>
            <p:cNvPr name="TextBox 26" id="26"/>
            <p:cNvSpPr txBox="true"/>
            <p:nvPr/>
          </p:nvSpPr>
          <p:spPr>
            <a:xfrm>
              <a:off x="0" y="-28575"/>
              <a:ext cx="2560320" cy="485775"/>
            </a:xfrm>
            <a:prstGeom prst="rect">
              <a:avLst/>
            </a:prstGeom>
          </p:spPr>
          <p:txBody>
            <a:bodyPr anchor="ctr" rtlCol="false" tIns="0" lIns="0" bIns="0" rIns="0"/>
            <a:lstStyle/>
            <a:p>
              <a:pPr algn="ctr">
                <a:lnSpc>
                  <a:spcPts val="1980"/>
                </a:lnSpc>
              </a:pPr>
              <a:r>
                <a:rPr lang="en-US" sz="1650">
                  <a:solidFill>
                    <a:srgbClr val="6B6B6B"/>
                  </a:solidFill>
                  <a:latin typeface="Calibri (MS)"/>
                  <a:ea typeface="Calibri (MS)"/>
                  <a:cs typeface="Calibri (MS)"/>
                  <a:sym typeface="Calibri (MS)"/>
                </a:rPr>
                <a:t>Structure</a:t>
              </a:r>
            </a:p>
          </p:txBody>
        </p:sp>
      </p:grpSp>
      <p:grpSp>
        <p:nvGrpSpPr>
          <p:cNvPr name="Group 27" id="27"/>
          <p:cNvGrpSpPr/>
          <p:nvPr/>
        </p:nvGrpSpPr>
        <p:grpSpPr>
          <a:xfrm rot="0">
            <a:off x="12403455" y="3556635"/>
            <a:ext cx="1459230" cy="910590"/>
            <a:chOff x="0" y="0"/>
            <a:chExt cx="1945640" cy="1214120"/>
          </a:xfrm>
        </p:grpSpPr>
        <p:sp>
          <p:nvSpPr>
            <p:cNvPr name="Freeform 28" id="28"/>
            <p:cNvSpPr/>
            <p:nvPr/>
          </p:nvSpPr>
          <p:spPr>
            <a:xfrm flipH="false" flipV="false" rot="0">
              <a:off x="0" y="0"/>
              <a:ext cx="1945640" cy="1214120"/>
            </a:xfrm>
            <a:custGeom>
              <a:avLst/>
              <a:gdLst/>
              <a:ahLst/>
              <a:cxnLst/>
              <a:rect r="r" b="b" t="t" l="l"/>
              <a:pathLst>
                <a:path h="1214120" w="1945640">
                  <a:moveTo>
                    <a:pt x="0" y="74676"/>
                  </a:moveTo>
                  <a:cubicBezTo>
                    <a:pt x="0" y="33401"/>
                    <a:pt x="33401" y="0"/>
                    <a:pt x="74676" y="0"/>
                  </a:cubicBezTo>
                  <a:lnTo>
                    <a:pt x="1870964" y="0"/>
                  </a:lnTo>
                  <a:cubicBezTo>
                    <a:pt x="1912239" y="0"/>
                    <a:pt x="1945640" y="33401"/>
                    <a:pt x="1945640" y="74676"/>
                  </a:cubicBezTo>
                  <a:lnTo>
                    <a:pt x="1945640" y="1139444"/>
                  </a:lnTo>
                  <a:cubicBezTo>
                    <a:pt x="1945640" y="1180719"/>
                    <a:pt x="1912239" y="1214120"/>
                    <a:pt x="1870964" y="1214120"/>
                  </a:cubicBezTo>
                  <a:lnTo>
                    <a:pt x="74676" y="1214120"/>
                  </a:lnTo>
                  <a:cubicBezTo>
                    <a:pt x="33401" y="1214120"/>
                    <a:pt x="0" y="1180719"/>
                    <a:pt x="0" y="1139444"/>
                  </a:cubicBezTo>
                  <a:close/>
                </a:path>
              </a:pathLst>
            </a:custGeom>
            <a:solidFill>
              <a:srgbClr val="2B2B2B"/>
            </a:solidFill>
            <a:ln w="19050" cap="sq">
              <a:solidFill>
                <a:srgbClr val="333333"/>
              </a:solidFill>
              <a:prstDash val="solid"/>
              <a:miter/>
            </a:ln>
          </p:spPr>
        </p:sp>
      </p:grpSp>
      <p:grpSp>
        <p:nvGrpSpPr>
          <p:cNvPr name="Group 29" id="29"/>
          <p:cNvGrpSpPr/>
          <p:nvPr/>
        </p:nvGrpSpPr>
        <p:grpSpPr>
          <a:xfrm rot="0">
            <a:off x="14058900" y="3813048"/>
            <a:ext cx="1783080" cy="411480"/>
            <a:chOff x="0" y="0"/>
            <a:chExt cx="2377440" cy="548640"/>
          </a:xfrm>
        </p:grpSpPr>
        <p:sp>
          <p:nvSpPr>
            <p:cNvPr name="Freeform 30" id="30"/>
            <p:cNvSpPr/>
            <p:nvPr/>
          </p:nvSpPr>
          <p:spPr>
            <a:xfrm flipH="false" flipV="false" rot="0">
              <a:off x="0" y="0"/>
              <a:ext cx="2377440" cy="548640"/>
            </a:xfrm>
            <a:custGeom>
              <a:avLst/>
              <a:gdLst/>
              <a:ahLst/>
              <a:cxnLst/>
              <a:rect r="r" b="b" t="t" l="l"/>
              <a:pathLst>
                <a:path h="548640" w="2377440">
                  <a:moveTo>
                    <a:pt x="0" y="0"/>
                  </a:moveTo>
                  <a:lnTo>
                    <a:pt x="2377440" y="0"/>
                  </a:lnTo>
                  <a:lnTo>
                    <a:pt x="2377440" y="548640"/>
                  </a:lnTo>
                  <a:lnTo>
                    <a:pt x="0" y="548640"/>
                  </a:lnTo>
                  <a:close/>
                </a:path>
              </a:pathLst>
            </a:custGeom>
            <a:blipFill>
              <a:blip r:embed="rId3">
                <a:alphaModFix amt="0"/>
              </a:blip>
              <a:stretch>
                <a:fillRect l="0" t="-34435" r="0" b="-34435"/>
              </a:stretch>
            </a:blipFill>
          </p:spPr>
        </p:sp>
        <p:sp>
          <p:nvSpPr>
            <p:cNvPr name="TextBox 31" id="31"/>
            <p:cNvSpPr txBox="true"/>
            <p:nvPr/>
          </p:nvSpPr>
          <p:spPr>
            <a:xfrm>
              <a:off x="0" y="-47625"/>
              <a:ext cx="2377440" cy="596265"/>
            </a:xfrm>
            <a:prstGeom prst="rect">
              <a:avLst/>
            </a:prstGeom>
          </p:spPr>
          <p:txBody>
            <a:bodyPr anchor="ctr" rtlCol="false" tIns="0" lIns="0" bIns="0" rIns="0"/>
            <a:lstStyle/>
            <a:p>
              <a:pPr algn="l">
                <a:lnSpc>
                  <a:spcPts val="2340"/>
                </a:lnSpc>
              </a:pPr>
              <a:r>
                <a:rPr lang="en-US" sz="1950">
                  <a:solidFill>
                    <a:srgbClr val="2B2B2B"/>
                  </a:solidFill>
                  <a:latin typeface="Calibri (MS)"/>
                  <a:ea typeface="Calibri (MS)"/>
                  <a:cs typeface="Calibri (MS)"/>
                  <a:sym typeface="Calibri (MS)"/>
                </a:rPr>
                <a:t>Obstacle</a:t>
              </a:r>
            </a:p>
          </p:txBody>
        </p:sp>
      </p:grpSp>
      <p:grpSp>
        <p:nvGrpSpPr>
          <p:cNvPr name="Group 32" id="32"/>
          <p:cNvGrpSpPr/>
          <p:nvPr/>
        </p:nvGrpSpPr>
        <p:grpSpPr>
          <a:xfrm rot="0">
            <a:off x="12849225" y="6025515"/>
            <a:ext cx="567690" cy="499110"/>
            <a:chOff x="0" y="0"/>
            <a:chExt cx="756920" cy="665480"/>
          </a:xfrm>
        </p:grpSpPr>
        <p:sp>
          <p:nvSpPr>
            <p:cNvPr name="Freeform 33" id="33"/>
            <p:cNvSpPr/>
            <p:nvPr/>
          </p:nvSpPr>
          <p:spPr>
            <a:xfrm flipH="false" flipV="false" rot="0">
              <a:off x="0" y="0"/>
              <a:ext cx="756920" cy="665480"/>
            </a:xfrm>
            <a:custGeom>
              <a:avLst/>
              <a:gdLst/>
              <a:ahLst/>
              <a:cxnLst/>
              <a:rect r="r" b="b" t="t" l="l"/>
              <a:pathLst>
                <a:path h="665480" w="756920">
                  <a:moveTo>
                    <a:pt x="0" y="665480"/>
                  </a:moveTo>
                  <a:lnTo>
                    <a:pt x="378460" y="0"/>
                  </a:lnTo>
                  <a:lnTo>
                    <a:pt x="756920" y="665480"/>
                  </a:lnTo>
                  <a:close/>
                </a:path>
              </a:pathLst>
            </a:custGeom>
            <a:solidFill>
              <a:srgbClr val="FF8A80"/>
            </a:solidFill>
            <a:ln w="19050" cap="sq">
              <a:solidFill>
                <a:srgbClr val="333333"/>
              </a:solidFill>
              <a:prstDash val="solid"/>
              <a:miter/>
            </a:ln>
          </p:spPr>
        </p:sp>
      </p:grpSp>
      <p:grpSp>
        <p:nvGrpSpPr>
          <p:cNvPr name="Group 34" id="34"/>
          <p:cNvGrpSpPr/>
          <p:nvPr/>
        </p:nvGrpSpPr>
        <p:grpSpPr>
          <a:xfrm rot="0">
            <a:off x="9326880" y="6583680"/>
            <a:ext cx="2331720" cy="342900"/>
            <a:chOff x="0" y="0"/>
            <a:chExt cx="3108960" cy="457200"/>
          </a:xfrm>
        </p:grpSpPr>
        <p:sp>
          <p:nvSpPr>
            <p:cNvPr name="Freeform 35" id="35"/>
            <p:cNvSpPr/>
            <p:nvPr/>
          </p:nvSpPr>
          <p:spPr>
            <a:xfrm flipH="false" flipV="false" rot="0">
              <a:off x="0" y="0"/>
              <a:ext cx="3108960" cy="457200"/>
            </a:xfrm>
            <a:custGeom>
              <a:avLst/>
              <a:gdLst/>
              <a:ahLst/>
              <a:cxnLst/>
              <a:rect r="r" b="b" t="t" l="l"/>
              <a:pathLst>
                <a:path h="457200" w="3108960">
                  <a:moveTo>
                    <a:pt x="0" y="0"/>
                  </a:moveTo>
                  <a:lnTo>
                    <a:pt x="3108960" y="0"/>
                  </a:lnTo>
                  <a:lnTo>
                    <a:pt x="3108960" y="457200"/>
                  </a:lnTo>
                  <a:lnTo>
                    <a:pt x="0" y="457200"/>
                  </a:lnTo>
                  <a:close/>
                </a:path>
              </a:pathLst>
            </a:custGeom>
            <a:blipFill>
              <a:blip r:embed="rId3">
                <a:alphaModFix amt="0"/>
              </a:blip>
              <a:stretch>
                <a:fillRect l="0" t="-82498" r="0" b="-82498"/>
              </a:stretch>
            </a:blipFill>
          </p:spPr>
        </p:sp>
        <p:sp>
          <p:nvSpPr>
            <p:cNvPr name="TextBox 36" id="36"/>
            <p:cNvSpPr txBox="true"/>
            <p:nvPr/>
          </p:nvSpPr>
          <p:spPr>
            <a:xfrm>
              <a:off x="0" y="-28575"/>
              <a:ext cx="3108960" cy="485775"/>
            </a:xfrm>
            <a:prstGeom prst="rect">
              <a:avLst/>
            </a:prstGeom>
          </p:spPr>
          <p:txBody>
            <a:bodyPr anchor="ctr" rtlCol="false" tIns="0" lIns="0" bIns="0" rIns="0"/>
            <a:lstStyle/>
            <a:p>
              <a:pPr algn="l">
                <a:lnSpc>
                  <a:spcPts val="1980"/>
                </a:lnSpc>
              </a:pPr>
              <a:r>
                <a:rPr lang="en-US" sz="1650">
                  <a:solidFill>
                    <a:srgbClr val="6B6B6B"/>
                  </a:solidFill>
                  <a:latin typeface="Calibri (MS)"/>
                  <a:ea typeface="Calibri (MS)"/>
                  <a:cs typeface="Calibri (MS)"/>
                  <a:sym typeface="Calibri (MS)"/>
                </a:rPr>
                <a:t>Virtual camera</a:t>
              </a:r>
            </a:p>
          </p:txBody>
        </p:sp>
      </p:grpSp>
      <p:grpSp>
        <p:nvGrpSpPr>
          <p:cNvPr name="Group 37" id="37"/>
          <p:cNvGrpSpPr/>
          <p:nvPr/>
        </p:nvGrpSpPr>
        <p:grpSpPr>
          <a:xfrm rot="0">
            <a:off x="13107086" y="4489323"/>
            <a:ext cx="51968" cy="115062"/>
            <a:chOff x="0" y="0"/>
            <a:chExt cx="69291" cy="153416"/>
          </a:xfrm>
        </p:grpSpPr>
        <p:sp>
          <p:nvSpPr>
            <p:cNvPr name="Freeform 38" id="38"/>
            <p:cNvSpPr/>
            <p:nvPr/>
          </p:nvSpPr>
          <p:spPr>
            <a:xfrm flipH="false" flipV="false" rot="0">
              <a:off x="0" y="0"/>
              <a:ext cx="69342" cy="153416"/>
            </a:xfrm>
            <a:custGeom>
              <a:avLst/>
              <a:gdLst/>
              <a:ahLst/>
              <a:cxnLst/>
              <a:rect r="r" b="b" t="t" l="l"/>
              <a:pathLst>
                <a:path h="153416" w="69342">
                  <a:moveTo>
                    <a:pt x="0" y="0"/>
                  </a:moveTo>
                  <a:lnTo>
                    <a:pt x="69342" y="0"/>
                  </a:lnTo>
                  <a:lnTo>
                    <a:pt x="69342" y="153416"/>
                  </a:lnTo>
                  <a:lnTo>
                    <a:pt x="0" y="153416"/>
                  </a:lnTo>
                  <a:close/>
                </a:path>
              </a:pathLst>
            </a:custGeom>
            <a:solidFill>
              <a:srgbClr val="2B2B2B"/>
            </a:solidFill>
            <a:ln w="19050" cap="sq">
              <a:solidFill>
                <a:srgbClr val="333333"/>
              </a:solidFill>
              <a:prstDash val="solid"/>
              <a:miter/>
            </a:ln>
          </p:spPr>
        </p:sp>
      </p:grpSp>
      <p:grpSp>
        <p:nvGrpSpPr>
          <p:cNvPr name="Group 39" id="39"/>
          <p:cNvGrpSpPr/>
          <p:nvPr/>
        </p:nvGrpSpPr>
        <p:grpSpPr>
          <a:xfrm rot="0">
            <a:off x="13107086" y="4653915"/>
            <a:ext cx="51968" cy="115062"/>
            <a:chOff x="0" y="0"/>
            <a:chExt cx="69291" cy="153416"/>
          </a:xfrm>
        </p:grpSpPr>
        <p:sp>
          <p:nvSpPr>
            <p:cNvPr name="Freeform 40" id="40"/>
            <p:cNvSpPr/>
            <p:nvPr/>
          </p:nvSpPr>
          <p:spPr>
            <a:xfrm flipH="false" flipV="false" rot="0">
              <a:off x="0" y="0"/>
              <a:ext cx="69342" cy="153416"/>
            </a:xfrm>
            <a:custGeom>
              <a:avLst/>
              <a:gdLst/>
              <a:ahLst/>
              <a:cxnLst/>
              <a:rect r="r" b="b" t="t" l="l"/>
              <a:pathLst>
                <a:path h="153416" w="69342">
                  <a:moveTo>
                    <a:pt x="0" y="0"/>
                  </a:moveTo>
                  <a:lnTo>
                    <a:pt x="69342" y="0"/>
                  </a:lnTo>
                  <a:lnTo>
                    <a:pt x="69342" y="153416"/>
                  </a:lnTo>
                  <a:lnTo>
                    <a:pt x="0" y="153416"/>
                  </a:lnTo>
                  <a:close/>
                </a:path>
              </a:pathLst>
            </a:custGeom>
            <a:solidFill>
              <a:srgbClr val="2B2B2B"/>
            </a:solidFill>
            <a:ln w="19050" cap="sq">
              <a:solidFill>
                <a:srgbClr val="333333"/>
              </a:solidFill>
              <a:prstDash val="solid"/>
              <a:miter/>
            </a:ln>
          </p:spPr>
        </p:sp>
      </p:grpSp>
      <p:grpSp>
        <p:nvGrpSpPr>
          <p:cNvPr name="Group 41" id="41"/>
          <p:cNvGrpSpPr/>
          <p:nvPr/>
        </p:nvGrpSpPr>
        <p:grpSpPr>
          <a:xfrm rot="0">
            <a:off x="13107086" y="4818507"/>
            <a:ext cx="51968" cy="115062"/>
            <a:chOff x="0" y="0"/>
            <a:chExt cx="69291" cy="153416"/>
          </a:xfrm>
        </p:grpSpPr>
        <p:sp>
          <p:nvSpPr>
            <p:cNvPr name="Freeform 42" id="42"/>
            <p:cNvSpPr/>
            <p:nvPr/>
          </p:nvSpPr>
          <p:spPr>
            <a:xfrm flipH="false" flipV="false" rot="0">
              <a:off x="0" y="0"/>
              <a:ext cx="69342" cy="153416"/>
            </a:xfrm>
            <a:custGeom>
              <a:avLst/>
              <a:gdLst/>
              <a:ahLst/>
              <a:cxnLst/>
              <a:rect r="r" b="b" t="t" l="l"/>
              <a:pathLst>
                <a:path h="153416" w="69342">
                  <a:moveTo>
                    <a:pt x="0" y="0"/>
                  </a:moveTo>
                  <a:lnTo>
                    <a:pt x="69342" y="0"/>
                  </a:lnTo>
                  <a:lnTo>
                    <a:pt x="69342" y="153416"/>
                  </a:lnTo>
                  <a:lnTo>
                    <a:pt x="0" y="153416"/>
                  </a:lnTo>
                  <a:close/>
                </a:path>
              </a:pathLst>
            </a:custGeom>
            <a:solidFill>
              <a:srgbClr val="2B2B2B"/>
            </a:solidFill>
            <a:ln w="19050" cap="sq">
              <a:solidFill>
                <a:srgbClr val="333333"/>
              </a:solidFill>
              <a:prstDash val="solid"/>
              <a:miter/>
            </a:ln>
          </p:spPr>
        </p:sp>
      </p:grpSp>
      <p:grpSp>
        <p:nvGrpSpPr>
          <p:cNvPr name="Group 43" id="43"/>
          <p:cNvGrpSpPr/>
          <p:nvPr/>
        </p:nvGrpSpPr>
        <p:grpSpPr>
          <a:xfrm rot="0">
            <a:off x="13107086" y="4983099"/>
            <a:ext cx="51968" cy="115062"/>
            <a:chOff x="0" y="0"/>
            <a:chExt cx="69291" cy="153416"/>
          </a:xfrm>
        </p:grpSpPr>
        <p:sp>
          <p:nvSpPr>
            <p:cNvPr name="Freeform 44" id="44"/>
            <p:cNvSpPr/>
            <p:nvPr/>
          </p:nvSpPr>
          <p:spPr>
            <a:xfrm flipH="false" flipV="false" rot="0">
              <a:off x="0" y="0"/>
              <a:ext cx="69342" cy="153416"/>
            </a:xfrm>
            <a:custGeom>
              <a:avLst/>
              <a:gdLst/>
              <a:ahLst/>
              <a:cxnLst/>
              <a:rect r="r" b="b" t="t" l="l"/>
              <a:pathLst>
                <a:path h="153416" w="69342">
                  <a:moveTo>
                    <a:pt x="0" y="0"/>
                  </a:moveTo>
                  <a:lnTo>
                    <a:pt x="69342" y="0"/>
                  </a:lnTo>
                  <a:lnTo>
                    <a:pt x="69342" y="153416"/>
                  </a:lnTo>
                  <a:lnTo>
                    <a:pt x="0" y="153416"/>
                  </a:lnTo>
                  <a:close/>
                </a:path>
              </a:pathLst>
            </a:custGeom>
            <a:solidFill>
              <a:srgbClr val="2B2B2B"/>
            </a:solidFill>
            <a:ln w="19050" cap="sq">
              <a:solidFill>
                <a:srgbClr val="333333"/>
              </a:solidFill>
              <a:prstDash val="solid"/>
              <a:miter/>
            </a:ln>
          </p:spPr>
        </p:sp>
      </p:grpSp>
      <p:grpSp>
        <p:nvGrpSpPr>
          <p:cNvPr name="Group 45" id="45"/>
          <p:cNvGrpSpPr/>
          <p:nvPr/>
        </p:nvGrpSpPr>
        <p:grpSpPr>
          <a:xfrm rot="0">
            <a:off x="13107086" y="5147691"/>
            <a:ext cx="51968" cy="115062"/>
            <a:chOff x="0" y="0"/>
            <a:chExt cx="69291" cy="153416"/>
          </a:xfrm>
        </p:grpSpPr>
        <p:sp>
          <p:nvSpPr>
            <p:cNvPr name="Freeform 46" id="46"/>
            <p:cNvSpPr/>
            <p:nvPr/>
          </p:nvSpPr>
          <p:spPr>
            <a:xfrm flipH="false" flipV="false" rot="0">
              <a:off x="0" y="0"/>
              <a:ext cx="69342" cy="153416"/>
            </a:xfrm>
            <a:custGeom>
              <a:avLst/>
              <a:gdLst/>
              <a:ahLst/>
              <a:cxnLst/>
              <a:rect r="r" b="b" t="t" l="l"/>
              <a:pathLst>
                <a:path h="153416" w="69342">
                  <a:moveTo>
                    <a:pt x="0" y="0"/>
                  </a:moveTo>
                  <a:lnTo>
                    <a:pt x="69342" y="0"/>
                  </a:lnTo>
                  <a:lnTo>
                    <a:pt x="69342" y="153416"/>
                  </a:lnTo>
                  <a:lnTo>
                    <a:pt x="0" y="153416"/>
                  </a:lnTo>
                  <a:close/>
                </a:path>
              </a:pathLst>
            </a:custGeom>
            <a:solidFill>
              <a:srgbClr val="2B2B2B"/>
            </a:solidFill>
            <a:ln w="19050" cap="sq">
              <a:solidFill>
                <a:srgbClr val="333333"/>
              </a:solidFill>
              <a:prstDash val="solid"/>
              <a:miter/>
            </a:ln>
          </p:spPr>
        </p:sp>
      </p:grpSp>
      <p:grpSp>
        <p:nvGrpSpPr>
          <p:cNvPr name="Group 47" id="47"/>
          <p:cNvGrpSpPr/>
          <p:nvPr/>
        </p:nvGrpSpPr>
        <p:grpSpPr>
          <a:xfrm rot="0">
            <a:off x="13107086" y="5312283"/>
            <a:ext cx="51968" cy="115062"/>
            <a:chOff x="0" y="0"/>
            <a:chExt cx="69291" cy="153416"/>
          </a:xfrm>
        </p:grpSpPr>
        <p:sp>
          <p:nvSpPr>
            <p:cNvPr name="Freeform 48" id="48"/>
            <p:cNvSpPr/>
            <p:nvPr/>
          </p:nvSpPr>
          <p:spPr>
            <a:xfrm flipH="false" flipV="false" rot="0">
              <a:off x="0" y="0"/>
              <a:ext cx="69342" cy="153416"/>
            </a:xfrm>
            <a:custGeom>
              <a:avLst/>
              <a:gdLst/>
              <a:ahLst/>
              <a:cxnLst/>
              <a:rect r="r" b="b" t="t" l="l"/>
              <a:pathLst>
                <a:path h="153416" w="69342">
                  <a:moveTo>
                    <a:pt x="0" y="0"/>
                  </a:moveTo>
                  <a:lnTo>
                    <a:pt x="69342" y="0"/>
                  </a:lnTo>
                  <a:lnTo>
                    <a:pt x="69342" y="153416"/>
                  </a:lnTo>
                  <a:lnTo>
                    <a:pt x="0" y="153416"/>
                  </a:lnTo>
                  <a:close/>
                </a:path>
              </a:pathLst>
            </a:custGeom>
            <a:solidFill>
              <a:srgbClr val="2B2B2B"/>
            </a:solidFill>
            <a:ln w="19050" cap="sq">
              <a:solidFill>
                <a:srgbClr val="333333"/>
              </a:solidFill>
              <a:prstDash val="solid"/>
              <a:miter/>
            </a:ln>
          </p:spPr>
        </p:sp>
      </p:grpSp>
      <p:grpSp>
        <p:nvGrpSpPr>
          <p:cNvPr name="Group 49" id="49"/>
          <p:cNvGrpSpPr/>
          <p:nvPr/>
        </p:nvGrpSpPr>
        <p:grpSpPr>
          <a:xfrm rot="0">
            <a:off x="13107086" y="5476875"/>
            <a:ext cx="51968" cy="115062"/>
            <a:chOff x="0" y="0"/>
            <a:chExt cx="69291" cy="153416"/>
          </a:xfrm>
        </p:grpSpPr>
        <p:sp>
          <p:nvSpPr>
            <p:cNvPr name="Freeform 50" id="50"/>
            <p:cNvSpPr/>
            <p:nvPr/>
          </p:nvSpPr>
          <p:spPr>
            <a:xfrm flipH="false" flipV="false" rot="0">
              <a:off x="0" y="0"/>
              <a:ext cx="69342" cy="153416"/>
            </a:xfrm>
            <a:custGeom>
              <a:avLst/>
              <a:gdLst/>
              <a:ahLst/>
              <a:cxnLst/>
              <a:rect r="r" b="b" t="t" l="l"/>
              <a:pathLst>
                <a:path h="153416" w="69342">
                  <a:moveTo>
                    <a:pt x="0" y="0"/>
                  </a:moveTo>
                  <a:lnTo>
                    <a:pt x="69342" y="0"/>
                  </a:lnTo>
                  <a:lnTo>
                    <a:pt x="69342" y="153416"/>
                  </a:lnTo>
                  <a:lnTo>
                    <a:pt x="0" y="153416"/>
                  </a:lnTo>
                  <a:close/>
                </a:path>
              </a:pathLst>
            </a:custGeom>
            <a:solidFill>
              <a:srgbClr val="2B2B2B"/>
            </a:solidFill>
            <a:ln w="19050" cap="sq">
              <a:solidFill>
                <a:srgbClr val="333333"/>
              </a:solidFill>
              <a:prstDash val="solid"/>
              <a:miter/>
            </a:ln>
          </p:spPr>
        </p:sp>
      </p:grpSp>
      <p:grpSp>
        <p:nvGrpSpPr>
          <p:cNvPr name="Group 51" id="51"/>
          <p:cNvGrpSpPr/>
          <p:nvPr/>
        </p:nvGrpSpPr>
        <p:grpSpPr>
          <a:xfrm rot="0">
            <a:off x="13107086" y="5641467"/>
            <a:ext cx="51968" cy="115062"/>
            <a:chOff x="0" y="0"/>
            <a:chExt cx="69291" cy="153416"/>
          </a:xfrm>
        </p:grpSpPr>
        <p:sp>
          <p:nvSpPr>
            <p:cNvPr name="Freeform 52" id="52"/>
            <p:cNvSpPr/>
            <p:nvPr/>
          </p:nvSpPr>
          <p:spPr>
            <a:xfrm flipH="false" flipV="false" rot="0">
              <a:off x="0" y="0"/>
              <a:ext cx="69342" cy="153416"/>
            </a:xfrm>
            <a:custGeom>
              <a:avLst/>
              <a:gdLst/>
              <a:ahLst/>
              <a:cxnLst/>
              <a:rect r="r" b="b" t="t" l="l"/>
              <a:pathLst>
                <a:path h="153416" w="69342">
                  <a:moveTo>
                    <a:pt x="0" y="0"/>
                  </a:moveTo>
                  <a:lnTo>
                    <a:pt x="69342" y="0"/>
                  </a:lnTo>
                  <a:lnTo>
                    <a:pt x="69342" y="153416"/>
                  </a:lnTo>
                  <a:lnTo>
                    <a:pt x="0" y="153416"/>
                  </a:lnTo>
                  <a:close/>
                </a:path>
              </a:pathLst>
            </a:custGeom>
            <a:solidFill>
              <a:srgbClr val="2B2B2B"/>
            </a:solidFill>
            <a:ln w="19050" cap="sq">
              <a:solidFill>
                <a:srgbClr val="333333"/>
              </a:solidFill>
              <a:prstDash val="solid"/>
              <a:miter/>
            </a:ln>
          </p:spPr>
        </p:sp>
      </p:grpSp>
      <p:grpSp>
        <p:nvGrpSpPr>
          <p:cNvPr name="Group 53" id="53"/>
          <p:cNvGrpSpPr/>
          <p:nvPr/>
        </p:nvGrpSpPr>
        <p:grpSpPr>
          <a:xfrm rot="0">
            <a:off x="13107086" y="5806059"/>
            <a:ext cx="51968" cy="115062"/>
            <a:chOff x="0" y="0"/>
            <a:chExt cx="69291" cy="153416"/>
          </a:xfrm>
        </p:grpSpPr>
        <p:sp>
          <p:nvSpPr>
            <p:cNvPr name="Freeform 54" id="54"/>
            <p:cNvSpPr/>
            <p:nvPr/>
          </p:nvSpPr>
          <p:spPr>
            <a:xfrm flipH="false" flipV="false" rot="0">
              <a:off x="0" y="0"/>
              <a:ext cx="69342" cy="153416"/>
            </a:xfrm>
            <a:custGeom>
              <a:avLst/>
              <a:gdLst/>
              <a:ahLst/>
              <a:cxnLst/>
              <a:rect r="r" b="b" t="t" l="l"/>
              <a:pathLst>
                <a:path h="153416" w="69342">
                  <a:moveTo>
                    <a:pt x="0" y="0"/>
                  </a:moveTo>
                  <a:lnTo>
                    <a:pt x="69342" y="0"/>
                  </a:lnTo>
                  <a:lnTo>
                    <a:pt x="69342" y="153416"/>
                  </a:lnTo>
                  <a:lnTo>
                    <a:pt x="0" y="153416"/>
                  </a:lnTo>
                  <a:close/>
                </a:path>
              </a:pathLst>
            </a:custGeom>
            <a:solidFill>
              <a:srgbClr val="2B2B2B"/>
            </a:solidFill>
            <a:ln w="19050" cap="sq">
              <a:solidFill>
                <a:srgbClr val="333333"/>
              </a:solidFill>
              <a:prstDash val="solid"/>
              <a:miter/>
            </a:ln>
          </p:spPr>
        </p:sp>
      </p:grpSp>
      <p:grpSp>
        <p:nvGrpSpPr>
          <p:cNvPr name="Group 55" id="55"/>
          <p:cNvGrpSpPr/>
          <p:nvPr/>
        </p:nvGrpSpPr>
        <p:grpSpPr>
          <a:xfrm rot="0">
            <a:off x="13107086" y="5970651"/>
            <a:ext cx="51968" cy="115062"/>
            <a:chOff x="0" y="0"/>
            <a:chExt cx="69291" cy="153416"/>
          </a:xfrm>
        </p:grpSpPr>
        <p:sp>
          <p:nvSpPr>
            <p:cNvPr name="Freeform 56" id="56"/>
            <p:cNvSpPr/>
            <p:nvPr/>
          </p:nvSpPr>
          <p:spPr>
            <a:xfrm flipH="false" flipV="false" rot="0">
              <a:off x="0" y="0"/>
              <a:ext cx="69342" cy="153416"/>
            </a:xfrm>
            <a:custGeom>
              <a:avLst/>
              <a:gdLst/>
              <a:ahLst/>
              <a:cxnLst/>
              <a:rect r="r" b="b" t="t" l="l"/>
              <a:pathLst>
                <a:path h="153416" w="69342">
                  <a:moveTo>
                    <a:pt x="0" y="0"/>
                  </a:moveTo>
                  <a:lnTo>
                    <a:pt x="69342" y="0"/>
                  </a:lnTo>
                  <a:lnTo>
                    <a:pt x="69342" y="153416"/>
                  </a:lnTo>
                  <a:lnTo>
                    <a:pt x="0" y="153416"/>
                  </a:lnTo>
                  <a:close/>
                </a:path>
              </a:pathLst>
            </a:custGeom>
            <a:solidFill>
              <a:srgbClr val="2B2B2B"/>
            </a:solidFill>
            <a:ln w="19050" cap="sq">
              <a:solidFill>
                <a:srgbClr val="333333"/>
              </a:solidFill>
              <a:prstDash val="solid"/>
              <a:miter/>
            </a:ln>
          </p:spPr>
        </p:sp>
      </p:grpSp>
      <p:grpSp>
        <p:nvGrpSpPr>
          <p:cNvPr name="Group 57" id="57"/>
          <p:cNvGrpSpPr/>
          <p:nvPr/>
        </p:nvGrpSpPr>
        <p:grpSpPr>
          <a:xfrm rot="0">
            <a:off x="13379958" y="5006340"/>
            <a:ext cx="1165860" cy="384048"/>
            <a:chOff x="0" y="0"/>
            <a:chExt cx="1554480" cy="512064"/>
          </a:xfrm>
        </p:grpSpPr>
        <p:sp>
          <p:nvSpPr>
            <p:cNvPr name="Freeform 58" id="58"/>
            <p:cNvSpPr/>
            <p:nvPr/>
          </p:nvSpPr>
          <p:spPr>
            <a:xfrm flipH="false" flipV="false" rot="0">
              <a:off x="0" y="0"/>
              <a:ext cx="1554480" cy="512064"/>
            </a:xfrm>
            <a:custGeom>
              <a:avLst/>
              <a:gdLst/>
              <a:ahLst/>
              <a:cxnLst/>
              <a:rect r="r" b="b" t="t" l="l"/>
              <a:pathLst>
                <a:path h="512064" w="1554480">
                  <a:moveTo>
                    <a:pt x="0" y="0"/>
                  </a:moveTo>
                  <a:lnTo>
                    <a:pt x="1554480" y="0"/>
                  </a:lnTo>
                  <a:lnTo>
                    <a:pt x="1554480" y="512064"/>
                  </a:lnTo>
                  <a:lnTo>
                    <a:pt x="0" y="512064"/>
                  </a:lnTo>
                  <a:close/>
                </a:path>
              </a:pathLst>
            </a:custGeom>
            <a:blipFill>
              <a:blip r:embed="rId3">
                <a:alphaModFix amt="0"/>
              </a:blip>
              <a:stretch>
                <a:fillRect l="0" t="-9151" r="0" b="-9151"/>
              </a:stretch>
            </a:blipFill>
          </p:spPr>
        </p:sp>
        <p:sp>
          <p:nvSpPr>
            <p:cNvPr name="TextBox 59" id="59"/>
            <p:cNvSpPr txBox="true"/>
            <p:nvPr/>
          </p:nvSpPr>
          <p:spPr>
            <a:xfrm>
              <a:off x="0" y="-9525"/>
              <a:ext cx="1554480" cy="521589"/>
            </a:xfrm>
            <a:prstGeom prst="rect">
              <a:avLst/>
            </a:prstGeom>
          </p:spPr>
          <p:txBody>
            <a:bodyPr anchor="ctr" rtlCol="false" tIns="0" lIns="0" bIns="0" rIns="0"/>
            <a:lstStyle/>
            <a:p>
              <a:pPr algn="l">
                <a:lnSpc>
                  <a:spcPts val="2340"/>
                </a:lnSpc>
              </a:pPr>
              <a:r>
                <a:rPr lang="en-US" sz="1950" b="true">
                  <a:solidFill>
                    <a:srgbClr val="2B2B2B"/>
                  </a:solidFill>
                  <a:latin typeface="Georgia Bold"/>
                  <a:ea typeface="Georgia Bold"/>
                  <a:cs typeface="Georgia Bold"/>
                  <a:sym typeface="Georgia Bold"/>
                </a:rPr>
                <a:t>3.0 m</a:t>
              </a:r>
            </a:p>
          </p:txBody>
        </p:sp>
      </p:grpSp>
      <p:grpSp>
        <p:nvGrpSpPr>
          <p:cNvPr name="Group 60" id="60"/>
          <p:cNvGrpSpPr/>
          <p:nvPr/>
        </p:nvGrpSpPr>
        <p:grpSpPr>
          <a:xfrm rot="0">
            <a:off x="11521440" y="2400300"/>
            <a:ext cx="2194560" cy="342900"/>
            <a:chOff x="0" y="0"/>
            <a:chExt cx="2926080" cy="457200"/>
          </a:xfrm>
        </p:grpSpPr>
        <p:sp>
          <p:nvSpPr>
            <p:cNvPr name="Freeform 61" id="61"/>
            <p:cNvSpPr/>
            <p:nvPr/>
          </p:nvSpPr>
          <p:spPr>
            <a:xfrm flipH="false" flipV="false" rot="0">
              <a:off x="0" y="0"/>
              <a:ext cx="2926080" cy="457200"/>
            </a:xfrm>
            <a:custGeom>
              <a:avLst/>
              <a:gdLst/>
              <a:ahLst/>
              <a:cxnLst/>
              <a:rect r="r" b="b" t="t" l="l"/>
              <a:pathLst>
                <a:path h="457200" w="2926080">
                  <a:moveTo>
                    <a:pt x="0" y="0"/>
                  </a:moveTo>
                  <a:lnTo>
                    <a:pt x="2926080" y="0"/>
                  </a:lnTo>
                  <a:lnTo>
                    <a:pt x="2926080" y="457200"/>
                  </a:lnTo>
                  <a:lnTo>
                    <a:pt x="0" y="457200"/>
                  </a:lnTo>
                  <a:close/>
                </a:path>
              </a:pathLst>
            </a:custGeom>
            <a:blipFill>
              <a:blip r:embed="rId3">
                <a:alphaModFix amt="0"/>
              </a:blip>
              <a:stretch>
                <a:fillRect l="0" t="-74704" r="0" b="-74704"/>
              </a:stretch>
            </a:blipFill>
          </p:spPr>
        </p:sp>
        <p:sp>
          <p:nvSpPr>
            <p:cNvPr name="TextBox 62" id="62"/>
            <p:cNvSpPr txBox="true"/>
            <p:nvPr/>
          </p:nvSpPr>
          <p:spPr>
            <a:xfrm>
              <a:off x="0" y="-38100"/>
              <a:ext cx="2926080" cy="495300"/>
            </a:xfrm>
            <a:prstGeom prst="rect">
              <a:avLst/>
            </a:prstGeom>
          </p:spPr>
          <p:txBody>
            <a:bodyPr anchor="ctr" rtlCol="false" tIns="0" lIns="0" bIns="0" rIns="0"/>
            <a:lstStyle/>
            <a:p>
              <a:pPr algn="l">
                <a:lnSpc>
                  <a:spcPts val="2160"/>
                </a:lnSpc>
              </a:pPr>
              <a:r>
                <a:rPr lang="en-US" sz="1800">
                  <a:solidFill>
                    <a:srgbClr val="FF8A80"/>
                  </a:solidFill>
                  <a:latin typeface="Calibri (MS)"/>
                  <a:ea typeface="Calibri (MS)"/>
                  <a:cs typeface="Calibri (MS)"/>
                  <a:sym typeface="Calibri (MS)"/>
                </a:rPr>
                <a:t>Field of view</a:t>
              </a:r>
            </a:p>
          </p:txBody>
        </p:sp>
      </p:grpSp>
      <p:grpSp>
        <p:nvGrpSpPr>
          <p:cNvPr name="Group 63" id="63"/>
          <p:cNvGrpSpPr/>
          <p:nvPr/>
        </p:nvGrpSpPr>
        <p:grpSpPr>
          <a:xfrm rot="0">
            <a:off x="9385935" y="6985635"/>
            <a:ext cx="7494270" cy="540258"/>
            <a:chOff x="0" y="0"/>
            <a:chExt cx="9992360" cy="720344"/>
          </a:xfrm>
        </p:grpSpPr>
        <p:sp>
          <p:nvSpPr>
            <p:cNvPr name="Freeform 64" id="64"/>
            <p:cNvSpPr/>
            <p:nvPr/>
          </p:nvSpPr>
          <p:spPr>
            <a:xfrm flipH="false" flipV="false" rot="0">
              <a:off x="0" y="0"/>
              <a:ext cx="9992360" cy="720344"/>
            </a:xfrm>
            <a:custGeom>
              <a:avLst/>
              <a:gdLst/>
              <a:ahLst/>
              <a:cxnLst/>
              <a:rect r="r" b="b" t="t" l="l"/>
              <a:pathLst>
                <a:path h="720344" w="9992360">
                  <a:moveTo>
                    <a:pt x="0" y="75819"/>
                  </a:moveTo>
                  <a:cubicBezTo>
                    <a:pt x="0" y="33909"/>
                    <a:pt x="33909" y="0"/>
                    <a:pt x="75819" y="0"/>
                  </a:cubicBezTo>
                  <a:lnTo>
                    <a:pt x="9916541" y="0"/>
                  </a:lnTo>
                  <a:cubicBezTo>
                    <a:pt x="9958451" y="0"/>
                    <a:pt x="9992360" y="33909"/>
                    <a:pt x="9992360" y="75819"/>
                  </a:cubicBezTo>
                  <a:lnTo>
                    <a:pt x="9992360" y="644525"/>
                  </a:lnTo>
                  <a:cubicBezTo>
                    <a:pt x="9992360" y="686435"/>
                    <a:pt x="9958451" y="720344"/>
                    <a:pt x="9916541" y="720344"/>
                  </a:cubicBezTo>
                  <a:lnTo>
                    <a:pt x="75819" y="720344"/>
                  </a:lnTo>
                  <a:cubicBezTo>
                    <a:pt x="33909" y="720344"/>
                    <a:pt x="0" y="686435"/>
                    <a:pt x="0" y="644525"/>
                  </a:cubicBezTo>
                  <a:close/>
                </a:path>
              </a:pathLst>
            </a:custGeom>
            <a:solidFill>
              <a:srgbClr val="2B2B2B"/>
            </a:solidFill>
            <a:ln w="19050" cap="sq">
              <a:solidFill>
                <a:srgbClr val="333333"/>
              </a:solidFill>
              <a:prstDash val="solid"/>
              <a:miter/>
            </a:ln>
          </p:spPr>
        </p:sp>
      </p:grpSp>
      <p:grpSp>
        <p:nvGrpSpPr>
          <p:cNvPr name="Group 65" id="65"/>
          <p:cNvGrpSpPr/>
          <p:nvPr/>
        </p:nvGrpSpPr>
        <p:grpSpPr>
          <a:xfrm rot="0">
            <a:off x="9395460" y="6995160"/>
            <a:ext cx="7475220" cy="521208"/>
            <a:chOff x="0" y="0"/>
            <a:chExt cx="9966960" cy="694944"/>
          </a:xfrm>
        </p:grpSpPr>
        <p:sp>
          <p:nvSpPr>
            <p:cNvPr name="Freeform 66" id="66"/>
            <p:cNvSpPr/>
            <p:nvPr/>
          </p:nvSpPr>
          <p:spPr>
            <a:xfrm flipH="false" flipV="false" rot="0">
              <a:off x="0" y="0"/>
              <a:ext cx="9966960" cy="694944"/>
            </a:xfrm>
            <a:custGeom>
              <a:avLst/>
              <a:gdLst/>
              <a:ahLst/>
              <a:cxnLst/>
              <a:rect r="r" b="b" t="t" l="l"/>
              <a:pathLst>
                <a:path h="694944" w="9966960">
                  <a:moveTo>
                    <a:pt x="0" y="0"/>
                  </a:moveTo>
                  <a:lnTo>
                    <a:pt x="9966960" y="0"/>
                  </a:lnTo>
                  <a:lnTo>
                    <a:pt x="9966960" y="694944"/>
                  </a:lnTo>
                  <a:lnTo>
                    <a:pt x="0" y="694944"/>
                  </a:lnTo>
                  <a:close/>
                </a:path>
              </a:pathLst>
            </a:custGeom>
            <a:blipFill>
              <a:blip r:embed="rId3">
                <a:alphaModFix amt="0"/>
              </a:blip>
              <a:stretch>
                <a:fillRect l="0" t="-229456" r="0" b="-229456"/>
              </a:stretch>
            </a:blipFill>
          </p:spPr>
        </p:sp>
        <p:sp>
          <p:nvSpPr>
            <p:cNvPr name="TextBox 67" id="67"/>
            <p:cNvSpPr txBox="true"/>
            <p:nvPr/>
          </p:nvSpPr>
          <p:spPr>
            <a:xfrm>
              <a:off x="0" y="-38100"/>
              <a:ext cx="9966960" cy="733044"/>
            </a:xfrm>
            <a:prstGeom prst="rect">
              <a:avLst/>
            </a:prstGeom>
          </p:spPr>
          <p:txBody>
            <a:bodyPr anchor="ctr" rtlCol="false" tIns="0" lIns="0" bIns="0" rIns="0"/>
            <a:lstStyle/>
            <a:p>
              <a:pPr algn="ctr">
                <a:lnSpc>
                  <a:spcPts val="2160"/>
                </a:lnSpc>
              </a:pPr>
              <a:r>
                <a:rPr lang="en-US" sz="1800">
                  <a:solidFill>
                    <a:srgbClr val="F5F5F5"/>
                  </a:solidFill>
                  <a:latin typeface="Consolas"/>
                  <a:ea typeface="Consolas"/>
                  <a:cs typeface="Consolas"/>
                  <a:sym typeface="Consolas"/>
                </a:rPr>
                <a:t>ECHO VISION  |  OBSTACLE  |  Distance: 3.0 m</a:t>
              </a:r>
            </a:p>
          </p:txBody>
        </p:sp>
      </p:grpSp>
      <p:grpSp>
        <p:nvGrpSpPr>
          <p:cNvPr name="Group 68" id="68"/>
          <p:cNvGrpSpPr/>
          <p:nvPr/>
        </p:nvGrpSpPr>
        <p:grpSpPr>
          <a:xfrm rot="0">
            <a:off x="8915400" y="7763256"/>
            <a:ext cx="8435340" cy="301752"/>
            <a:chOff x="0" y="0"/>
            <a:chExt cx="11247120" cy="402336"/>
          </a:xfrm>
        </p:grpSpPr>
        <p:sp>
          <p:nvSpPr>
            <p:cNvPr name="Freeform 69" id="69"/>
            <p:cNvSpPr/>
            <p:nvPr/>
          </p:nvSpPr>
          <p:spPr>
            <a:xfrm flipH="false" flipV="false" rot="0">
              <a:off x="0" y="0"/>
              <a:ext cx="11247120" cy="402336"/>
            </a:xfrm>
            <a:custGeom>
              <a:avLst/>
              <a:gdLst/>
              <a:ahLst/>
              <a:cxnLst/>
              <a:rect r="r" b="b" t="t" l="l"/>
              <a:pathLst>
                <a:path h="402336" w="11247120">
                  <a:moveTo>
                    <a:pt x="0" y="0"/>
                  </a:moveTo>
                  <a:lnTo>
                    <a:pt x="11247120" y="0"/>
                  </a:lnTo>
                  <a:lnTo>
                    <a:pt x="11247120" y="402336"/>
                  </a:lnTo>
                  <a:lnTo>
                    <a:pt x="0" y="402336"/>
                  </a:lnTo>
                  <a:close/>
                </a:path>
              </a:pathLst>
            </a:custGeom>
            <a:blipFill>
              <a:blip r:embed="rId3">
                <a:alphaModFix amt="0"/>
              </a:blip>
              <a:stretch>
                <a:fillRect l="0" t="-494695" r="0" b="-494695"/>
              </a:stretch>
            </a:blipFill>
          </p:spPr>
        </p:sp>
        <p:sp>
          <p:nvSpPr>
            <p:cNvPr name="TextBox 70" id="70"/>
            <p:cNvSpPr txBox="true"/>
            <p:nvPr/>
          </p:nvSpPr>
          <p:spPr>
            <a:xfrm>
              <a:off x="0" y="-28575"/>
              <a:ext cx="11247120" cy="430911"/>
            </a:xfrm>
            <a:prstGeom prst="rect">
              <a:avLst/>
            </a:prstGeom>
          </p:spPr>
          <p:txBody>
            <a:bodyPr anchor="ctr" rtlCol="false" tIns="0" lIns="0" bIns="0" rIns="0"/>
            <a:lstStyle/>
            <a:p>
              <a:pPr algn="ctr">
                <a:lnSpc>
                  <a:spcPts val="1980"/>
                </a:lnSpc>
              </a:pPr>
              <a:r>
                <a:rPr lang="en-US" sz="1650">
                  <a:solidFill>
                    <a:srgbClr val="6B6B6B"/>
                  </a:solidFill>
                  <a:latin typeface="Calibri (MS)"/>
                  <a:ea typeface="Calibri (MS)"/>
                  <a:cs typeface="Calibri (MS)"/>
                  <a:sym typeface="Calibri (MS)"/>
                </a:rPr>
                <a:t>Concept illustration</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grpSp>
        <p:nvGrpSpPr>
          <p:cNvPr name="Group 2" id="2"/>
          <p:cNvGrpSpPr/>
          <p:nvPr/>
        </p:nvGrpSpPr>
        <p:grpSpPr>
          <a:xfrm rot="0">
            <a:off x="960120" y="576072"/>
            <a:ext cx="16322040" cy="658368"/>
            <a:chOff x="0" y="0"/>
            <a:chExt cx="21762720" cy="877824"/>
          </a:xfrm>
        </p:grpSpPr>
        <p:sp>
          <p:nvSpPr>
            <p:cNvPr name="Freeform 3" id="3"/>
            <p:cNvSpPr/>
            <p:nvPr/>
          </p:nvSpPr>
          <p:spPr>
            <a:xfrm flipH="false" flipV="false" rot="0">
              <a:off x="0" y="0"/>
              <a:ext cx="21762720" cy="877824"/>
            </a:xfrm>
            <a:custGeom>
              <a:avLst/>
              <a:gdLst/>
              <a:ahLst/>
              <a:cxnLst/>
              <a:rect r="r" b="b" t="t" l="l"/>
              <a:pathLst>
                <a:path h="877824" w="21762720">
                  <a:moveTo>
                    <a:pt x="0" y="0"/>
                  </a:moveTo>
                  <a:lnTo>
                    <a:pt x="21762720" y="0"/>
                  </a:lnTo>
                  <a:lnTo>
                    <a:pt x="21762720" y="877824"/>
                  </a:lnTo>
                  <a:lnTo>
                    <a:pt x="0" y="877824"/>
                  </a:lnTo>
                  <a:close/>
                </a:path>
              </a:pathLst>
            </a:custGeom>
            <a:blipFill>
              <a:blip r:embed="rId3">
                <a:alphaModFix amt="0"/>
              </a:blip>
              <a:stretch>
                <a:fillRect l="0" t="-433066" r="0" b="-433066"/>
              </a:stretch>
            </a:blipFill>
          </p:spPr>
        </p:sp>
        <p:sp>
          <p:nvSpPr>
            <p:cNvPr name="TextBox 4" id="4"/>
            <p:cNvSpPr txBox="true"/>
            <p:nvPr/>
          </p:nvSpPr>
          <p:spPr>
            <a:xfrm>
              <a:off x="0" y="0"/>
              <a:ext cx="21762720" cy="877824"/>
            </a:xfrm>
            <a:prstGeom prst="rect">
              <a:avLst/>
            </a:prstGeom>
          </p:spPr>
          <p:txBody>
            <a:bodyPr anchor="ctr" rtlCol="false" tIns="0" lIns="0" bIns="0" rIns="0"/>
            <a:lstStyle/>
            <a:p>
              <a:pPr algn="l">
                <a:lnSpc>
                  <a:spcPts val="5759"/>
                </a:lnSpc>
              </a:pPr>
              <a:r>
                <a:rPr lang="en-US" sz="4800">
                  <a:solidFill>
                    <a:srgbClr val="2B2B2B"/>
                  </a:solidFill>
                  <a:latin typeface="Georgia"/>
                  <a:ea typeface="Georgia"/>
                  <a:cs typeface="Georgia"/>
                  <a:sym typeface="Georgia"/>
                </a:rPr>
                <a:t>System Architecture</a:t>
              </a:r>
            </a:p>
          </p:txBody>
        </p:sp>
      </p:grpSp>
      <p:grpSp>
        <p:nvGrpSpPr>
          <p:cNvPr name="Group 5" id="5"/>
          <p:cNvGrpSpPr/>
          <p:nvPr/>
        </p:nvGrpSpPr>
        <p:grpSpPr>
          <a:xfrm rot="0">
            <a:off x="950595" y="1293495"/>
            <a:ext cx="1088898" cy="67056"/>
            <a:chOff x="0" y="0"/>
            <a:chExt cx="1451864" cy="89408"/>
          </a:xfrm>
        </p:grpSpPr>
        <p:sp>
          <p:nvSpPr>
            <p:cNvPr name="Freeform 6" id="6"/>
            <p:cNvSpPr/>
            <p:nvPr/>
          </p:nvSpPr>
          <p:spPr>
            <a:xfrm flipH="false" flipV="false" rot="0">
              <a:off x="0" y="0"/>
              <a:ext cx="1451864" cy="89408"/>
            </a:xfrm>
            <a:custGeom>
              <a:avLst/>
              <a:gdLst/>
              <a:ahLst/>
              <a:cxnLst/>
              <a:rect r="r" b="b" t="t" l="l"/>
              <a:pathLst>
                <a:path h="89408" w="1451864">
                  <a:moveTo>
                    <a:pt x="0" y="0"/>
                  </a:moveTo>
                  <a:lnTo>
                    <a:pt x="1451864" y="0"/>
                  </a:lnTo>
                  <a:lnTo>
                    <a:pt x="1451864" y="89408"/>
                  </a:lnTo>
                  <a:lnTo>
                    <a:pt x="0" y="89408"/>
                  </a:lnTo>
                  <a:close/>
                </a:path>
              </a:pathLst>
            </a:custGeom>
            <a:solidFill>
              <a:srgbClr val="FF8A80"/>
            </a:solidFill>
            <a:ln w="19050" cap="sq">
              <a:solidFill>
                <a:srgbClr val="333333"/>
              </a:solidFill>
              <a:prstDash val="solid"/>
              <a:miter/>
            </a:ln>
          </p:spPr>
        </p:sp>
      </p:grpSp>
      <p:grpSp>
        <p:nvGrpSpPr>
          <p:cNvPr name="Group 7" id="7"/>
          <p:cNvGrpSpPr/>
          <p:nvPr/>
        </p:nvGrpSpPr>
        <p:grpSpPr>
          <a:xfrm rot="0">
            <a:off x="950595" y="9701403"/>
            <a:ext cx="16386353" cy="35509"/>
            <a:chOff x="0" y="0"/>
            <a:chExt cx="21848470" cy="47346"/>
          </a:xfrm>
        </p:grpSpPr>
        <p:sp>
          <p:nvSpPr>
            <p:cNvPr name="Freeform 8" id="8"/>
            <p:cNvSpPr/>
            <p:nvPr/>
          </p:nvSpPr>
          <p:spPr>
            <a:xfrm flipH="false" flipV="false" rot="0">
              <a:off x="0" y="0"/>
              <a:ext cx="21848445" cy="47371"/>
            </a:xfrm>
            <a:custGeom>
              <a:avLst/>
              <a:gdLst/>
              <a:ahLst/>
              <a:cxnLst/>
              <a:rect r="r" b="b" t="t" l="l"/>
              <a:pathLst>
                <a:path h="47371" w="21848445">
                  <a:moveTo>
                    <a:pt x="0" y="0"/>
                  </a:moveTo>
                  <a:lnTo>
                    <a:pt x="21848445" y="0"/>
                  </a:lnTo>
                  <a:lnTo>
                    <a:pt x="21848445" y="47371"/>
                  </a:lnTo>
                  <a:lnTo>
                    <a:pt x="0" y="47371"/>
                  </a:lnTo>
                  <a:close/>
                </a:path>
              </a:pathLst>
            </a:custGeom>
            <a:solidFill>
              <a:srgbClr val="D0D0D0"/>
            </a:solidFill>
            <a:ln w="19050" cap="sq">
              <a:solidFill>
                <a:srgbClr val="333333"/>
              </a:solidFill>
              <a:prstDash val="solid"/>
              <a:miter/>
            </a:ln>
          </p:spPr>
        </p:sp>
      </p:grpSp>
      <p:grpSp>
        <p:nvGrpSpPr>
          <p:cNvPr name="Group 9" id="9"/>
          <p:cNvGrpSpPr/>
          <p:nvPr/>
        </p:nvGrpSpPr>
        <p:grpSpPr>
          <a:xfrm rot="0">
            <a:off x="15636240" y="9806940"/>
            <a:ext cx="1645920" cy="356616"/>
            <a:chOff x="0" y="0"/>
            <a:chExt cx="2194560" cy="475488"/>
          </a:xfrm>
        </p:grpSpPr>
        <p:sp>
          <p:nvSpPr>
            <p:cNvPr name="Freeform 10" id="10"/>
            <p:cNvSpPr/>
            <p:nvPr/>
          </p:nvSpPr>
          <p:spPr>
            <a:xfrm flipH="false" flipV="false" rot="0">
              <a:off x="0" y="0"/>
              <a:ext cx="2194560" cy="475488"/>
            </a:xfrm>
            <a:custGeom>
              <a:avLst/>
              <a:gdLst/>
              <a:ahLst/>
              <a:cxnLst/>
              <a:rect r="r" b="b" t="t" l="l"/>
              <a:pathLst>
                <a:path h="475488" w="2194560">
                  <a:moveTo>
                    <a:pt x="0" y="0"/>
                  </a:moveTo>
                  <a:lnTo>
                    <a:pt x="2194560" y="0"/>
                  </a:lnTo>
                  <a:lnTo>
                    <a:pt x="2194560" y="475488"/>
                  </a:lnTo>
                  <a:lnTo>
                    <a:pt x="0" y="475488"/>
                  </a:lnTo>
                  <a:close/>
                </a:path>
              </a:pathLst>
            </a:custGeom>
            <a:blipFill>
              <a:blip r:embed="rId3">
                <a:alphaModFix amt="0"/>
              </a:blip>
              <a:stretch>
                <a:fillRect l="0" t="-39930" r="0" b="-39930"/>
              </a:stretch>
            </a:blipFill>
          </p:spPr>
        </p:sp>
        <p:sp>
          <p:nvSpPr>
            <p:cNvPr name="TextBox 11" id="11"/>
            <p:cNvSpPr txBox="true"/>
            <p:nvPr/>
          </p:nvSpPr>
          <p:spPr>
            <a:xfrm>
              <a:off x="0" y="-28575"/>
              <a:ext cx="2194560" cy="504063"/>
            </a:xfrm>
            <a:prstGeom prst="rect">
              <a:avLst/>
            </a:prstGeom>
          </p:spPr>
          <p:txBody>
            <a:bodyPr anchor="ctr" rtlCol="false" tIns="0" lIns="0" bIns="0" rIns="0"/>
            <a:lstStyle/>
            <a:p>
              <a:pPr algn="r">
                <a:lnSpc>
                  <a:spcPts val="1980"/>
                </a:lnSpc>
              </a:pPr>
              <a:r>
                <a:rPr lang="en-US" sz="1650">
                  <a:solidFill>
                    <a:srgbClr val="6B6B6B"/>
                  </a:solidFill>
                  <a:latin typeface="Calibri (MS)"/>
                  <a:ea typeface="Calibri (MS)"/>
                  <a:cs typeface="Calibri (MS)"/>
                  <a:sym typeface="Calibri (MS)"/>
                </a:rPr>
                <a:t>07</a:t>
              </a:r>
            </a:p>
          </p:txBody>
        </p:sp>
      </p:grpSp>
      <p:grpSp>
        <p:nvGrpSpPr>
          <p:cNvPr name="Group 12" id="12"/>
          <p:cNvGrpSpPr/>
          <p:nvPr/>
        </p:nvGrpSpPr>
        <p:grpSpPr>
          <a:xfrm rot="0">
            <a:off x="950595" y="1800987"/>
            <a:ext cx="5436870" cy="3242310"/>
            <a:chOff x="0" y="0"/>
            <a:chExt cx="7249160" cy="4323080"/>
          </a:xfrm>
        </p:grpSpPr>
        <p:sp>
          <p:nvSpPr>
            <p:cNvPr name="Freeform 13" id="13"/>
            <p:cNvSpPr/>
            <p:nvPr/>
          </p:nvSpPr>
          <p:spPr>
            <a:xfrm flipH="false" flipV="false" rot="0">
              <a:off x="0" y="0"/>
              <a:ext cx="7249160" cy="4323080"/>
            </a:xfrm>
            <a:custGeom>
              <a:avLst/>
              <a:gdLst/>
              <a:ahLst/>
              <a:cxnLst/>
              <a:rect r="r" b="b" t="t" l="l"/>
              <a:pathLst>
                <a:path h="4323080" w="7249160">
                  <a:moveTo>
                    <a:pt x="0" y="110363"/>
                  </a:moveTo>
                  <a:cubicBezTo>
                    <a:pt x="0" y="49403"/>
                    <a:pt x="49403" y="0"/>
                    <a:pt x="110363" y="0"/>
                  </a:cubicBezTo>
                  <a:lnTo>
                    <a:pt x="7138797" y="0"/>
                  </a:lnTo>
                  <a:cubicBezTo>
                    <a:pt x="7199757" y="0"/>
                    <a:pt x="7249160" y="49403"/>
                    <a:pt x="7249160" y="110363"/>
                  </a:cubicBezTo>
                  <a:lnTo>
                    <a:pt x="7249160" y="4212717"/>
                  </a:lnTo>
                  <a:cubicBezTo>
                    <a:pt x="7249160" y="4273677"/>
                    <a:pt x="7199757" y="4323080"/>
                    <a:pt x="7138797" y="4323080"/>
                  </a:cubicBezTo>
                  <a:lnTo>
                    <a:pt x="110363" y="4323080"/>
                  </a:lnTo>
                  <a:cubicBezTo>
                    <a:pt x="49403" y="4323080"/>
                    <a:pt x="0" y="4273677"/>
                    <a:pt x="0" y="4212717"/>
                  </a:cubicBezTo>
                  <a:close/>
                </a:path>
              </a:pathLst>
            </a:custGeom>
            <a:solidFill>
              <a:srgbClr val="FFFFFF"/>
            </a:solidFill>
            <a:ln w="19050" cap="sq">
              <a:solidFill>
                <a:srgbClr val="DCDCDC"/>
              </a:solidFill>
              <a:prstDash val="solid"/>
              <a:miter/>
            </a:ln>
          </p:spPr>
        </p:sp>
      </p:grpSp>
      <p:grpSp>
        <p:nvGrpSpPr>
          <p:cNvPr name="Group 14" id="14"/>
          <p:cNvGrpSpPr/>
          <p:nvPr/>
        </p:nvGrpSpPr>
        <p:grpSpPr>
          <a:xfrm rot="0">
            <a:off x="950595" y="1800987"/>
            <a:ext cx="5436870" cy="94488"/>
            <a:chOff x="0" y="0"/>
            <a:chExt cx="7249160" cy="125984"/>
          </a:xfrm>
        </p:grpSpPr>
        <p:sp>
          <p:nvSpPr>
            <p:cNvPr name="Freeform 15" id="15"/>
            <p:cNvSpPr/>
            <p:nvPr/>
          </p:nvSpPr>
          <p:spPr>
            <a:xfrm flipH="false" flipV="false" rot="0">
              <a:off x="0" y="0"/>
              <a:ext cx="7249160" cy="125984"/>
            </a:xfrm>
            <a:custGeom>
              <a:avLst/>
              <a:gdLst/>
              <a:ahLst/>
              <a:cxnLst/>
              <a:rect r="r" b="b" t="t" l="l"/>
              <a:pathLst>
                <a:path h="125984" w="7249160">
                  <a:moveTo>
                    <a:pt x="0" y="0"/>
                  </a:moveTo>
                  <a:lnTo>
                    <a:pt x="7249160" y="0"/>
                  </a:lnTo>
                  <a:lnTo>
                    <a:pt x="7249160" y="125984"/>
                  </a:lnTo>
                  <a:lnTo>
                    <a:pt x="0" y="125984"/>
                  </a:lnTo>
                  <a:close/>
                </a:path>
              </a:pathLst>
            </a:custGeom>
            <a:solidFill>
              <a:srgbClr val="FF8A80"/>
            </a:solidFill>
            <a:ln w="19050" cap="sq">
              <a:solidFill>
                <a:srgbClr val="333333"/>
              </a:solidFill>
              <a:prstDash val="solid"/>
              <a:miter/>
            </a:ln>
          </p:spPr>
        </p:sp>
      </p:grpSp>
      <p:grpSp>
        <p:nvGrpSpPr>
          <p:cNvPr name="Group 16" id="16"/>
          <p:cNvGrpSpPr/>
          <p:nvPr/>
        </p:nvGrpSpPr>
        <p:grpSpPr>
          <a:xfrm rot="0">
            <a:off x="1261872" y="2153412"/>
            <a:ext cx="4800600" cy="384048"/>
            <a:chOff x="0" y="0"/>
            <a:chExt cx="6400800" cy="512064"/>
          </a:xfrm>
        </p:grpSpPr>
        <p:sp>
          <p:nvSpPr>
            <p:cNvPr name="Freeform 17" id="17"/>
            <p:cNvSpPr/>
            <p:nvPr/>
          </p:nvSpPr>
          <p:spPr>
            <a:xfrm flipH="false" flipV="false" rot="0">
              <a:off x="0" y="0"/>
              <a:ext cx="6400800" cy="512064"/>
            </a:xfrm>
            <a:custGeom>
              <a:avLst/>
              <a:gdLst/>
              <a:ahLst/>
              <a:cxnLst/>
              <a:rect r="r" b="b" t="t" l="l"/>
              <a:pathLst>
                <a:path h="512064" w="6400800">
                  <a:moveTo>
                    <a:pt x="0" y="0"/>
                  </a:moveTo>
                  <a:lnTo>
                    <a:pt x="6400800" y="0"/>
                  </a:lnTo>
                  <a:lnTo>
                    <a:pt x="6400800" y="512064"/>
                  </a:lnTo>
                  <a:lnTo>
                    <a:pt x="0" y="512064"/>
                  </a:lnTo>
                  <a:close/>
                </a:path>
              </a:pathLst>
            </a:custGeom>
            <a:blipFill>
              <a:blip r:embed="rId3">
                <a:alphaModFix amt="0"/>
              </a:blip>
              <a:stretch>
                <a:fillRect l="0" t="-193562" r="0" b="-193562"/>
              </a:stretch>
            </a:blipFill>
          </p:spPr>
        </p:sp>
        <p:sp>
          <p:nvSpPr>
            <p:cNvPr name="TextBox 18" id="18"/>
            <p:cNvSpPr txBox="true"/>
            <p:nvPr/>
          </p:nvSpPr>
          <p:spPr>
            <a:xfrm>
              <a:off x="0" y="-38100"/>
              <a:ext cx="6400800" cy="550164"/>
            </a:xfrm>
            <a:prstGeom prst="rect">
              <a:avLst/>
            </a:prstGeom>
          </p:spPr>
          <p:txBody>
            <a:bodyPr anchor="ctr" rtlCol="false" tIns="0" lIns="0" bIns="0" rIns="0"/>
            <a:lstStyle/>
            <a:p>
              <a:pPr algn="l">
                <a:lnSpc>
                  <a:spcPts val="2160"/>
                </a:lnSpc>
              </a:pPr>
              <a:r>
                <a:rPr lang="en-US" sz="1800">
                  <a:solidFill>
                    <a:srgbClr val="6B6B6B"/>
                  </a:solidFill>
                  <a:latin typeface="Calibri (MS)"/>
                  <a:ea typeface="Calibri (MS)"/>
                  <a:cs typeface="Calibri (MS)"/>
                  <a:sym typeface="Calibri (MS)"/>
                </a:rPr>
                <a:t>LAYER  01</a:t>
              </a:r>
            </a:p>
          </p:txBody>
        </p:sp>
      </p:grpSp>
      <p:grpSp>
        <p:nvGrpSpPr>
          <p:cNvPr name="Group 19" id="19"/>
          <p:cNvGrpSpPr/>
          <p:nvPr/>
        </p:nvGrpSpPr>
        <p:grpSpPr>
          <a:xfrm rot="0">
            <a:off x="1261872" y="2564892"/>
            <a:ext cx="4800600" cy="548640"/>
            <a:chOff x="0" y="0"/>
            <a:chExt cx="6400800" cy="731520"/>
          </a:xfrm>
        </p:grpSpPr>
        <p:sp>
          <p:nvSpPr>
            <p:cNvPr name="Freeform 20" id="20"/>
            <p:cNvSpPr/>
            <p:nvPr/>
          </p:nvSpPr>
          <p:spPr>
            <a:xfrm flipH="false" flipV="false" rot="0">
              <a:off x="0" y="0"/>
              <a:ext cx="6400800" cy="731520"/>
            </a:xfrm>
            <a:custGeom>
              <a:avLst/>
              <a:gdLst/>
              <a:ahLst/>
              <a:cxnLst/>
              <a:rect r="r" b="b" t="t" l="l"/>
              <a:pathLst>
                <a:path h="731520" w="6400800">
                  <a:moveTo>
                    <a:pt x="0" y="0"/>
                  </a:moveTo>
                  <a:lnTo>
                    <a:pt x="6400800" y="0"/>
                  </a:lnTo>
                  <a:lnTo>
                    <a:pt x="6400800" y="731520"/>
                  </a:lnTo>
                  <a:lnTo>
                    <a:pt x="0" y="731520"/>
                  </a:lnTo>
                  <a:close/>
                </a:path>
              </a:pathLst>
            </a:custGeom>
            <a:blipFill>
              <a:blip r:embed="rId3">
                <a:alphaModFix amt="0"/>
              </a:blip>
              <a:stretch>
                <a:fillRect l="0" t="-120494" r="0" b="-120494"/>
              </a:stretch>
            </a:blipFill>
          </p:spPr>
        </p:sp>
        <p:sp>
          <p:nvSpPr>
            <p:cNvPr name="TextBox 21" id="21"/>
            <p:cNvSpPr txBox="true"/>
            <p:nvPr/>
          </p:nvSpPr>
          <p:spPr>
            <a:xfrm>
              <a:off x="0" y="-38100"/>
              <a:ext cx="6400800" cy="769620"/>
            </a:xfrm>
            <a:prstGeom prst="rect">
              <a:avLst/>
            </a:prstGeom>
          </p:spPr>
          <p:txBody>
            <a:bodyPr anchor="ctr" rtlCol="false" tIns="0" lIns="0" bIns="0" rIns="0"/>
            <a:lstStyle/>
            <a:p>
              <a:pPr algn="l">
                <a:lnSpc>
                  <a:spcPts val="2879"/>
                </a:lnSpc>
              </a:pPr>
              <a:r>
                <a:rPr lang="en-US" sz="2400" b="true">
                  <a:solidFill>
                    <a:srgbClr val="2B2B2B"/>
                  </a:solidFill>
                  <a:latin typeface="Calibri (MS) Bold"/>
                  <a:ea typeface="Calibri (MS) Bold"/>
                  <a:cs typeface="Calibri (MS) Bold"/>
                  <a:sym typeface="Calibri (MS) Bold"/>
                </a:rPr>
                <a:t>Environmental layer</a:t>
              </a:r>
            </a:p>
          </p:txBody>
        </p:sp>
      </p:grpSp>
      <p:grpSp>
        <p:nvGrpSpPr>
          <p:cNvPr name="Group 22" id="22"/>
          <p:cNvGrpSpPr/>
          <p:nvPr/>
        </p:nvGrpSpPr>
        <p:grpSpPr>
          <a:xfrm rot="0">
            <a:off x="1261872" y="3319272"/>
            <a:ext cx="4800600" cy="1303020"/>
            <a:chOff x="0" y="0"/>
            <a:chExt cx="6400800" cy="1737360"/>
          </a:xfrm>
        </p:grpSpPr>
        <p:sp>
          <p:nvSpPr>
            <p:cNvPr name="Freeform 23" id="23"/>
            <p:cNvSpPr/>
            <p:nvPr/>
          </p:nvSpPr>
          <p:spPr>
            <a:xfrm flipH="false" flipV="false" rot="0">
              <a:off x="0" y="0"/>
              <a:ext cx="6400800" cy="1737360"/>
            </a:xfrm>
            <a:custGeom>
              <a:avLst/>
              <a:gdLst/>
              <a:ahLst/>
              <a:cxnLst/>
              <a:rect r="r" b="b" t="t" l="l"/>
              <a:pathLst>
                <a:path h="1737360" w="6400800">
                  <a:moveTo>
                    <a:pt x="0" y="0"/>
                  </a:moveTo>
                  <a:lnTo>
                    <a:pt x="6400800" y="0"/>
                  </a:lnTo>
                  <a:lnTo>
                    <a:pt x="6400800" y="1737360"/>
                  </a:lnTo>
                  <a:lnTo>
                    <a:pt x="0" y="1737360"/>
                  </a:lnTo>
                  <a:close/>
                </a:path>
              </a:pathLst>
            </a:custGeom>
            <a:blipFill>
              <a:blip r:embed="rId3">
                <a:alphaModFix amt="0"/>
              </a:blip>
              <a:stretch>
                <a:fillRect l="0" t="-21786" r="0" b="-21786"/>
              </a:stretch>
            </a:blipFill>
          </p:spPr>
        </p:sp>
        <p:sp>
          <p:nvSpPr>
            <p:cNvPr name="TextBox 24" id="24"/>
            <p:cNvSpPr txBox="true"/>
            <p:nvPr/>
          </p:nvSpPr>
          <p:spPr>
            <a:xfrm>
              <a:off x="0" y="-47625"/>
              <a:ext cx="6400800" cy="1784985"/>
            </a:xfrm>
            <a:prstGeom prst="rect">
              <a:avLst/>
            </a:prstGeom>
          </p:spPr>
          <p:txBody>
            <a:bodyPr anchor="ctr" rtlCol="false" tIns="0" lIns="0" bIns="0" rIns="0"/>
            <a:lstStyle/>
            <a:p>
              <a:pPr algn="l">
                <a:lnSpc>
                  <a:spcPts val="2520"/>
                </a:lnSpc>
              </a:pPr>
              <a:r>
                <a:rPr lang="en-US" sz="2100">
                  <a:solidFill>
                    <a:srgbClr val="555555"/>
                  </a:solidFill>
                  <a:latin typeface="Calibri (MS)"/>
                  <a:ea typeface="Calibri (MS)"/>
                  <a:cs typeface="Calibri (MS)"/>
                  <a:sym typeface="Calibri (MS)"/>
                </a:rPr>
                <a:t>Represents the virtual surroundings: ground surfaces, structures, obstacles and scene objects.</a:t>
              </a:r>
            </a:p>
          </p:txBody>
        </p:sp>
      </p:grpSp>
      <p:grpSp>
        <p:nvGrpSpPr>
          <p:cNvPr name="Group 25" id="25"/>
          <p:cNvGrpSpPr/>
          <p:nvPr/>
        </p:nvGrpSpPr>
        <p:grpSpPr>
          <a:xfrm rot="0">
            <a:off x="6601587" y="1800987"/>
            <a:ext cx="5436870" cy="3242310"/>
            <a:chOff x="0" y="0"/>
            <a:chExt cx="7249160" cy="4323080"/>
          </a:xfrm>
        </p:grpSpPr>
        <p:sp>
          <p:nvSpPr>
            <p:cNvPr name="Freeform 26" id="26"/>
            <p:cNvSpPr/>
            <p:nvPr/>
          </p:nvSpPr>
          <p:spPr>
            <a:xfrm flipH="false" flipV="false" rot="0">
              <a:off x="0" y="0"/>
              <a:ext cx="7249160" cy="4323080"/>
            </a:xfrm>
            <a:custGeom>
              <a:avLst/>
              <a:gdLst/>
              <a:ahLst/>
              <a:cxnLst/>
              <a:rect r="r" b="b" t="t" l="l"/>
              <a:pathLst>
                <a:path h="4323080" w="7249160">
                  <a:moveTo>
                    <a:pt x="0" y="110363"/>
                  </a:moveTo>
                  <a:cubicBezTo>
                    <a:pt x="0" y="49403"/>
                    <a:pt x="49403" y="0"/>
                    <a:pt x="110363" y="0"/>
                  </a:cubicBezTo>
                  <a:lnTo>
                    <a:pt x="7138797" y="0"/>
                  </a:lnTo>
                  <a:cubicBezTo>
                    <a:pt x="7199757" y="0"/>
                    <a:pt x="7249160" y="49403"/>
                    <a:pt x="7249160" y="110363"/>
                  </a:cubicBezTo>
                  <a:lnTo>
                    <a:pt x="7249160" y="4212717"/>
                  </a:lnTo>
                  <a:cubicBezTo>
                    <a:pt x="7249160" y="4273677"/>
                    <a:pt x="7199757" y="4323080"/>
                    <a:pt x="7138797" y="4323080"/>
                  </a:cubicBezTo>
                  <a:lnTo>
                    <a:pt x="110363" y="4323080"/>
                  </a:lnTo>
                  <a:cubicBezTo>
                    <a:pt x="49403" y="4323080"/>
                    <a:pt x="0" y="4273677"/>
                    <a:pt x="0" y="4212717"/>
                  </a:cubicBezTo>
                  <a:close/>
                </a:path>
              </a:pathLst>
            </a:custGeom>
            <a:solidFill>
              <a:srgbClr val="FFFFFF"/>
            </a:solidFill>
            <a:ln w="19050" cap="sq">
              <a:solidFill>
                <a:srgbClr val="DCDCDC"/>
              </a:solidFill>
              <a:prstDash val="solid"/>
              <a:miter/>
            </a:ln>
          </p:spPr>
        </p:sp>
      </p:grpSp>
      <p:grpSp>
        <p:nvGrpSpPr>
          <p:cNvPr name="Group 27" id="27"/>
          <p:cNvGrpSpPr/>
          <p:nvPr/>
        </p:nvGrpSpPr>
        <p:grpSpPr>
          <a:xfrm rot="0">
            <a:off x="6601587" y="1800987"/>
            <a:ext cx="5436870" cy="94488"/>
            <a:chOff x="0" y="0"/>
            <a:chExt cx="7249160" cy="125984"/>
          </a:xfrm>
        </p:grpSpPr>
        <p:sp>
          <p:nvSpPr>
            <p:cNvPr name="Freeform 28" id="28"/>
            <p:cNvSpPr/>
            <p:nvPr/>
          </p:nvSpPr>
          <p:spPr>
            <a:xfrm flipH="false" flipV="false" rot="0">
              <a:off x="0" y="0"/>
              <a:ext cx="7249160" cy="125984"/>
            </a:xfrm>
            <a:custGeom>
              <a:avLst/>
              <a:gdLst/>
              <a:ahLst/>
              <a:cxnLst/>
              <a:rect r="r" b="b" t="t" l="l"/>
              <a:pathLst>
                <a:path h="125984" w="7249160">
                  <a:moveTo>
                    <a:pt x="0" y="0"/>
                  </a:moveTo>
                  <a:lnTo>
                    <a:pt x="7249160" y="0"/>
                  </a:lnTo>
                  <a:lnTo>
                    <a:pt x="7249160" y="125984"/>
                  </a:lnTo>
                  <a:lnTo>
                    <a:pt x="0" y="125984"/>
                  </a:lnTo>
                  <a:close/>
                </a:path>
              </a:pathLst>
            </a:custGeom>
            <a:solidFill>
              <a:srgbClr val="FF8A80"/>
            </a:solidFill>
            <a:ln w="19050" cap="sq">
              <a:solidFill>
                <a:srgbClr val="333333"/>
              </a:solidFill>
              <a:prstDash val="solid"/>
              <a:miter/>
            </a:ln>
          </p:spPr>
        </p:sp>
      </p:grpSp>
      <p:grpSp>
        <p:nvGrpSpPr>
          <p:cNvPr name="Group 29" id="29"/>
          <p:cNvGrpSpPr/>
          <p:nvPr/>
        </p:nvGrpSpPr>
        <p:grpSpPr>
          <a:xfrm rot="0">
            <a:off x="6912864" y="2153412"/>
            <a:ext cx="4800600" cy="384048"/>
            <a:chOff x="0" y="0"/>
            <a:chExt cx="6400800" cy="512064"/>
          </a:xfrm>
        </p:grpSpPr>
        <p:sp>
          <p:nvSpPr>
            <p:cNvPr name="Freeform 30" id="30"/>
            <p:cNvSpPr/>
            <p:nvPr/>
          </p:nvSpPr>
          <p:spPr>
            <a:xfrm flipH="false" flipV="false" rot="0">
              <a:off x="0" y="0"/>
              <a:ext cx="6400800" cy="512064"/>
            </a:xfrm>
            <a:custGeom>
              <a:avLst/>
              <a:gdLst/>
              <a:ahLst/>
              <a:cxnLst/>
              <a:rect r="r" b="b" t="t" l="l"/>
              <a:pathLst>
                <a:path h="512064" w="6400800">
                  <a:moveTo>
                    <a:pt x="0" y="0"/>
                  </a:moveTo>
                  <a:lnTo>
                    <a:pt x="6400800" y="0"/>
                  </a:lnTo>
                  <a:lnTo>
                    <a:pt x="6400800" y="512064"/>
                  </a:lnTo>
                  <a:lnTo>
                    <a:pt x="0" y="512064"/>
                  </a:lnTo>
                  <a:close/>
                </a:path>
              </a:pathLst>
            </a:custGeom>
            <a:blipFill>
              <a:blip r:embed="rId3">
                <a:alphaModFix amt="0"/>
              </a:blip>
              <a:stretch>
                <a:fillRect l="0" t="-193562" r="0" b="-193562"/>
              </a:stretch>
            </a:blipFill>
          </p:spPr>
        </p:sp>
        <p:sp>
          <p:nvSpPr>
            <p:cNvPr name="TextBox 31" id="31"/>
            <p:cNvSpPr txBox="true"/>
            <p:nvPr/>
          </p:nvSpPr>
          <p:spPr>
            <a:xfrm>
              <a:off x="0" y="-38100"/>
              <a:ext cx="6400800" cy="550164"/>
            </a:xfrm>
            <a:prstGeom prst="rect">
              <a:avLst/>
            </a:prstGeom>
          </p:spPr>
          <p:txBody>
            <a:bodyPr anchor="ctr" rtlCol="false" tIns="0" lIns="0" bIns="0" rIns="0"/>
            <a:lstStyle/>
            <a:p>
              <a:pPr algn="l">
                <a:lnSpc>
                  <a:spcPts val="2160"/>
                </a:lnSpc>
              </a:pPr>
              <a:r>
                <a:rPr lang="en-US" sz="1800">
                  <a:solidFill>
                    <a:srgbClr val="6B6B6B"/>
                  </a:solidFill>
                  <a:latin typeface="Calibri (MS)"/>
                  <a:ea typeface="Calibri (MS)"/>
                  <a:cs typeface="Calibri (MS)"/>
                  <a:sym typeface="Calibri (MS)"/>
                </a:rPr>
                <a:t>LAYER  02</a:t>
              </a:r>
            </a:p>
          </p:txBody>
        </p:sp>
      </p:grpSp>
      <p:grpSp>
        <p:nvGrpSpPr>
          <p:cNvPr name="Group 32" id="32"/>
          <p:cNvGrpSpPr/>
          <p:nvPr/>
        </p:nvGrpSpPr>
        <p:grpSpPr>
          <a:xfrm rot="0">
            <a:off x="6912864" y="2564892"/>
            <a:ext cx="4800600" cy="548640"/>
            <a:chOff x="0" y="0"/>
            <a:chExt cx="6400800" cy="731520"/>
          </a:xfrm>
        </p:grpSpPr>
        <p:sp>
          <p:nvSpPr>
            <p:cNvPr name="Freeform 33" id="33"/>
            <p:cNvSpPr/>
            <p:nvPr/>
          </p:nvSpPr>
          <p:spPr>
            <a:xfrm flipH="false" flipV="false" rot="0">
              <a:off x="0" y="0"/>
              <a:ext cx="6400800" cy="731520"/>
            </a:xfrm>
            <a:custGeom>
              <a:avLst/>
              <a:gdLst/>
              <a:ahLst/>
              <a:cxnLst/>
              <a:rect r="r" b="b" t="t" l="l"/>
              <a:pathLst>
                <a:path h="731520" w="6400800">
                  <a:moveTo>
                    <a:pt x="0" y="0"/>
                  </a:moveTo>
                  <a:lnTo>
                    <a:pt x="6400800" y="0"/>
                  </a:lnTo>
                  <a:lnTo>
                    <a:pt x="6400800" y="731520"/>
                  </a:lnTo>
                  <a:lnTo>
                    <a:pt x="0" y="731520"/>
                  </a:lnTo>
                  <a:close/>
                </a:path>
              </a:pathLst>
            </a:custGeom>
            <a:blipFill>
              <a:blip r:embed="rId3">
                <a:alphaModFix amt="0"/>
              </a:blip>
              <a:stretch>
                <a:fillRect l="0" t="-120494" r="0" b="-120494"/>
              </a:stretch>
            </a:blipFill>
          </p:spPr>
        </p:sp>
        <p:sp>
          <p:nvSpPr>
            <p:cNvPr name="TextBox 34" id="34"/>
            <p:cNvSpPr txBox="true"/>
            <p:nvPr/>
          </p:nvSpPr>
          <p:spPr>
            <a:xfrm>
              <a:off x="0" y="-38100"/>
              <a:ext cx="6400800" cy="769620"/>
            </a:xfrm>
            <a:prstGeom prst="rect">
              <a:avLst/>
            </a:prstGeom>
          </p:spPr>
          <p:txBody>
            <a:bodyPr anchor="ctr" rtlCol="false" tIns="0" lIns="0" bIns="0" rIns="0"/>
            <a:lstStyle/>
            <a:p>
              <a:pPr algn="l">
                <a:lnSpc>
                  <a:spcPts val="2879"/>
                </a:lnSpc>
              </a:pPr>
              <a:r>
                <a:rPr lang="en-US" sz="2400" b="true">
                  <a:solidFill>
                    <a:srgbClr val="2B2B2B"/>
                  </a:solidFill>
                  <a:latin typeface="Calibri (MS) Bold"/>
                  <a:ea typeface="Calibri (MS) Bold"/>
                  <a:cs typeface="Calibri (MS) Bold"/>
                  <a:sym typeface="Calibri (MS) Bold"/>
                </a:rPr>
                <a:t>Capture layer</a:t>
              </a:r>
            </a:p>
          </p:txBody>
        </p:sp>
      </p:grpSp>
      <p:grpSp>
        <p:nvGrpSpPr>
          <p:cNvPr name="Group 35" id="35"/>
          <p:cNvGrpSpPr/>
          <p:nvPr/>
        </p:nvGrpSpPr>
        <p:grpSpPr>
          <a:xfrm rot="0">
            <a:off x="6912864" y="3319272"/>
            <a:ext cx="4800600" cy="1303020"/>
            <a:chOff x="0" y="0"/>
            <a:chExt cx="6400800" cy="1737360"/>
          </a:xfrm>
        </p:grpSpPr>
        <p:sp>
          <p:nvSpPr>
            <p:cNvPr name="Freeform 36" id="36"/>
            <p:cNvSpPr/>
            <p:nvPr/>
          </p:nvSpPr>
          <p:spPr>
            <a:xfrm flipH="false" flipV="false" rot="0">
              <a:off x="0" y="0"/>
              <a:ext cx="6400800" cy="1737360"/>
            </a:xfrm>
            <a:custGeom>
              <a:avLst/>
              <a:gdLst/>
              <a:ahLst/>
              <a:cxnLst/>
              <a:rect r="r" b="b" t="t" l="l"/>
              <a:pathLst>
                <a:path h="1737360" w="6400800">
                  <a:moveTo>
                    <a:pt x="0" y="0"/>
                  </a:moveTo>
                  <a:lnTo>
                    <a:pt x="6400800" y="0"/>
                  </a:lnTo>
                  <a:lnTo>
                    <a:pt x="6400800" y="1737360"/>
                  </a:lnTo>
                  <a:lnTo>
                    <a:pt x="0" y="1737360"/>
                  </a:lnTo>
                  <a:close/>
                </a:path>
              </a:pathLst>
            </a:custGeom>
            <a:blipFill>
              <a:blip r:embed="rId3">
                <a:alphaModFix amt="0"/>
              </a:blip>
              <a:stretch>
                <a:fillRect l="0" t="-21786" r="0" b="-21786"/>
              </a:stretch>
            </a:blipFill>
          </p:spPr>
        </p:sp>
        <p:sp>
          <p:nvSpPr>
            <p:cNvPr name="TextBox 37" id="37"/>
            <p:cNvSpPr txBox="true"/>
            <p:nvPr/>
          </p:nvSpPr>
          <p:spPr>
            <a:xfrm>
              <a:off x="0" y="-47625"/>
              <a:ext cx="6400800" cy="1784985"/>
            </a:xfrm>
            <a:prstGeom prst="rect">
              <a:avLst/>
            </a:prstGeom>
          </p:spPr>
          <p:txBody>
            <a:bodyPr anchor="ctr" rtlCol="false" tIns="0" lIns="0" bIns="0" rIns="0"/>
            <a:lstStyle/>
            <a:p>
              <a:pPr algn="l">
                <a:lnSpc>
                  <a:spcPts val="2520"/>
                </a:lnSpc>
              </a:pPr>
              <a:r>
                <a:rPr lang="en-US" sz="2100">
                  <a:solidFill>
                    <a:srgbClr val="555555"/>
                  </a:solidFill>
                  <a:latin typeface="Calibri (MS)"/>
                  <a:ea typeface="Calibri (MS)"/>
                  <a:cs typeface="Calibri (MS)"/>
                  <a:sym typeface="Calibri (MS)"/>
                </a:rPr>
                <a:t>Captures the rendered environment through the virtual camera feed, ECHO_VISION_CameraFeed (256 × 256).</a:t>
              </a:r>
            </a:p>
          </p:txBody>
        </p:sp>
      </p:grpSp>
      <p:grpSp>
        <p:nvGrpSpPr>
          <p:cNvPr name="Group 38" id="38"/>
          <p:cNvGrpSpPr/>
          <p:nvPr/>
        </p:nvGrpSpPr>
        <p:grpSpPr>
          <a:xfrm rot="0">
            <a:off x="12252579" y="1800987"/>
            <a:ext cx="5436870" cy="3242310"/>
            <a:chOff x="0" y="0"/>
            <a:chExt cx="7249160" cy="4323080"/>
          </a:xfrm>
        </p:grpSpPr>
        <p:sp>
          <p:nvSpPr>
            <p:cNvPr name="Freeform 39" id="39"/>
            <p:cNvSpPr/>
            <p:nvPr/>
          </p:nvSpPr>
          <p:spPr>
            <a:xfrm flipH="false" flipV="false" rot="0">
              <a:off x="0" y="0"/>
              <a:ext cx="7249160" cy="4323080"/>
            </a:xfrm>
            <a:custGeom>
              <a:avLst/>
              <a:gdLst/>
              <a:ahLst/>
              <a:cxnLst/>
              <a:rect r="r" b="b" t="t" l="l"/>
              <a:pathLst>
                <a:path h="4323080" w="7249160">
                  <a:moveTo>
                    <a:pt x="0" y="110363"/>
                  </a:moveTo>
                  <a:cubicBezTo>
                    <a:pt x="0" y="49403"/>
                    <a:pt x="49403" y="0"/>
                    <a:pt x="110363" y="0"/>
                  </a:cubicBezTo>
                  <a:lnTo>
                    <a:pt x="7138797" y="0"/>
                  </a:lnTo>
                  <a:cubicBezTo>
                    <a:pt x="7199757" y="0"/>
                    <a:pt x="7249160" y="49403"/>
                    <a:pt x="7249160" y="110363"/>
                  </a:cubicBezTo>
                  <a:lnTo>
                    <a:pt x="7249160" y="4212717"/>
                  </a:lnTo>
                  <a:cubicBezTo>
                    <a:pt x="7249160" y="4273677"/>
                    <a:pt x="7199757" y="4323080"/>
                    <a:pt x="7138797" y="4323080"/>
                  </a:cubicBezTo>
                  <a:lnTo>
                    <a:pt x="110363" y="4323080"/>
                  </a:lnTo>
                  <a:cubicBezTo>
                    <a:pt x="49403" y="4323080"/>
                    <a:pt x="0" y="4273677"/>
                    <a:pt x="0" y="4212717"/>
                  </a:cubicBezTo>
                  <a:close/>
                </a:path>
              </a:pathLst>
            </a:custGeom>
            <a:solidFill>
              <a:srgbClr val="FFFFFF"/>
            </a:solidFill>
            <a:ln w="19050" cap="sq">
              <a:solidFill>
                <a:srgbClr val="DCDCDC"/>
              </a:solidFill>
              <a:prstDash val="solid"/>
              <a:miter/>
            </a:ln>
          </p:spPr>
        </p:sp>
      </p:grpSp>
      <p:grpSp>
        <p:nvGrpSpPr>
          <p:cNvPr name="Group 40" id="40"/>
          <p:cNvGrpSpPr/>
          <p:nvPr/>
        </p:nvGrpSpPr>
        <p:grpSpPr>
          <a:xfrm rot="0">
            <a:off x="12252579" y="1800987"/>
            <a:ext cx="5436870" cy="94488"/>
            <a:chOff x="0" y="0"/>
            <a:chExt cx="7249160" cy="125984"/>
          </a:xfrm>
        </p:grpSpPr>
        <p:sp>
          <p:nvSpPr>
            <p:cNvPr name="Freeform 41" id="41"/>
            <p:cNvSpPr/>
            <p:nvPr/>
          </p:nvSpPr>
          <p:spPr>
            <a:xfrm flipH="false" flipV="false" rot="0">
              <a:off x="0" y="0"/>
              <a:ext cx="7249160" cy="125984"/>
            </a:xfrm>
            <a:custGeom>
              <a:avLst/>
              <a:gdLst/>
              <a:ahLst/>
              <a:cxnLst/>
              <a:rect r="r" b="b" t="t" l="l"/>
              <a:pathLst>
                <a:path h="125984" w="7249160">
                  <a:moveTo>
                    <a:pt x="0" y="0"/>
                  </a:moveTo>
                  <a:lnTo>
                    <a:pt x="7249160" y="0"/>
                  </a:lnTo>
                  <a:lnTo>
                    <a:pt x="7249160" y="125984"/>
                  </a:lnTo>
                  <a:lnTo>
                    <a:pt x="0" y="125984"/>
                  </a:lnTo>
                  <a:close/>
                </a:path>
              </a:pathLst>
            </a:custGeom>
            <a:solidFill>
              <a:srgbClr val="FF8A80"/>
            </a:solidFill>
            <a:ln w="19050" cap="sq">
              <a:solidFill>
                <a:srgbClr val="333333"/>
              </a:solidFill>
              <a:prstDash val="solid"/>
              <a:miter/>
            </a:ln>
          </p:spPr>
        </p:sp>
      </p:grpSp>
      <p:grpSp>
        <p:nvGrpSpPr>
          <p:cNvPr name="Group 42" id="42"/>
          <p:cNvGrpSpPr/>
          <p:nvPr/>
        </p:nvGrpSpPr>
        <p:grpSpPr>
          <a:xfrm rot="0">
            <a:off x="12563856" y="2153412"/>
            <a:ext cx="4800600" cy="384048"/>
            <a:chOff x="0" y="0"/>
            <a:chExt cx="6400800" cy="512064"/>
          </a:xfrm>
        </p:grpSpPr>
        <p:sp>
          <p:nvSpPr>
            <p:cNvPr name="Freeform 43" id="43"/>
            <p:cNvSpPr/>
            <p:nvPr/>
          </p:nvSpPr>
          <p:spPr>
            <a:xfrm flipH="false" flipV="false" rot="0">
              <a:off x="0" y="0"/>
              <a:ext cx="6400800" cy="512064"/>
            </a:xfrm>
            <a:custGeom>
              <a:avLst/>
              <a:gdLst/>
              <a:ahLst/>
              <a:cxnLst/>
              <a:rect r="r" b="b" t="t" l="l"/>
              <a:pathLst>
                <a:path h="512064" w="6400800">
                  <a:moveTo>
                    <a:pt x="0" y="0"/>
                  </a:moveTo>
                  <a:lnTo>
                    <a:pt x="6400800" y="0"/>
                  </a:lnTo>
                  <a:lnTo>
                    <a:pt x="6400800" y="512064"/>
                  </a:lnTo>
                  <a:lnTo>
                    <a:pt x="0" y="512064"/>
                  </a:lnTo>
                  <a:close/>
                </a:path>
              </a:pathLst>
            </a:custGeom>
            <a:blipFill>
              <a:blip r:embed="rId3">
                <a:alphaModFix amt="0"/>
              </a:blip>
              <a:stretch>
                <a:fillRect l="0" t="-193562" r="0" b="-193562"/>
              </a:stretch>
            </a:blipFill>
          </p:spPr>
        </p:sp>
        <p:sp>
          <p:nvSpPr>
            <p:cNvPr name="TextBox 44" id="44"/>
            <p:cNvSpPr txBox="true"/>
            <p:nvPr/>
          </p:nvSpPr>
          <p:spPr>
            <a:xfrm>
              <a:off x="0" y="-38100"/>
              <a:ext cx="6400800" cy="550164"/>
            </a:xfrm>
            <a:prstGeom prst="rect">
              <a:avLst/>
            </a:prstGeom>
          </p:spPr>
          <p:txBody>
            <a:bodyPr anchor="ctr" rtlCol="false" tIns="0" lIns="0" bIns="0" rIns="0"/>
            <a:lstStyle/>
            <a:p>
              <a:pPr algn="l">
                <a:lnSpc>
                  <a:spcPts val="2160"/>
                </a:lnSpc>
              </a:pPr>
              <a:r>
                <a:rPr lang="en-US" sz="1800">
                  <a:solidFill>
                    <a:srgbClr val="6B6B6B"/>
                  </a:solidFill>
                  <a:latin typeface="Calibri (MS)"/>
                  <a:ea typeface="Calibri (MS)"/>
                  <a:cs typeface="Calibri (MS)"/>
                  <a:sym typeface="Calibri (MS)"/>
                </a:rPr>
                <a:t>LAYER  03</a:t>
              </a:r>
            </a:p>
          </p:txBody>
        </p:sp>
      </p:grpSp>
      <p:grpSp>
        <p:nvGrpSpPr>
          <p:cNvPr name="Group 45" id="45"/>
          <p:cNvGrpSpPr/>
          <p:nvPr/>
        </p:nvGrpSpPr>
        <p:grpSpPr>
          <a:xfrm rot="0">
            <a:off x="12563856" y="2564892"/>
            <a:ext cx="4800600" cy="548640"/>
            <a:chOff x="0" y="0"/>
            <a:chExt cx="6400800" cy="731520"/>
          </a:xfrm>
        </p:grpSpPr>
        <p:sp>
          <p:nvSpPr>
            <p:cNvPr name="Freeform 46" id="46"/>
            <p:cNvSpPr/>
            <p:nvPr/>
          </p:nvSpPr>
          <p:spPr>
            <a:xfrm flipH="false" flipV="false" rot="0">
              <a:off x="0" y="0"/>
              <a:ext cx="6400800" cy="731520"/>
            </a:xfrm>
            <a:custGeom>
              <a:avLst/>
              <a:gdLst/>
              <a:ahLst/>
              <a:cxnLst/>
              <a:rect r="r" b="b" t="t" l="l"/>
              <a:pathLst>
                <a:path h="731520" w="6400800">
                  <a:moveTo>
                    <a:pt x="0" y="0"/>
                  </a:moveTo>
                  <a:lnTo>
                    <a:pt x="6400800" y="0"/>
                  </a:lnTo>
                  <a:lnTo>
                    <a:pt x="6400800" y="731520"/>
                  </a:lnTo>
                  <a:lnTo>
                    <a:pt x="0" y="731520"/>
                  </a:lnTo>
                  <a:close/>
                </a:path>
              </a:pathLst>
            </a:custGeom>
            <a:blipFill>
              <a:blip r:embed="rId3">
                <a:alphaModFix amt="0"/>
              </a:blip>
              <a:stretch>
                <a:fillRect l="0" t="-120494" r="0" b="-120494"/>
              </a:stretch>
            </a:blipFill>
          </p:spPr>
        </p:sp>
        <p:sp>
          <p:nvSpPr>
            <p:cNvPr name="TextBox 47" id="47"/>
            <p:cNvSpPr txBox="true"/>
            <p:nvPr/>
          </p:nvSpPr>
          <p:spPr>
            <a:xfrm>
              <a:off x="0" y="-38100"/>
              <a:ext cx="6400800" cy="769620"/>
            </a:xfrm>
            <a:prstGeom prst="rect">
              <a:avLst/>
            </a:prstGeom>
          </p:spPr>
          <p:txBody>
            <a:bodyPr anchor="ctr" rtlCol="false" tIns="0" lIns="0" bIns="0" rIns="0"/>
            <a:lstStyle/>
            <a:p>
              <a:pPr algn="l">
                <a:lnSpc>
                  <a:spcPts val="2879"/>
                </a:lnSpc>
              </a:pPr>
              <a:r>
                <a:rPr lang="en-US" sz="2400" b="true">
                  <a:solidFill>
                    <a:srgbClr val="2B2B2B"/>
                  </a:solidFill>
                  <a:latin typeface="Calibri (MS) Bold"/>
                  <a:ea typeface="Calibri (MS) Bold"/>
                  <a:cs typeface="Calibri (MS) Bold"/>
                  <a:sym typeface="Calibri (MS) Bold"/>
                </a:rPr>
                <a:t>Virtual sensing layer</a:t>
              </a:r>
            </a:p>
          </p:txBody>
        </p:sp>
      </p:grpSp>
      <p:grpSp>
        <p:nvGrpSpPr>
          <p:cNvPr name="Group 48" id="48"/>
          <p:cNvGrpSpPr/>
          <p:nvPr/>
        </p:nvGrpSpPr>
        <p:grpSpPr>
          <a:xfrm rot="0">
            <a:off x="12563856" y="3319272"/>
            <a:ext cx="4800600" cy="1303020"/>
            <a:chOff x="0" y="0"/>
            <a:chExt cx="6400800" cy="1737360"/>
          </a:xfrm>
        </p:grpSpPr>
        <p:sp>
          <p:nvSpPr>
            <p:cNvPr name="Freeform 49" id="49"/>
            <p:cNvSpPr/>
            <p:nvPr/>
          </p:nvSpPr>
          <p:spPr>
            <a:xfrm flipH="false" flipV="false" rot="0">
              <a:off x="0" y="0"/>
              <a:ext cx="6400800" cy="1737360"/>
            </a:xfrm>
            <a:custGeom>
              <a:avLst/>
              <a:gdLst/>
              <a:ahLst/>
              <a:cxnLst/>
              <a:rect r="r" b="b" t="t" l="l"/>
              <a:pathLst>
                <a:path h="1737360" w="6400800">
                  <a:moveTo>
                    <a:pt x="0" y="0"/>
                  </a:moveTo>
                  <a:lnTo>
                    <a:pt x="6400800" y="0"/>
                  </a:lnTo>
                  <a:lnTo>
                    <a:pt x="6400800" y="1737360"/>
                  </a:lnTo>
                  <a:lnTo>
                    <a:pt x="0" y="1737360"/>
                  </a:lnTo>
                  <a:close/>
                </a:path>
              </a:pathLst>
            </a:custGeom>
            <a:blipFill>
              <a:blip r:embed="rId3">
                <a:alphaModFix amt="0"/>
              </a:blip>
              <a:stretch>
                <a:fillRect l="0" t="-21786" r="0" b="-21786"/>
              </a:stretch>
            </a:blipFill>
          </p:spPr>
        </p:sp>
        <p:sp>
          <p:nvSpPr>
            <p:cNvPr name="TextBox 50" id="50"/>
            <p:cNvSpPr txBox="true"/>
            <p:nvPr/>
          </p:nvSpPr>
          <p:spPr>
            <a:xfrm>
              <a:off x="0" y="-47625"/>
              <a:ext cx="6400800" cy="1784985"/>
            </a:xfrm>
            <a:prstGeom prst="rect">
              <a:avLst/>
            </a:prstGeom>
          </p:spPr>
          <p:txBody>
            <a:bodyPr anchor="ctr" rtlCol="false" tIns="0" lIns="0" bIns="0" rIns="0"/>
            <a:lstStyle/>
            <a:p>
              <a:pPr algn="l">
                <a:lnSpc>
                  <a:spcPts val="2520"/>
                </a:lnSpc>
              </a:pPr>
              <a:r>
                <a:rPr lang="en-US" sz="2100">
                  <a:solidFill>
                    <a:srgbClr val="555555"/>
                  </a:solidFill>
                  <a:latin typeface="Calibri (MS)"/>
                  <a:ea typeface="Calibri (MS)"/>
                  <a:cs typeface="Calibri (MS)"/>
                  <a:sym typeface="Calibri (MS)"/>
                </a:rPr>
                <a:t>ECHO_VISION_RangeSensor acquires the rendered output and runs the scanning logic.</a:t>
              </a:r>
            </a:p>
          </p:txBody>
        </p:sp>
      </p:grpSp>
      <p:grpSp>
        <p:nvGrpSpPr>
          <p:cNvPr name="Group 51" id="51"/>
          <p:cNvGrpSpPr/>
          <p:nvPr/>
        </p:nvGrpSpPr>
        <p:grpSpPr>
          <a:xfrm rot="0">
            <a:off x="950595" y="5367147"/>
            <a:ext cx="5436870" cy="3242310"/>
            <a:chOff x="0" y="0"/>
            <a:chExt cx="7249160" cy="4323080"/>
          </a:xfrm>
        </p:grpSpPr>
        <p:sp>
          <p:nvSpPr>
            <p:cNvPr name="Freeform 52" id="52"/>
            <p:cNvSpPr/>
            <p:nvPr/>
          </p:nvSpPr>
          <p:spPr>
            <a:xfrm flipH="false" flipV="false" rot="0">
              <a:off x="0" y="0"/>
              <a:ext cx="7249160" cy="4323080"/>
            </a:xfrm>
            <a:custGeom>
              <a:avLst/>
              <a:gdLst/>
              <a:ahLst/>
              <a:cxnLst/>
              <a:rect r="r" b="b" t="t" l="l"/>
              <a:pathLst>
                <a:path h="4323080" w="7249160">
                  <a:moveTo>
                    <a:pt x="0" y="110363"/>
                  </a:moveTo>
                  <a:cubicBezTo>
                    <a:pt x="0" y="49403"/>
                    <a:pt x="49403" y="0"/>
                    <a:pt x="110363" y="0"/>
                  </a:cubicBezTo>
                  <a:lnTo>
                    <a:pt x="7138797" y="0"/>
                  </a:lnTo>
                  <a:cubicBezTo>
                    <a:pt x="7199757" y="0"/>
                    <a:pt x="7249160" y="49403"/>
                    <a:pt x="7249160" y="110363"/>
                  </a:cubicBezTo>
                  <a:lnTo>
                    <a:pt x="7249160" y="4212717"/>
                  </a:lnTo>
                  <a:cubicBezTo>
                    <a:pt x="7249160" y="4273677"/>
                    <a:pt x="7199757" y="4323080"/>
                    <a:pt x="7138797" y="4323080"/>
                  </a:cubicBezTo>
                  <a:lnTo>
                    <a:pt x="110363" y="4323080"/>
                  </a:lnTo>
                  <a:cubicBezTo>
                    <a:pt x="49403" y="4323080"/>
                    <a:pt x="0" y="4273677"/>
                    <a:pt x="0" y="4212717"/>
                  </a:cubicBezTo>
                  <a:close/>
                </a:path>
              </a:pathLst>
            </a:custGeom>
            <a:solidFill>
              <a:srgbClr val="FFFFFF"/>
            </a:solidFill>
            <a:ln w="19050" cap="sq">
              <a:solidFill>
                <a:srgbClr val="DCDCDC"/>
              </a:solidFill>
              <a:prstDash val="solid"/>
              <a:miter/>
            </a:ln>
          </p:spPr>
        </p:sp>
      </p:grpSp>
      <p:grpSp>
        <p:nvGrpSpPr>
          <p:cNvPr name="Group 53" id="53"/>
          <p:cNvGrpSpPr/>
          <p:nvPr/>
        </p:nvGrpSpPr>
        <p:grpSpPr>
          <a:xfrm rot="0">
            <a:off x="950595" y="5367147"/>
            <a:ext cx="5436870" cy="94488"/>
            <a:chOff x="0" y="0"/>
            <a:chExt cx="7249160" cy="125984"/>
          </a:xfrm>
        </p:grpSpPr>
        <p:sp>
          <p:nvSpPr>
            <p:cNvPr name="Freeform 54" id="54"/>
            <p:cNvSpPr/>
            <p:nvPr/>
          </p:nvSpPr>
          <p:spPr>
            <a:xfrm flipH="false" flipV="false" rot="0">
              <a:off x="0" y="0"/>
              <a:ext cx="7249160" cy="125984"/>
            </a:xfrm>
            <a:custGeom>
              <a:avLst/>
              <a:gdLst/>
              <a:ahLst/>
              <a:cxnLst/>
              <a:rect r="r" b="b" t="t" l="l"/>
              <a:pathLst>
                <a:path h="125984" w="7249160">
                  <a:moveTo>
                    <a:pt x="0" y="0"/>
                  </a:moveTo>
                  <a:lnTo>
                    <a:pt x="7249160" y="0"/>
                  </a:lnTo>
                  <a:lnTo>
                    <a:pt x="7249160" y="125984"/>
                  </a:lnTo>
                  <a:lnTo>
                    <a:pt x="0" y="125984"/>
                  </a:lnTo>
                  <a:close/>
                </a:path>
              </a:pathLst>
            </a:custGeom>
            <a:solidFill>
              <a:srgbClr val="FF8A80"/>
            </a:solidFill>
            <a:ln w="19050" cap="sq">
              <a:solidFill>
                <a:srgbClr val="333333"/>
              </a:solidFill>
              <a:prstDash val="solid"/>
              <a:miter/>
            </a:ln>
          </p:spPr>
        </p:sp>
      </p:grpSp>
      <p:grpSp>
        <p:nvGrpSpPr>
          <p:cNvPr name="Group 55" id="55"/>
          <p:cNvGrpSpPr/>
          <p:nvPr/>
        </p:nvGrpSpPr>
        <p:grpSpPr>
          <a:xfrm rot="0">
            <a:off x="1261872" y="5719572"/>
            <a:ext cx="4800600" cy="384048"/>
            <a:chOff x="0" y="0"/>
            <a:chExt cx="6400800" cy="512064"/>
          </a:xfrm>
        </p:grpSpPr>
        <p:sp>
          <p:nvSpPr>
            <p:cNvPr name="Freeform 56" id="56"/>
            <p:cNvSpPr/>
            <p:nvPr/>
          </p:nvSpPr>
          <p:spPr>
            <a:xfrm flipH="false" flipV="false" rot="0">
              <a:off x="0" y="0"/>
              <a:ext cx="6400800" cy="512064"/>
            </a:xfrm>
            <a:custGeom>
              <a:avLst/>
              <a:gdLst/>
              <a:ahLst/>
              <a:cxnLst/>
              <a:rect r="r" b="b" t="t" l="l"/>
              <a:pathLst>
                <a:path h="512064" w="6400800">
                  <a:moveTo>
                    <a:pt x="0" y="0"/>
                  </a:moveTo>
                  <a:lnTo>
                    <a:pt x="6400800" y="0"/>
                  </a:lnTo>
                  <a:lnTo>
                    <a:pt x="6400800" y="512064"/>
                  </a:lnTo>
                  <a:lnTo>
                    <a:pt x="0" y="512064"/>
                  </a:lnTo>
                  <a:close/>
                </a:path>
              </a:pathLst>
            </a:custGeom>
            <a:blipFill>
              <a:blip r:embed="rId3">
                <a:alphaModFix amt="0"/>
              </a:blip>
              <a:stretch>
                <a:fillRect l="0" t="-193562" r="0" b="-193562"/>
              </a:stretch>
            </a:blipFill>
          </p:spPr>
        </p:sp>
        <p:sp>
          <p:nvSpPr>
            <p:cNvPr name="TextBox 57" id="57"/>
            <p:cNvSpPr txBox="true"/>
            <p:nvPr/>
          </p:nvSpPr>
          <p:spPr>
            <a:xfrm>
              <a:off x="0" y="-38100"/>
              <a:ext cx="6400800" cy="550164"/>
            </a:xfrm>
            <a:prstGeom prst="rect">
              <a:avLst/>
            </a:prstGeom>
          </p:spPr>
          <p:txBody>
            <a:bodyPr anchor="ctr" rtlCol="false" tIns="0" lIns="0" bIns="0" rIns="0"/>
            <a:lstStyle/>
            <a:p>
              <a:pPr algn="l">
                <a:lnSpc>
                  <a:spcPts val="2160"/>
                </a:lnSpc>
              </a:pPr>
              <a:r>
                <a:rPr lang="en-US" sz="1800">
                  <a:solidFill>
                    <a:srgbClr val="6B6B6B"/>
                  </a:solidFill>
                  <a:latin typeface="Calibri (MS)"/>
                  <a:ea typeface="Calibri (MS)"/>
                  <a:cs typeface="Calibri (MS)"/>
                  <a:sym typeface="Calibri (MS)"/>
                </a:rPr>
                <a:t>LAYER  04</a:t>
              </a:r>
            </a:p>
          </p:txBody>
        </p:sp>
      </p:grpSp>
      <p:grpSp>
        <p:nvGrpSpPr>
          <p:cNvPr name="Group 58" id="58"/>
          <p:cNvGrpSpPr/>
          <p:nvPr/>
        </p:nvGrpSpPr>
        <p:grpSpPr>
          <a:xfrm rot="0">
            <a:off x="1261872" y="6131052"/>
            <a:ext cx="4800600" cy="548640"/>
            <a:chOff x="0" y="0"/>
            <a:chExt cx="6400800" cy="731520"/>
          </a:xfrm>
        </p:grpSpPr>
        <p:sp>
          <p:nvSpPr>
            <p:cNvPr name="Freeform 59" id="59"/>
            <p:cNvSpPr/>
            <p:nvPr/>
          </p:nvSpPr>
          <p:spPr>
            <a:xfrm flipH="false" flipV="false" rot="0">
              <a:off x="0" y="0"/>
              <a:ext cx="6400800" cy="731520"/>
            </a:xfrm>
            <a:custGeom>
              <a:avLst/>
              <a:gdLst/>
              <a:ahLst/>
              <a:cxnLst/>
              <a:rect r="r" b="b" t="t" l="l"/>
              <a:pathLst>
                <a:path h="731520" w="6400800">
                  <a:moveTo>
                    <a:pt x="0" y="0"/>
                  </a:moveTo>
                  <a:lnTo>
                    <a:pt x="6400800" y="0"/>
                  </a:lnTo>
                  <a:lnTo>
                    <a:pt x="6400800" y="731520"/>
                  </a:lnTo>
                  <a:lnTo>
                    <a:pt x="0" y="731520"/>
                  </a:lnTo>
                  <a:close/>
                </a:path>
              </a:pathLst>
            </a:custGeom>
            <a:blipFill>
              <a:blip r:embed="rId3">
                <a:alphaModFix amt="0"/>
              </a:blip>
              <a:stretch>
                <a:fillRect l="0" t="-120494" r="0" b="-120494"/>
              </a:stretch>
            </a:blipFill>
          </p:spPr>
        </p:sp>
        <p:sp>
          <p:nvSpPr>
            <p:cNvPr name="TextBox 60" id="60"/>
            <p:cNvSpPr txBox="true"/>
            <p:nvPr/>
          </p:nvSpPr>
          <p:spPr>
            <a:xfrm>
              <a:off x="0" y="-38100"/>
              <a:ext cx="6400800" cy="769620"/>
            </a:xfrm>
            <a:prstGeom prst="rect">
              <a:avLst/>
            </a:prstGeom>
          </p:spPr>
          <p:txBody>
            <a:bodyPr anchor="ctr" rtlCol="false" tIns="0" lIns="0" bIns="0" rIns="0"/>
            <a:lstStyle/>
            <a:p>
              <a:pPr algn="l">
                <a:lnSpc>
                  <a:spcPts val="2879"/>
                </a:lnSpc>
              </a:pPr>
              <a:r>
                <a:rPr lang="en-US" sz="2400" b="true">
                  <a:solidFill>
                    <a:srgbClr val="2B2B2B"/>
                  </a:solidFill>
                  <a:latin typeface="Calibri (MS) Bold"/>
                  <a:ea typeface="Calibri (MS) Bold"/>
                  <a:cs typeface="Calibri (MS) Bold"/>
                  <a:sym typeface="Calibri (MS) Bold"/>
                </a:rPr>
                <a:t>Perception layer</a:t>
              </a:r>
            </a:p>
          </p:txBody>
        </p:sp>
      </p:grpSp>
      <p:grpSp>
        <p:nvGrpSpPr>
          <p:cNvPr name="Group 61" id="61"/>
          <p:cNvGrpSpPr/>
          <p:nvPr/>
        </p:nvGrpSpPr>
        <p:grpSpPr>
          <a:xfrm rot="0">
            <a:off x="1261872" y="6885432"/>
            <a:ext cx="4800600" cy="1303020"/>
            <a:chOff x="0" y="0"/>
            <a:chExt cx="6400800" cy="1737360"/>
          </a:xfrm>
        </p:grpSpPr>
        <p:sp>
          <p:nvSpPr>
            <p:cNvPr name="Freeform 62" id="62"/>
            <p:cNvSpPr/>
            <p:nvPr/>
          </p:nvSpPr>
          <p:spPr>
            <a:xfrm flipH="false" flipV="false" rot="0">
              <a:off x="0" y="0"/>
              <a:ext cx="6400800" cy="1737360"/>
            </a:xfrm>
            <a:custGeom>
              <a:avLst/>
              <a:gdLst/>
              <a:ahLst/>
              <a:cxnLst/>
              <a:rect r="r" b="b" t="t" l="l"/>
              <a:pathLst>
                <a:path h="1737360" w="6400800">
                  <a:moveTo>
                    <a:pt x="0" y="0"/>
                  </a:moveTo>
                  <a:lnTo>
                    <a:pt x="6400800" y="0"/>
                  </a:lnTo>
                  <a:lnTo>
                    <a:pt x="6400800" y="1737360"/>
                  </a:lnTo>
                  <a:lnTo>
                    <a:pt x="0" y="1737360"/>
                  </a:lnTo>
                  <a:close/>
                </a:path>
              </a:pathLst>
            </a:custGeom>
            <a:blipFill>
              <a:blip r:embed="rId3">
                <a:alphaModFix amt="0"/>
              </a:blip>
              <a:stretch>
                <a:fillRect l="0" t="-21786" r="0" b="-21786"/>
              </a:stretch>
            </a:blipFill>
          </p:spPr>
        </p:sp>
        <p:sp>
          <p:nvSpPr>
            <p:cNvPr name="TextBox 63" id="63"/>
            <p:cNvSpPr txBox="true"/>
            <p:nvPr/>
          </p:nvSpPr>
          <p:spPr>
            <a:xfrm>
              <a:off x="0" y="-47625"/>
              <a:ext cx="6400800" cy="1784985"/>
            </a:xfrm>
            <a:prstGeom prst="rect">
              <a:avLst/>
            </a:prstGeom>
          </p:spPr>
          <p:txBody>
            <a:bodyPr anchor="ctr" rtlCol="false" tIns="0" lIns="0" bIns="0" rIns="0"/>
            <a:lstStyle/>
            <a:p>
              <a:pPr algn="l">
                <a:lnSpc>
                  <a:spcPts val="2520"/>
                </a:lnSpc>
              </a:pPr>
              <a:r>
                <a:rPr lang="en-US" sz="2100">
                  <a:solidFill>
                    <a:srgbClr val="555555"/>
                  </a:solidFill>
                  <a:latin typeface="Calibri (MS)"/>
                  <a:ea typeface="Calibri (MS)"/>
                  <a:cs typeface="Calibri (MS)"/>
                  <a:sym typeface="Calibri (MS)"/>
                </a:rPr>
                <a:t>Ground detection, obstacle detection, object identification and distance estimation.</a:t>
              </a:r>
            </a:p>
          </p:txBody>
        </p:sp>
      </p:grpSp>
      <p:grpSp>
        <p:nvGrpSpPr>
          <p:cNvPr name="Group 64" id="64"/>
          <p:cNvGrpSpPr/>
          <p:nvPr/>
        </p:nvGrpSpPr>
        <p:grpSpPr>
          <a:xfrm rot="0">
            <a:off x="6601587" y="5367147"/>
            <a:ext cx="5436870" cy="3242310"/>
            <a:chOff x="0" y="0"/>
            <a:chExt cx="7249160" cy="4323080"/>
          </a:xfrm>
        </p:grpSpPr>
        <p:sp>
          <p:nvSpPr>
            <p:cNvPr name="Freeform 65" id="65"/>
            <p:cNvSpPr/>
            <p:nvPr/>
          </p:nvSpPr>
          <p:spPr>
            <a:xfrm flipH="false" flipV="false" rot="0">
              <a:off x="0" y="0"/>
              <a:ext cx="7249160" cy="4323080"/>
            </a:xfrm>
            <a:custGeom>
              <a:avLst/>
              <a:gdLst/>
              <a:ahLst/>
              <a:cxnLst/>
              <a:rect r="r" b="b" t="t" l="l"/>
              <a:pathLst>
                <a:path h="4323080" w="7249160">
                  <a:moveTo>
                    <a:pt x="0" y="110363"/>
                  </a:moveTo>
                  <a:cubicBezTo>
                    <a:pt x="0" y="49403"/>
                    <a:pt x="49403" y="0"/>
                    <a:pt x="110363" y="0"/>
                  </a:cubicBezTo>
                  <a:lnTo>
                    <a:pt x="7138797" y="0"/>
                  </a:lnTo>
                  <a:cubicBezTo>
                    <a:pt x="7199757" y="0"/>
                    <a:pt x="7249160" y="49403"/>
                    <a:pt x="7249160" y="110363"/>
                  </a:cubicBezTo>
                  <a:lnTo>
                    <a:pt x="7249160" y="4212717"/>
                  </a:lnTo>
                  <a:cubicBezTo>
                    <a:pt x="7249160" y="4273677"/>
                    <a:pt x="7199757" y="4323080"/>
                    <a:pt x="7138797" y="4323080"/>
                  </a:cubicBezTo>
                  <a:lnTo>
                    <a:pt x="110363" y="4323080"/>
                  </a:lnTo>
                  <a:cubicBezTo>
                    <a:pt x="49403" y="4323080"/>
                    <a:pt x="0" y="4273677"/>
                    <a:pt x="0" y="4212717"/>
                  </a:cubicBezTo>
                  <a:close/>
                </a:path>
              </a:pathLst>
            </a:custGeom>
            <a:solidFill>
              <a:srgbClr val="FFFFFF"/>
            </a:solidFill>
            <a:ln w="19050" cap="sq">
              <a:solidFill>
                <a:srgbClr val="DCDCDC"/>
              </a:solidFill>
              <a:prstDash val="solid"/>
              <a:miter/>
            </a:ln>
          </p:spPr>
        </p:sp>
      </p:grpSp>
      <p:grpSp>
        <p:nvGrpSpPr>
          <p:cNvPr name="Group 66" id="66"/>
          <p:cNvGrpSpPr/>
          <p:nvPr/>
        </p:nvGrpSpPr>
        <p:grpSpPr>
          <a:xfrm rot="0">
            <a:off x="6601587" y="5367147"/>
            <a:ext cx="5436870" cy="94488"/>
            <a:chOff x="0" y="0"/>
            <a:chExt cx="7249160" cy="125984"/>
          </a:xfrm>
        </p:grpSpPr>
        <p:sp>
          <p:nvSpPr>
            <p:cNvPr name="Freeform 67" id="67"/>
            <p:cNvSpPr/>
            <p:nvPr/>
          </p:nvSpPr>
          <p:spPr>
            <a:xfrm flipH="false" flipV="false" rot="0">
              <a:off x="0" y="0"/>
              <a:ext cx="7249160" cy="125984"/>
            </a:xfrm>
            <a:custGeom>
              <a:avLst/>
              <a:gdLst/>
              <a:ahLst/>
              <a:cxnLst/>
              <a:rect r="r" b="b" t="t" l="l"/>
              <a:pathLst>
                <a:path h="125984" w="7249160">
                  <a:moveTo>
                    <a:pt x="0" y="0"/>
                  </a:moveTo>
                  <a:lnTo>
                    <a:pt x="7249160" y="0"/>
                  </a:lnTo>
                  <a:lnTo>
                    <a:pt x="7249160" y="125984"/>
                  </a:lnTo>
                  <a:lnTo>
                    <a:pt x="0" y="125984"/>
                  </a:lnTo>
                  <a:close/>
                </a:path>
              </a:pathLst>
            </a:custGeom>
            <a:solidFill>
              <a:srgbClr val="FF8A80"/>
            </a:solidFill>
            <a:ln w="19050" cap="sq">
              <a:solidFill>
                <a:srgbClr val="333333"/>
              </a:solidFill>
              <a:prstDash val="solid"/>
              <a:miter/>
            </a:ln>
          </p:spPr>
        </p:sp>
      </p:grpSp>
      <p:grpSp>
        <p:nvGrpSpPr>
          <p:cNvPr name="Group 68" id="68"/>
          <p:cNvGrpSpPr/>
          <p:nvPr/>
        </p:nvGrpSpPr>
        <p:grpSpPr>
          <a:xfrm rot="0">
            <a:off x="6912864" y="5719572"/>
            <a:ext cx="4800600" cy="384048"/>
            <a:chOff x="0" y="0"/>
            <a:chExt cx="6400800" cy="512064"/>
          </a:xfrm>
        </p:grpSpPr>
        <p:sp>
          <p:nvSpPr>
            <p:cNvPr name="Freeform 69" id="69"/>
            <p:cNvSpPr/>
            <p:nvPr/>
          </p:nvSpPr>
          <p:spPr>
            <a:xfrm flipH="false" flipV="false" rot="0">
              <a:off x="0" y="0"/>
              <a:ext cx="6400800" cy="512064"/>
            </a:xfrm>
            <a:custGeom>
              <a:avLst/>
              <a:gdLst/>
              <a:ahLst/>
              <a:cxnLst/>
              <a:rect r="r" b="b" t="t" l="l"/>
              <a:pathLst>
                <a:path h="512064" w="6400800">
                  <a:moveTo>
                    <a:pt x="0" y="0"/>
                  </a:moveTo>
                  <a:lnTo>
                    <a:pt x="6400800" y="0"/>
                  </a:lnTo>
                  <a:lnTo>
                    <a:pt x="6400800" y="512064"/>
                  </a:lnTo>
                  <a:lnTo>
                    <a:pt x="0" y="512064"/>
                  </a:lnTo>
                  <a:close/>
                </a:path>
              </a:pathLst>
            </a:custGeom>
            <a:blipFill>
              <a:blip r:embed="rId3">
                <a:alphaModFix amt="0"/>
              </a:blip>
              <a:stretch>
                <a:fillRect l="0" t="-193562" r="0" b="-193562"/>
              </a:stretch>
            </a:blipFill>
          </p:spPr>
        </p:sp>
        <p:sp>
          <p:nvSpPr>
            <p:cNvPr name="TextBox 70" id="70"/>
            <p:cNvSpPr txBox="true"/>
            <p:nvPr/>
          </p:nvSpPr>
          <p:spPr>
            <a:xfrm>
              <a:off x="0" y="-38100"/>
              <a:ext cx="6400800" cy="550164"/>
            </a:xfrm>
            <a:prstGeom prst="rect">
              <a:avLst/>
            </a:prstGeom>
          </p:spPr>
          <p:txBody>
            <a:bodyPr anchor="ctr" rtlCol="false" tIns="0" lIns="0" bIns="0" rIns="0"/>
            <a:lstStyle/>
            <a:p>
              <a:pPr algn="l">
                <a:lnSpc>
                  <a:spcPts val="2160"/>
                </a:lnSpc>
              </a:pPr>
              <a:r>
                <a:rPr lang="en-US" sz="1800">
                  <a:solidFill>
                    <a:srgbClr val="6B6B6B"/>
                  </a:solidFill>
                  <a:latin typeface="Calibri (MS)"/>
                  <a:ea typeface="Calibri (MS)"/>
                  <a:cs typeface="Calibri (MS)"/>
                  <a:sym typeface="Calibri (MS)"/>
                </a:rPr>
                <a:t>LAYER  05</a:t>
              </a:r>
            </a:p>
          </p:txBody>
        </p:sp>
      </p:grpSp>
      <p:grpSp>
        <p:nvGrpSpPr>
          <p:cNvPr name="Group 71" id="71"/>
          <p:cNvGrpSpPr/>
          <p:nvPr/>
        </p:nvGrpSpPr>
        <p:grpSpPr>
          <a:xfrm rot="0">
            <a:off x="6912864" y="6131052"/>
            <a:ext cx="4800600" cy="548640"/>
            <a:chOff x="0" y="0"/>
            <a:chExt cx="6400800" cy="731520"/>
          </a:xfrm>
        </p:grpSpPr>
        <p:sp>
          <p:nvSpPr>
            <p:cNvPr name="Freeform 72" id="72"/>
            <p:cNvSpPr/>
            <p:nvPr/>
          </p:nvSpPr>
          <p:spPr>
            <a:xfrm flipH="false" flipV="false" rot="0">
              <a:off x="0" y="0"/>
              <a:ext cx="6400800" cy="731520"/>
            </a:xfrm>
            <a:custGeom>
              <a:avLst/>
              <a:gdLst/>
              <a:ahLst/>
              <a:cxnLst/>
              <a:rect r="r" b="b" t="t" l="l"/>
              <a:pathLst>
                <a:path h="731520" w="6400800">
                  <a:moveTo>
                    <a:pt x="0" y="0"/>
                  </a:moveTo>
                  <a:lnTo>
                    <a:pt x="6400800" y="0"/>
                  </a:lnTo>
                  <a:lnTo>
                    <a:pt x="6400800" y="731520"/>
                  </a:lnTo>
                  <a:lnTo>
                    <a:pt x="0" y="731520"/>
                  </a:lnTo>
                  <a:close/>
                </a:path>
              </a:pathLst>
            </a:custGeom>
            <a:blipFill>
              <a:blip r:embed="rId3">
                <a:alphaModFix amt="0"/>
              </a:blip>
              <a:stretch>
                <a:fillRect l="0" t="-120494" r="0" b="-120494"/>
              </a:stretch>
            </a:blipFill>
          </p:spPr>
        </p:sp>
        <p:sp>
          <p:nvSpPr>
            <p:cNvPr name="TextBox 73" id="73"/>
            <p:cNvSpPr txBox="true"/>
            <p:nvPr/>
          </p:nvSpPr>
          <p:spPr>
            <a:xfrm>
              <a:off x="0" y="-38100"/>
              <a:ext cx="6400800" cy="769620"/>
            </a:xfrm>
            <a:prstGeom prst="rect">
              <a:avLst/>
            </a:prstGeom>
          </p:spPr>
          <p:txBody>
            <a:bodyPr anchor="ctr" rtlCol="false" tIns="0" lIns="0" bIns="0" rIns="0"/>
            <a:lstStyle/>
            <a:p>
              <a:pPr algn="l">
                <a:lnSpc>
                  <a:spcPts val="2879"/>
                </a:lnSpc>
              </a:pPr>
              <a:r>
                <a:rPr lang="en-US" sz="2400" b="true">
                  <a:solidFill>
                    <a:srgbClr val="2B2B2B"/>
                  </a:solidFill>
                  <a:latin typeface="Calibri (MS) Bold"/>
                  <a:ea typeface="Calibri (MS) Bold"/>
                  <a:cs typeface="Calibri (MS) Bold"/>
                  <a:sym typeface="Calibri (MS) Bold"/>
                </a:rPr>
                <a:t>Information layer</a:t>
              </a:r>
            </a:p>
          </p:txBody>
        </p:sp>
      </p:grpSp>
      <p:grpSp>
        <p:nvGrpSpPr>
          <p:cNvPr name="Group 74" id="74"/>
          <p:cNvGrpSpPr/>
          <p:nvPr/>
        </p:nvGrpSpPr>
        <p:grpSpPr>
          <a:xfrm rot="0">
            <a:off x="6912864" y="6885432"/>
            <a:ext cx="4800600" cy="1303020"/>
            <a:chOff x="0" y="0"/>
            <a:chExt cx="6400800" cy="1737360"/>
          </a:xfrm>
        </p:grpSpPr>
        <p:sp>
          <p:nvSpPr>
            <p:cNvPr name="Freeform 75" id="75"/>
            <p:cNvSpPr/>
            <p:nvPr/>
          </p:nvSpPr>
          <p:spPr>
            <a:xfrm flipH="false" flipV="false" rot="0">
              <a:off x="0" y="0"/>
              <a:ext cx="6400800" cy="1737360"/>
            </a:xfrm>
            <a:custGeom>
              <a:avLst/>
              <a:gdLst/>
              <a:ahLst/>
              <a:cxnLst/>
              <a:rect r="r" b="b" t="t" l="l"/>
              <a:pathLst>
                <a:path h="1737360" w="6400800">
                  <a:moveTo>
                    <a:pt x="0" y="0"/>
                  </a:moveTo>
                  <a:lnTo>
                    <a:pt x="6400800" y="0"/>
                  </a:lnTo>
                  <a:lnTo>
                    <a:pt x="6400800" y="1737360"/>
                  </a:lnTo>
                  <a:lnTo>
                    <a:pt x="0" y="1737360"/>
                  </a:lnTo>
                  <a:close/>
                </a:path>
              </a:pathLst>
            </a:custGeom>
            <a:blipFill>
              <a:blip r:embed="rId3">
                <a:alphaModFix amt="0"/>
              </a:blip>
              <a:stretch>
                <a:fillRect l="0" t="-21786" r="0" b="-21786"/>
              </a:stretch>
            </a:blipFill>
          </p:spPr>
        </p:sp>
        <p:sp>
          <p:nvSpPr>
            <p:cNvPr name="TextBox 76" id="76"/>
            <p:cNvSpPr txBox="true"/>
            <p:nvPr/>
          </p:nvSpPr>
          <p:spPr>
            <a:xfrm>
              <a:off x="0" y="-47625"/>
              <a:ext cx="6400800" cy="1784985"/>
            </a:xfrm>
            <a:prstGeom prst="rect">
              <a:avLst/>
            </a:prstGeom>
          </p:spPr>
          <p:txBody>
            <a:bodyPr anchor="ctr" rtlCol="false" tIns="0" lIns="0" bIns="0" rIns="0"/>
            <a:lstStyle/>
            <a:p>
              <a:pPr algn="l">
                <a:lnSpc>
                  <a:spcPts val="2520"/>
                </a:lnSpc>
              </a:pPr>
              <a:r>
                <a:rPr lang="en-US" sz="2100">
                  <a:solidFill>
                    <a:srgbClr val="555555"/>
                  </a:solidFill>
                  <a:latin typeface="Calibri (MS)"/>
                  <a:ea typeface="Calibri (MS)"/>
                  <a:cs typeface="Calibri (MS)"/>
                  <a:sym typeface="Calibri (MS)"/>
                </a:rPr>
                <a:t>Organises perception results into structured information for higher-level functions.</a:t>
              </a:r>
            </a:p>
          </p:txBody>
        </p:sp>
      </p:grpSp>
      <p:grpSp>
        <p:nvGrpSpPr>
          <p:cNvPr name="Group 77" id="77"/>
          <p:cNvGrpSpPr/>
          <p:nvPr/>
        </p:nvGrpSpPr>
        <p:grpSpPr>
          <a:xfrm rot="0">
            <a:off x="12252579" y="5367147"/>
            <a:ext cx="5436870" cy="3242310"/>
            <a:chOff x="0" y="0"/>
            <a:chExt cx="7249160" cy="4323080"/>
          </a:xfrm>
        </p:grpSpPr>
        <p:sp>
          <p:nvSpPr>
            <p:cNvPr name="Freeform 78" id="78"/>
            <p:cNvSpPr/>
            <p:nvPr/>
          </p:nvSpPr>
          <p:spPr>
            <a:xfrm flipH="false" flipV="false" rot="0">
              <a:off x="0" y="0"/>
              <a:ext cx="7249160" cy="4323080"/>
            </a:xfrm>
            <a:custGeom>
              <a:avLst/>
              <a:gdLst/>
              <a:ahLst/>
              <a:cxnLst/>
              <a:rect r="r" b="b" t="t" l="l"/>
              <a:pathLst>
                <a:path h="4323080" w="7249160">
                  <a:moveTo>
                    <a:pt x="0" y="110363"/>
                  </a:moveTo>
                  <a:cubicBezTo>
                    <a:pt x="0" y="49403"/>
                    <a:pt x="49403" y="0"/>
                    <a:pt x="110363" y="0"/>
                  </a:cubicBezTo>
                  <a:lnTo>
                    <a:pt x="7138797" y="0"/>
                  </a:lnTo>
                  <a:cubicBezTo>
                    <a:pt x="7199757" y="0"/>
                    <a:pt x="7249160" y="49403"/>
                    <a:pt x="7249160" y="110363"/>
                  </a:cubicBezTo>
                  <a:lnTo>
                    <a:pt x="7249160" y="4212717"/>
                  </a:lnTo>
                  <a:cubicBezTo>
                    <a:pt x="7249160" y="4273677"/>
                    <a:pt x="7199757" y="4323080"/>
                    <a:pt x="7138797" y="4323080"/>
                  </a:cubicBezTo>
                  <a:lnTo>
                    <a:pt x="110363" y="4323080"/>
                  </a:lnTo>
                  <a:cubicBezTo>
                    <a:pt x="49403" y="4323080"/>
                    <a:pt x="0" y="4273677"/>
                    <a:pt x="0" y="4212717"/>
                  </a:cubicBezTo>
                  <a:close/>
                </a:path>
              </a:pathLst>
            </a:custGeom>
            <a:solidFill>
              <a:srgbClr val="FFFFFF"/>
            </a:solidFill>
            <a:ln w="19050" cap="sq">
              <a:solidFill>
                <a:srgbClr val="DCDCDC"/>
              </a:solidFill>
              <a:prstDash val="solid"/>
              <a:miter/>
            </a:ln>
          </p:spPr>
        </p:sp>
      </p:grpSp>
      <p:grpSp>
        <p:nvGrpSpPr>
          <p:cNvPr name="Group 79" id="79"/>
          <p:cNvGrpSpPr/>
          <p:nvPr/>
        </p:nvGrpSpPr>
        <p:grpSpPr>
          <a:xfrm rot="0">
            <a:off x="12252579" y="5367147"/>
            <a:ext cx="5436870" cy="94488"/>
            <a:chOff x="0" y="0"/>
            <a:chExt cx="7249160" cy="125984"/>
          </a:xfrm>
        </p:grpSpPr>
        <p:sp>
          <p:nvSpPr>
            <p:cNvPr name="Freeform 80" id="80"/>
            <p:cNvSpPr/>
            <p:nvPr/>
          </p:nvSpPr>
          <p:spPr>
            <a:xfrm flipH="false" flipV="false" rot="0">
              <a:off x="0" y="0"/>
              <a:ext cx="7249160" cy="125984"/>
            </a:xfrm>
            <a:custGeom>
              <a:avLst/>
              <a:gdLst/>
              <a:ahLst/>
              <a:cxnLst/>
              <a:rect r="r" b="b" t="t" l="l"/>
              <a:pathLst>
                <a:path h="125984" w="7249160">
                  <a:moveTo>
                    <a:pt x="0" y="0"/>
                  </a:moveTo>
                  <a:lnTo>
                    <a:pt x="7249160" y="0"/>
                  </a:lnTo>
                  <a:lnTo>
                    <a:pt x="7249160" y="125984"/>
                  </a:lnTo>
                  <a:lnTo>
                    <a:pt x="0" y="125984"/>
                  </a:lnTo>
                  <a:close/>
                </a:path>
              </a:pathLst>
            </a:custGeom>
            <a:solidFill>
              <a:srgbClr val="FF8A80"/>
            </a:solidFill>
            <a:ln w="19050" cap="sq">
              <a:solidFill>
                <a:srgbClr val="333333"/>
              </a:solidFill>
              <a:prstDash val="solid"/>
              <a:miter/>
            </a:ln>
          </p:spPr>
        </p:sp>
      </p:grpSp>
      <p:grpSp>
        <p:nvGrpSpPr>
          <p:cNvPr name="Group 81" id="81"/>
          <p:cNvGrpSpPr/>
          <p:nvPr/>
        </p:nvGrpSpPr>
        <p:grpSpPr>
          <a:xfrm rot="0">
            <a:off x="12563856" y="5719572"/>
            <a:ext cx="4800600" cy="384048"/>
            <a:chOff x="0" y="0"/>
            <a:chExt cx="6400800" cy="512064"/>
          </a:xfrm>
        </p:grpSpPr>
        <p:sp>
          <p:nvSpPr>
            <p:cNvPr name="Freeform 82" id="82"/>
            <p:cNvSpPr/>
            <p:nvPr/>
          </p:nvSpPr>
          <p:spPr>
            <a:xfrm flipH="false" flipV="false" rot="0">
              <a:off x="0" y="0"/>
              <a:ext cx="6400800" cy="512064"/>
            </a:xfrm>
            <a:custGeom>
              <a:avLst/>
              <a:gdLst/>
              <a:ahLst/>
              <a:cxnLst/>
              <a:rect r="r" b="b" t="t" l="l"/>
              <a:pathLst>
                <a:path h="512064" w="6400800">
                  <a:moveTo>
                    <a:pt x="0" y="0"/>
                  </a:moveTo>
                  <a:lnTo>
                    <a:pt x="6400800" y="0"/>
                  </a:lnTo>
                  <a:lnTo>
                    <a:pt x="6400800" y="512064"/>
                  </a:lnTo>
                  <a:lnTo>
                    <a:pt x="0" y="512064"/>
                  </a:lnTo>
                  <a:close/>
                </a:path>
              </a:pathLst>
            </a:custGeom>
            <a:blipFill>
              <a:blip r:embed="rId3">
                <a:alphaModFix amt="0"/>
              </a:blip>
              <a:stretch>
                <a:fillRect l="0" t="-193562" r="0" b="-193562"/>
              </a:stretch>
            </a:blipFill>
          </p:spPr>
        </p:sp>
        <p:sp>
          <p:nvSpPr>
            <p:cNvPr name="TextBox 83" id="83"/>
            <p:cNvSpPr txBox="true"/>
            <p:nvPr/>
          </p:nvSpPr>
          <p:spPr>
            <a:xfrm>
              <a:off x="0" y="-38100"/>
              <a:ext cx="6400800" cy="550164"/>
            </a:xfrm>
            <a:prstGeom prst="rect">
              <a:avLst/>
            </a:prstGeom>
          </p:spPr>
          <p:txBody>
            <a:bodyPr anchor="ctr" rtlCol="false" tIns="0" lIns="0" bIns="0" rIns="0"/>
            <a:lstStyle/>
            <a:p>
              <a:pPr algn="l">
                <a:lnSpc>
                  <a:spcPts val="2160"/>
                </a:lnSpc>
              </a:pPr>
              <a:r>
                <a:rPr lang="en-US" sz="1800">
                  <a:solidFill>
                    <a:srgbClr val="6B6B6B"/>
                  </a:solidFill>
                  <a:latin typeface="Calibri (MS)"/>
                  <a:ea typeface="Calibri (MS)"/>
                  <a:cs typeface="Calibri (MS)"/>
                  <a:sym typeface="Calibri (MS)"/>
                </a:rPr>
                <a:t>LAYER  06</a:t>
              </a:r>
            </a:p>
          </p:txBody>
        </p:sp>
      </p:grpSp>
      <p:grpSp>
        <p:nvGrpSpPr>
          <p:cNvPr name="Group 84" id="84"/>
          <p:cNvGrpSpPr/>
          <p:nvPr/>
        </p:nvGrpSpPr>
        <p:grpSpPr>
          <a:xfrm rot="0">
            <a:off x="12563856" y="6131052"/>
            <a:ext cx="4800600" cy="548640"/>
            <a:chOff x="0" y="0"/>
            <a:chExt cx="6400800" cy="731520"/>
          </a:xfrm>
        </p:grpSpPr>
        <p:sp>
          <p:nvSpPr>
            <p:cNvPr name="Freeform 85" id="85"/>
            <p:cNvSpPr/>
            <p:nvPr/>
          </p:nvSpPr>
          <p:spPr>
            <a:xfrm flipH="false" flipV="false" rot="0">
              <a:off x="0" y="0"/>
              <a:ext cx="6400800" cy="731520"/>
            </a:xfrm>
            <a:custGeom>
              <a:avLst/>
              <a:gdLst/>
              <a:ahLst/>
              <a:cxnLst/>
              <a:rect r="r" b="b" t="t" l="l"/>
              <a:pathLst>
                <a:path h="731520" w="6400800">
                  <a:moveTo>
                    <a:pt x="0" y="0"/>
                  </a:moveTo>
                  <a:lnTo>
                    <a:pt x="6400800" y="0"/>
                  </a:lnTo>
                  <a:lnTo>
                    <a:pt x="6400800" y="731520"/>
                  </a:lnTo>
                  <a:lnTo>
                    <a:pt x="0" y="731520"/>
                  </a:lnTo>
                  <a:close/>
                </a:path>
              </a:pathLst>
            </a:custGeom>
            <a:blipFill>
              <a:blip r:embed="rId3">
                <a:alphaModFix amt="0"/>
              </a:blip>
              <a:stretch>
                <a:fillRect l="0" t="-120494" r="0" b="-120494"/>
              </a:stretch>
            </a:blipFill>
          </p:spPr>
        </p:sp>
        <p:sp>
          <p:nvSpPr>
            <p:cNvPr name="TextBox 86" id="86"/>
            <p:cNvSpPr txBox="true"/>
            <p:nvPr/>
          </p:nvSpPr>
          <p:spPr>
            <a:xfrm>
              <a:off x="0" y="-38100"/>
              <a:ext cx="6400800" cy="769620"/>
            </a:xfrm>
            <a:prstGeom prst="rect">
              <a:avLst/>
            </a:prstGeom>
          </p:spPr>
          <p:txBody>
            <a:bodyPr anchor="ctr" rtlCol="false" tIns="0" lIns="0" bIns="0" rIns="0"/>
            <a:lstStyle/>
            <a:p>
              <a:pPr algn="l">
                <a:lnSpc>
                  <a:spcPts val="2879"/>
                </a:lnSpc>
              </a:pPr>
              <a:r>
                <a:rPr lang="en-US" sz="2400" b="true">
                  <a:solidFill>
                    <a:srgbClr val="2B2B2B"/>
                  </a:solidFill>
                  <a:latin typeface="Calibri (MS) Bold"/>
                  <a:ea typeface="Calibri (MS) Bold"/>
                  <a:cs typeface="Calibri (MS) Bold"/>
                  <a:sym typeface="Calibri (MS) Bold"/>
                </a:rPr>
                <a:t>Assistive output layer</a:t>
              </a:r>
            </a:p>
          </p:txBody>
        </p:sp>
      </p:grpSp>
      <p:grpSp>
        <p:nvGrpSpPr>
          <p:cNvPr name="Group 87" id="87"/>
          <p:cNvGrpSpPr/>
          <p:nvPr/>
        </p:nvGrpSpPr>
        <p:grpSpPr>
          <a:xfrm rot="0">
            <a:off x="12563856" y="6885432"/>
            <a:ext cx="4800600" cy="1303020"/>
            <a:chOff x="0" y="0"/>
            <a:chExt cx="6400800" cy="1737360"/>
          </a:xfrm>
        </p:grpSpPr>
        <p:sp>
          <p:nvSpPr>
            <p:cNvPr name="Freeform 88" id="88"/>
            <p:cNvSpPr/>
            <p:nvPr/>
          </p:nvSpPr>
          <p:spPr>
            <a:xfrm flipH="false" flipV="false" rot="0">
              <a:off x="0" y="0"/>
              <a:ext cx="6400800" cy="1737360"/>
            </a:xfrm>
            <a:custGeom>
              <a:avLst/>
              <a:gdLst/>
              <a:ahLst/>
              <a:cxnLst/>
              <a:rect r="r" b="b" t="t" l="l"/>
              <a:pathLst>
                <a:path h="1737360" w="6400800">
                  <a:moveTo>
                    <a:pt x="0" y="0"/>
                  </a:moveTo>
                  <a:lnTo>
                    <a:pt x="6400800" y="0"/>
                  </a:lnTo>
                  <a:lnTo>
                    <a:pt x="6400800" y="1737360"/>
                  </a:lnTo>
                  <a:lnTo>
                    <a:pt x="0" y="1737360"/>
                  </a:lnTo>
                  <a:close/>
                </a:path>
              </a:pathLst>
            </a:custGeom>
            <a:blipFill>
              <a:blip r:embed="rId3">
                <a:alphaModFix amt="0"/>
              </a:blip>
              <a:stretch>
                <a:fillRect l="0" t="-21786" r="0" b="-21786"/>
              </a:stretch>
            </a:blipFill>
          </p:spPr>
        </p:sp>
        <p:sp>
          <p:nvSpPr>
            <p:cNvPr name="TextBox 89" id="89"/>
            <p:cNvSpPr txBox="true"/>
            <p:nvPr/>
          </p:nvSpPr>
          <p:spPr>
            <a:xfrm>
              <a:off x="0" y="-47625"/>
              <a:ext cx="6400800" cy="1784985"/>
            </a:xfrm>
            <a:prstGeom prst="rect">
              <a:avLst/>
            </a:prstGeom>
          </p:spPr>
          <p:txBody>
            <a:bodyPr anchor="ctr" rtlCol="false" tIns="0" lIns="0" bIns="0" rIns="0"/>
            <a:lstStyle/>
            <a:p>
              <a:pPr algn="l">
                <a:lnSpc>
                  <a:spcPts val="2520"/>
                </a:lnSpc>
              </a:pPr>
              <a:r>
                <a:rPr lang="en-US" sz="2100">
                  <a:solidFill>
                    <a:srgbClr val="555555"/>
                  </a:solidFill>
                  <a:latin typeface="Calibri (MS)"/>
                  <a:ea typeface="Calibri (MS)"/>
                  <a:cs typeface="Calibri (MS)"/>
                  <a:sym typeface="Calibri (MS)"/>
                </a:rPr>
                <a:t>Translates environmental information into understandable audio guidance.</a:t>
              </a: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grpSp>
        <p:nvGrpSpPr>
          <p:cNvPr name="Group 2" id="2"/>
          <p:cNvGrpSpPr/>
          <p:nvPr/>
        </p:nvGrpSpPr>
        <p:grpSpPr>
          <a:xfrm rot="0">
            <a:off x="960120" y="576072"/>
            <a:ext cx="16322040" cy="658368"/>
            <a:chOff x="0" y="0"/>
            <a:chExt cx="21762720" cy="877824"/>
          </a:xfrm>
        </p:grpSpPr>
        <p:sp>
          <p:nvSpPr>
            <p:cNvPr name="Freeform 3" id="3"/>
            <p:cNvSpPr/>
            <p:nvPr/>
          </p:nvSpPr>
          <p:spPr>
            <a:xfrm flipH="false" flipV="false" rot="0">
              <a:off x="0" y="0"/>
              <a:ext cx="21762720" cy="877824"/>
            </a:xfrm>
            <a:custGeom>
              <a:avLst/>
              <a:gdLst/>
              <a:ahLst/>
              <a:cxnLst/>
              <a:rect r="r" b="b" t="t" l="l"/>
              <a:pathLst>
                <a:path h="877824" w="21762720">
                  <a:moveTo>
                    <a:pt x="0" y="0"/>
                  </a:moveTo>
                  <a:lnTo>
                    <a:pt x="21762720" y="0"/>
                  </a:lnTo>
                  <a:lnTo>
                    <a:pt x="21762720" y="877824"/>
                  </a:lnTo>
                  <a:lnTo>
                    <a:pt x="0" y="877824"/>
                  </a:lnTo>
                  <a:close/>
                </a:path>
              </a:pathLst>
            </a:custGeom>
            <a:blipFill>
              <a:blip r:embed="rId3">
                <a:alphaModFix amt="0"/>
              </a:blip>
              <a:stretch>
                <a:fillRect l="0" t="-433066" r="0" b="-433066"/>
              </a:stretch>
            </a:blipFill>
          </p:spPr>
        </p:sp>
        <p:sp>
          <p:nvSpPr>
            <p:cNvPr name="TextBox 4" id="4"/>
            <p:cNvSpPr txBox="true"/>
            <p:nvPr/>
          </p:nvSpPr>
          <p:spPr>
            <a:xfrm>
              <a:off x="0" y="0"/>
              <a:ext cx="21762720" cy="877824"/>
            </a:xfrm>
            <a:prstGeom prst="rect">
              <a:avLst/>
            </a:prstGeom>
          </p:spPr>
          <p:txBody>
            <a:bodyPr anchor="ctr" rtlCol="false" tIns="0" lIns="0" bIns="0" rIns="0"/>
            <a:lstStyle/>
            <a:p>
              <a:pPr algn="l">
                <a:lnSpc>
                  <a:spcPts val="5759"/>
                </a:lnSpc>
              </a:pPr>
              <a:r>
                <a:rPr lang="en-US" sz="4800">
                  <a:solidFill>
                    <a:srgbClr val="2B2B2B"/>
                  </a:solidFill>
                  <a:latin typeface="Georgia"/>
                  <a:ea typeface="Georgia"/>
                  <a:cs typeface="Georgia"/>
                  <a:sym typeface="Georgia"/>
                </a:rPr>
                <a:t>Perception Workflow</a:t>
              </a:r>
            </a:p>
          </p:txBody>
        </p:sp>
      </p:grpSp>
      <p:grpSp>
        <p:nvGrpSpPr>
          <p:cNvPr name="Group 5" id="5"/>
          <p:cNvGrpSpPr/>
          <p:nvPr/>
        </p:nvGrpSpPr>
        <p:grpSpPr>
          <a:xfrm rot="0">
            <a:off x="950595" y="1293495"/>
            <a:ext cx="1088898" cy="67056"/>
            <a:chOff x="0" y="0"/>
            <a:chExt cx="1451864" cy="89408"/>
          </a:xfrm>
        </p:grpSpPr>
        <p:sp>
          <p:nvSpPr>
            <p:cNvPr name="Freeform 6" id="6"/>
            <p:cNvSpPr/>
            <p:nvPr/>
          </p:nvSpPr>
          <p:spPr>
            <a:xfrm flipH="false" flipV="false" rot="0">
              <a:off x="0" y="0"/>
              <a:ext cx="1451864" cy="89408"/>
            </a:xfrm>
            <a:custGeom>
              <a:avLst/>
              <a:gdLst/>
              <a:ahLst/>
              <a:cxnLst/>
              <a:rect r="r" b="b" t="t" l="l"/>
              <a:pathLst>
                <a:path h="89408" w="1451864">
                  <a:moveTo>
                    <a:pt x="0" y="0"/>
                  </a:moveTo>
                  <a:lnTo>
                    <a:pt x="1451864" y="0"/>
                  </a:lnTo>
                  <a:lnTo>
                    <a:pt x="1451864" y="89408"/>
                  </a:lnTo>
                  <a:lnTo>
                    <a:pt x="0" y="89408"/>
                  </a:lnTo>
                  <a:close/>
                </a:path>
              </a:pathLst>
            </a:custGeom>
            <a:solidFill>
              <a:srgbClr val="FF8A80"/>
            </a:solidFill>
            <a:ln w="19050" cap="sq">
              <a:solidFill>
                <a:srgbClr val="333333"/>
              </a:solidFill>
              <a:prstDash val="solid"/>
              <a:miter/>
            </a:ln>
          </p:spPr>
        </p:sp>
      </p:grpSp>
      <p:grpSp>
        <p:nvGrpSpPr>
          <p:cNvPr name="Group 7" id="7"/>
          <p:cNvGrpSpPr/>
          <p:nvPr/>
        </p:nvGrpSpPr>
        <p:grpSpPr>
          <a:xfrm rot="0">
            <a:off x="950595" y="9701403"/>
            <a:ext cx="16386353" cy="35509"/>
            <a:chOff x="0" y="0"/>
            <a:chExt cx="21848470" cy="47346"/>
          </a:xfrm>
        </p:grpSpPr>
        <p:sp>
          <p:nvSpPr>
            <p:cNvPr name="Freeform 8" id="8"/>
            <p:cNvSpPr/>
            <p:nvPr/>
          </p:nvSpPr>
          <p:spPr>
            <a:xfrm flipH="false" flipV="false" rot="0">
              <a:off x="0" y="0"/>
              <a:ext cx="21848445" cy="47371"/>
            </a:xfrm>
            <a:custGeom>
              <a:avLst/>
              <a:gdLst/>
              <a:ahLst/>
              <a:cxnLst/>
              <a:rect r="r" b="b" t="t" l="l"/>
              <a:pathLst>
                <a:path h="47371" w="21848445">
                  <a:moveTo>
                    <a:pt x="0" y="0"/>
                  </a:moveTo>
                  <a:lnTo>
                    <a:pt x="21848445" y="0"/>
                  </a:lnTo>
                  <a:lnTo>
                    <a:pt x="21848445" y="47371"/>
                  </a:lnTo>
                  <a:lnTo>
                    <a:pt x="0" y="47371"/>
                  </a:lnTo>
                  <a:close/>
                </a:path>
              </a:pathLst>
            </a:custGeom>
            <a:solidFill>
              <a:srgbClr val="D0D0D0"/>
            </a:solidFill>
            <a:ln w="19050" cap="sq">
              <a:solidFill>
                <a:srgbClr val="333333"/>
              </a:solidFill>
              <a:prstDash val="solid"/>
              <a:miter/>
            </a:ln>
          </p:spPr>
        </p:sp>
      </p:grpSp>
      <p:grpSp>
        <p:nvGrpSpPr>
          <p:cNvPr name="Group 9" id="9"/>
          <p:cNvGrpSpPr/>
          <p:nvPr/>
        </p:nvGrpSpPr>
        <p:grpSpPr>
          <a:xfrm rot="0">
            <a:off x="15636240" y="9806940"/>
            <a:ext cx="1645920" cy="356616"/>
            <a:chOff x="0" y="0"/>
            <a:chExt cx="2194560" cy="475488"/>
          </a:xfrm>
        </p:grpSpPr>
        <p:sp>
          <p:nvSpPr>
            <p:cNvPr name="Freeform 10" id="10"/>
            <p:cNvSpPr/>
            <p:nvPr/>
          </p:nvSpPr>
          <p:spPr>
            <a:xfrm flipH="false" flipV="false" rot="0">
              <a:off x="0" y="0"/>
              <a:ext cx="2194560" cy="475488"/>
            </a:xfrm>
            <a:custGeom>
              <a:avLst/>
              <a:gdLst/>
              <a:ahLst/>
              <a:cxnLst/>
              <a:rect r="r" b="b" t="t" l="l"/>
              <a:pathLst>
                <a:path h="475488" w="2194560">
                  <a:moveTo>
                    <a:pt x="0" y="0"/>
                  </a:moveTo>
                  <a:lnTo>
                    <a:pt x="2194560" y="0"/>
                  </a:lnTo>
                  <a:lnTo>
                    <a:pt x="2194560" y="475488"/>
                  </a:lnTo>
                  <a:lnTo>
                    <a:pt x="0" y="475488"/>
                  </a:lnTo>
                  <a:close/>
                </a:path>
              </a:pathLst>
            </a:custGeom>
            <a:blipFill>
              <a:blip r:embed="rId3">
                <a:alphaModFix amt="0"/>
              </a:blip>
              <a:stretch>
                <a:fillRect l="0" t="-39930" r="0" b="-39930"/>
              </a:stretch>
            </a:blipFill>
          </p:spPr>
        </p:sp>
        <p:sp>
          <p:nvSpPr>
            <p:cNvPr name="TextBox 11" id="11"/>
            <p:cNvSpPr txBox="true"/>
            <p:nvPr/>
          </p:nvSpPr>
          <p:spPr>
            <a:xfrm>
              <a:off x="0" y="-28575"/>
              <a:ext cx="2194560" cy="504063"/>
            </a:xfrm>
            <a:prstGeom prst="rect">
              <a:avLst/>
            </a:prstGeom>
          </p:spPr>
          <p:txBody>
            <a:bodyPr anchor="ctr" rtlCol="false" tIns="0" lIns="0" bIns="0" rIns="0"/>
            <a:lstStyle/>
            <a:p>
              <a:pPr algn="r">
                <a:lnSpc>
                  <a:spcPts val="1980"/>
                </a:lnSpc>
              </a:pPr>
              <a:r>
                <a:rPr lang="en-US" sz="1650">
                  <a:solidFill>
                    <a:srgbClr val="6B6B6B"/>
                  </a:solidFill>
                  <a:latin typeface="Calibri (MS)"/>
                  <a:ea typeface="Calibri (MS)"/>
                  <a:cs typeface="Calibri (MS)"/>
                  <a:sym typeface="Calibri (MS)"/>
                </a:rPr>
                <a:t>08</a:t>
              </a:r>
            </a:p>
          </p:txBody>
        </p:sp>
      </p:grpSp>
      <p:grpSp>
        <p:nvGrpSpPr>
          <p:cNvPr name="Group 12" id="12"/>
          <p:cNvGrpSpPr/>
          <p:nvPr/>
        </p:nvGrpSpPr>
        <p:grpSpPr>
          <a:xfrm rot="0">
            <a:off x="960120" y="1755648"/>
            <a:ext cx="16322040" cy="1303020"/>
            <a:chOff x="0" y="0"/>
            <a:chExt cx="21762720" cy="1737360"/>
          </a:xfrm>
        </p:grpSpPr>
        <p:sp>
          <p:nvSpPr>
            <p:cNvPr name="Freeform 13" id="13"/>
            <p:cNvSpPr/>
            <p:nvPr/>
          </p:nvSpPr>
          <p:spPr>
            <a:xfrm flipH="false" flipV="false" rot="0">
              <a:off x="0" y="0"/>
              <a:ext cx="21762720" cy="1737360"/>
            </a:xfrm>
            <a:custGeom>
              <a:avLst/>
              <a:gdLst/>
              <a:ahLst/>
              <a:cxnLst/>
              <a:rect r="r" b="b" t="t" l="l"/>
              <a:pathLst>
                <a:path h="1737360" w="21762720">
                  <a:moveTo>
                    <a:pt x="0" y="0"/>
                  </a:moveTo>
                  <a:lnTo>
                    <a:pt x="21762720" y="0"/>
                  </a:lnTo>
                  <a:lnTo>
                    <a:pt x="21762720" y="1737360"/>
                  </a:lnTo>
                  <a:lnTo>
                    <a:pt x="0" y="1737360"/>
                  </a:lnTo>
                  <a:close/>
                </a:path>
              </a:pathLst>
            </a:custGeom>
            <a:blipFill>
              <a:blip r:embed="rId3">
                <a:alphaModFix amt="0"/>
              </a:blip>
              <a:stretch>
                <a:fillRect l="0" t="-194075" r="0" b="-194075"/>
              </a:stretch>
            </a:blipFill>
          </p:spPr>
        </p:sp>
        <p:sp>
          <p:nvSpPr>
            <p:cNvPr name="TextBox 14" id="14"/>
            <p:cNvSpPr txBox="true"/>
            <p:nvPr/>
          </p:nvSpPr>
          <p:spPr>
            <a:xfrm>
              <a:off x="0" y="-47625"/>
              <a:ext cx="21762720" cy="1784985"/>
            </a:xfrm>
            <a:prstGeom prst="rect">
              <a:avLst/>
            </a:prstGeom>
          </p:spPr>
          <p:txBody>
            <a:bodyPr anchor="ctr" rtlCol="false" tIns="0" lIns="0" bIns="0" rIns="0"/>
            <a:lstStyle/>
            <a:p>
              <a:pPr algn="l">
                <a:lnSpc>
                  <a:spcPts val="3060"/>
                </a:lnSpc>
              </a:pPr>
              <a:r>
                <a:rPr lang="en-US" sz="2550">
                  <a:solidFill>
                    <a:srgbClr val="2B2B2B"/>
                  </a:solidFill>
                  <a:latin typeface="Calibri (MS)"/>
                  <a:ea typeface="Calibri (MS)"/>
                  <a:cs typeface="Calibri (MS)"/>
                  <a:sym typeface="Calibri (MS)"/>
                </a:rPr>
                <a:t>The Unity camera will render the virtual scene into a 256 × 256 camera feed. A custom sensing component, ECHO_VISION_RangeSensor, will acquire each rendered frame through the RenderPipelineManager.endCamera event and run the scanning logic.</a:t>
              </a:r>
            </a:p>
          </p:txBody>
        </p:sp>
      </p:grpSp>
      <p:grpSp>
        <p:nvGrpSpPr>
          <p:cNvPr name="Group 15" id="15"/>
          <p:cNvGrpSpPr/>
          <p:nvPr/>
        </p:nvGrpSpPr>
        <p:grpSpPr>
          <a:xfrm rot="0">
            <a:off x="960120" y="3154680"/>
            <a:ext cx="16322040" cy="960120"/>
            <a:chOff x="0" y="0"/>
            <a:chExt cx="21762720" cy="1280160"/>
          </a:xfrm>
        </p:grpSpPr>
        <p:sp>
          <p:nvSpPr>
            <p:cNvPr name="Freeform 16" id="16"/>
            <p:cNvSpPr/>
            <p:nvPr/>
          </p:nvSpPr>
          <p:spPr>
            <a:xfrm flipH="false" flipV="false" rot="0">
              <a:off x="0" y="0"/>
              <a:ext cx="21762720" cy="1280160"/>
            </a:xfrm>
            <a:custGeom>
              <a:avLst/>
              <a:gdLst/>
              <a:ahLst/>
              <a:cxnLst/>
              <a:rect r="r" b="b" t="t" l="l"/>
              <a:pathLst>
                <a:path h="1280160" w="21762720">
                  <a:moveTo>
                    <a:pt x="0" y="0"/>
                  </a:moveTo>
                  <a:lnTo>
                    <a:pt x="21762720" y="0"/>
                  </a:lnTo>
                  <a:lnTo>
                    <a:pt x="21762720" y="1280160"/>
                  </a:lnTo>
                  <a:lnTo>
                    <a:pt x="0" y="1280160"/>
                  </a:lnTo>
                  <a:close/>
                </a:path>
              </a:pathLst>
            </a:custGeom>
            <a:blipFill>
              <a:blip r:embed="rId3">
                <a:alphaModFix amt="0"/>
              </a:blip>
              <a:stretch>
                <a:fillRect l="0" t="-281245" r="0" b="-281245"/>
              </a:stretch>
            </a:blipFill>
          </p:spPr>
        </p:sp>
        <p:sp>
          <p:nvSpPr>
            <p:cNvPr name="TextBox 17" id="17"/>
            <p:cNvSpPr txBox="true"/>
            <p:nvPr/>
          </p:nvSpPr>
          <p:spPr>
            <a:xfrm>
              <a:off x="0" y="-47625"/>
              <a:ext cx="21762720" cy="1327785"/>
            </a:xfrm>
            <a:prstGeom prst="rect">
              <a:avLst/>
            </a:prstGeom>
          </p:spPr>
          <p:txBody>
            <a:bodyPr anchor="ctr" rtlCol="false" tIns="0" lIns="0" bIns="0" rIns="0"/>
            <a:lstStyle/>
            <a:p>
              <a:pPr algn="l">
                <a:lnSpc>
                  <a:spcPts val="3060"/>
                </a:lnSpc>
              </a:pPr>
              <a:r>
                <a:rPr lang="en-US" sz="2550">
                  <a:solidFill>
                    <a:srgbClr val="2B2B2B"/>
                  </a:solidFill>
                  <a:latin typeface="Calibri (MS)"/>
                  <a:ea typeface="Calibri (MS)"/>
                  <a:cs typeface="Calibri (MS)"/>
                  <a:sym typeface="Calibri (MS)"/>
                </a:rPr>
                <a:t>For every detection, the system will report what was found, whether it is ground or an obstacle, which object it belongs to, and its estimated distance.</a:t>
              </a:r>
            </a:p>
          </p:txBody>
        </p:sp>
      </p:grpSp>
      <p:grpSp>
        <p:nvGrpSpPr>
          <p:cNvPr name="Group 18" id="18"/>
          <p:cNvGrpSpPr/>
          <p:nvPr/>
        </p:nvGrpSpPr>
        <p:grpSpPr>
          <a:xfrm rot="0">
            <a:off x="960120" y="4457700"/>
            <a:ext cx="8023860" cy="384048"/>
            <a:chOff x="0" y="0"/>
            <a:chExt cx="10698480" cy="512064"/>
          </a:xfrm>
        </p:grpSpPr>
        <p:sp>
          <p:nvSpPr>
            <p:cNvPr name="Freeform 19" id="19"/>
            <p:cNvSpPr/>
            <p:nvPr/>
          </p:nvSpPr>
          <p:spPr>
            <a:xfrm flipH="false" flipV="false" rot="0">
              <a:off x="0" y="0"/>
              <a:ext cx="10698480" cy="512064"/>
            </a:xfrm>
            <a:custGeom>
              <a:avLst/>
              <a:gdLst/>
              <a:ahLst/>
              <a:cxnLst/>
              <a:rect r="r" b="b" t="t" l="l"/>
              <a:pathLst>
                <a:path h="512064" w="10698480">
                  <a:moveTo>
                    <a:pt x="0" y="0"/>
                  </a:moveTo>
                  <a:lnTo>
                    <a:pt x="10698480" y="0"/>
                  </a:lnTo>
                  <a:lnTo>
                    <a:pt x="10698480" y="512064"/>
                  </a:lnTo>
                  <a:lnTo>
                    <a:pt x="0" y="512064"/>
                  </a:lnTo>
                  <a:close/>
                </a:path>
              </a:pathLst>
            </a:custGeom>
            <a:blipFill>
              <a:blip r:embed="rId3">
                <a:alphaModFix amt="0"/>
              </a:blip>
              <a:stretch>
                <a:fillRect l="0" t="-357098" r="0" b="-357098"/>
              </a:stretch>
            </a:blipFill>
          </p:spPr>
        </p:sp>
        <p:sp>
          <p:nvSpPr>
            <p:cNvPr name="TextBox 20" id="20"/>
            <p:cNvSpPr txBox="true"/>
            <p:nvPr/>
          </p:nvSpPr>
          <p:spPr>
            <a:xfrm>
              <a:off x="0" y="-38100"/>
              <a:ext cx="10698480" cy="550164"/>
            </a:xfrm>
            <a:prstGeom prst="rect">
              <a:avLst/>
            </a:prstGeom>
          </p:spPr>
          <p:txBody>
            <a:bodyPr anchor="ctr" rtlCol="false" tIns="0" lIns="0" bIns="0" rIns="0"/>
            <a:lstStyle/>
            <a:p>
              <a:pPr algn="l">
                <a:lnSpc>
                  <a:spcPts val="2160"/>
                </a:lnSpc>
              </a:pPr>
              <a:r>
                <a:rPr lang="en-US" sz="1800">
                  <a:solidFill>
                    <a:srgbClr val="6B6B6B"/>
                  </a:solidFill>
                  <a:latin typeface="Calibri (MS)"/>
                  <a:ea typeface="Calibri (MS)"/>
                  <a:cs typeface="Calibri (MS)"/>
                  <a:sym typeface="Calibri (MS)"/>
                </a:rPr>
                <a:t>PLANNED OUTPUT FORMAT</a:t>
              </a:r>
            </a:p>
          </p:txBody>
        </p:sp>
      </p:grpSp>
      <p:grpSp>
        <p:nvGrpSpPr>
          <p:cNvPr name="Group 21" id="21"/>
          <p:cNvGrpSpPr/>
          <p:nvPr/>
        </p:nvGrpSpPr>
        <p:grpSpPr>
          <a:xfrm rot="0">
            <a:off x="950595" y="4928235"/>
            <a:ext cx="8042910" cy="2625090"/>
            <a:chOff x="0" y="0"/>
            <a:chExt cx="10723880" cy="3500120"/>
          </a:xfrm>
        </p:grpSpPr>
        <p:sp>
          <p:nvSpPr>
            <p:cNvPr name="Freeform 22" id="22"/>
            <p:cNvSpPr/>
            <p:nvPr/>
          </p:nvSpPr>
          <p:spPr>
            <a:xfrm flipH="false" flipV="false" rot="0">
              <a:off x="0" y="0"/>
              <a:ext cx="10723880" cy="3500120"/>
            </a:xfrm>
            <a:custGeom>
              <a:avLst/>
              <a:gdLst/>
              <a:ahLst/>
              <a:cxnLst/>
              <a:rect r="r" b="b" t="t" l="l"/>
              <a:pathLst>
                <a:path h="3500120" w="10723880">
                  <a:moveTo>
                    <a:pt x="0" y="110490"/>
                  </a:moveTo>
                  <a:cubicBezTo>
                    <a:pt x="0" y="49530"/>
                    <a:pt x="49530" y="0"/>
                    <a:pt x="110490" y="0"/>
                  </a:cubicBezTo>
                  <a:lnTo>
                    <a:pt x="10613390" y="0"/>
                  </a:lnTo>
                  <a:cubicBezTo>
                    <a:pt x="10674477" y="0"/>
                    <a:pt x="10723880" y="49530"/>
                    <a:pt x="10723880" y="110490"/>
                  </a:cubicBezTo>
                  <a:lnTo>
                    <a:pt x="10723880" y="3389630"/>
                  </a:lnTo>
                  <a:cubicBezTo>
                    <a:pt x="10723880" y="3450717"/>
                    <a:pt x="10674350" y="3500120"/>
                    <a:pt x="10613390" y="3500120"/>
                  </a:cubicBezTo>
                  <a:lnTo>
                    <a:pt x="110490" y="3500120"/>
                  </a:lnTo>
                  <a:cubicBezTo>
                    <a:pt x="49403" y="3500120"/>
                    <a:pt x="0" y="3450590"/>
                    <a:pt x="0" y="3389630"/>
                  </a:cubicBezTo>
                  <a:close/>
                </a:path>
              </a:pathLst>
            </a:custGeom>
            <a:solidFill>
              <a:srgbClr val="2B2B2B"/>
            </a:solidFill>
            <a:ln w="19050" cap="sq">
              <a:solidFill>
                <a:srgbClr val="333333"/>
              </a:solidFill>
              <a:prstDash val="solid"/>
              <a:miter/>
            </a:ln>
          </p:spPr>
        </p:sp>
      </p:grpSp>
      <p:grpSp>
        <p:nvGrpSpPr>
          <p:cNvPr name="Group 23" id="23"/>
          <p:cNvGrpSpPr/>
          <p:nvPr/>
        </p:nvGrpSpPr>
        <p:grpSpPr>
          <a:xfrm rot="0">
            <a:off x="1371600" y="5349240"/>
            <a:ext cx="7200900" cy="1783080"/>
            <a:chOff x="0" y="0"/>
            <a:chExt cx="9601200" cy="2377440"/>
          </a:xfrm>
        </p:grpSpPr>
        <p:sp>
          <p:nvSpPr>
            <p:cNvPr name="Freeform 24" id="24"/>
            <p:cNvSpPr/>
            <p:nvPr/>
          </p:nvSpPr>
          <p:spPr>
            <a:xfrm flipH="false" flipV="false" rot="0">
              <a:off x="0" y="0"/>
              <a:ext cx="9601200" cy="2377440"/>
            </a:xfrm>
            <a:custGeom>
              <a:avLst/>
              <a:gdLst/>
              <a:ahLst/>
              <a:cxnLst/>
              <a:rect r="r" b="b" t="t" l="l"/>
              <a:pathLst>
                <a:path h="2377440" w="9601200">
                  <a:moveTo>
                    <a:pt x="0" y="0"/>
                  </a:moveTo>
                  <a:lnTo>
                    <a:pt x="9601200" y="0"/>
                  </a:lnTo>
                  <a:lnTo>
                    <a:pt x="9601200" y="2377440"/>
                  </a:lnTo>
                  <a:lnTo>
                    <a:pt x="0" y="2377440"/>
                  </a:lnTo>
                  <a:close/>
                </a:path>
              </a:pathLst>
            </a:custGeom>
            <a:blipFill>
              <a:blip r:embed="rId3">
                <a:alphaModFix amt="0"/>
              </a:blip>
              <a:stretch>
                <a:fillRect l="0" t="-28689" r="0" b="-28689"/>
              </a:stretch>
            </a:blipFill>
          </p:spPr>
        </p:sp>
        <p:sp>
          <p:nvSpPr>
            <p:cNvPr name="TextBox 25" id="25"/>
            <p:cNvSpPr txBox="true"/>
            <p:nvPr/>
          </p:nvSpPr>
          <p:spPr>
            <a:xfrm>
              <a:off x="0" y="-57150"/>
              <a:ext cx="9601200" cy="2434590"/>
            </a:xfrm>
            <a:prstGeom prst="rect">
              <a:avLst/>
            </a:prstGeom>
          </p:spPr>
          <p:txBody>
            <a:bodyPr anchor="ctr" rtlCol="false" tIns="0" lIns="0" bIns="0" rIns="0"/>
            <a:lstStyle/>
            <a:p>
              <a:pPr algn="l">
                <a:lnSpc>
                  <a:spcPts val="2700"/>
                </a:lnSpc>
              </a:pPr>
              <a:r>
                <a:rPr lang="en-US" sz="2250">
                  <a:solidFill>
                    <a:srgbClr val="F5F5F5"/>
                  </a:solidFill>
                  <a:latin typeface="Consolas"/>
                  <a:ea typeface="Consolas"/>
                  <a:cs typeface="Consolas"/>
                  <a:sym typeface="Consolas"/>
                </a:rPr>
                <a:t>ECHO VISION  |  GROUND  |  Distance</a:t>
              </a:r>
            </a:p>
            <a:p>
              <a:pPr algn="l">
                <a:lnSpc>
                  <a:spcPts val="2700"/>
                </a:lnSpc>
              </a:pPr>
            </a:p>
            <a:p>
              <a:pPr algn="l">
                <a:lnSpc>
                  <a:spcPts val="2700"/>
                </a:lnSpc>
              </a:pPr>
              <a:r>
                <a:rPr lang="en-US" sz="2250">
                  <a:solidFill>
                    <a:srgbClr val="F5F5F5"/>
                  </a:solidFill>
                  <a:latin typeface="Consolas"/>
                  <a:ea typeface="Consolas"/>
                  <a:cs typeface="Consolas"/>
                  <a:sym typeface="Consolas"/>
                </a:rPr>
                <a:t>ECHO VISION  |  OBSTACLE  |  Object  |  Distance</a:t>
              </a:r>
            </a:p>
          </p:txBody>
        </p:sp>
      </p:grpSp>
      <p:grpSp>
        <p:nvGrpSpPr>
          <p:cNvPr name="Group 26" id="26"/>
          <p:cNvGrpSpPr/>
          <p:nvPr/>
        </p:nvGrpSpPr>
        <p:grpSpPr>
          <a:xfrm rot="0">
            <a:off x="9464040" y="4457700"/>
            <a:ext cx="7818120" cy="384048"/>
            <a:chOff x="0" y="0"/>
            <a:chExt cx="10424160" cy="512064"/>
          </a:xfrm>
        </p:grpSpPr>
        <p:sp>
          <p:nvSpPr>
            <p:cNvPr name="Freeform 27" id="27"/>
            <p:cNvSpPr/>
            <p:nvPr/>
          </p:nvSpPr>
          <p:spPr>
            <a:xfrm flipH="false" flipV="false" rot="0">
              <a:off x="0" y="0"/>
              <a:ext cx="10424160" cy="512064"/>
            </a:xfrm>
            <a:custGeom>
              <a:avLst/>
              <a:gdLst/>
              <a:ahLst/>
              <a:cxnLst/>
              <a:rect r="r" b="b" t="t" l="l"/>
              <a:pathLst>
                <a:path h="512064" w="10424160">
                  <a:moveTo>
                    <a:pt x="0" y="0"/>
                  </a:moveTo>
                  <a:lnTo>
                    <a:pt x="10424160" y="0"/>
                  </a:lnTo>
                  <a:lnTo>
                    <a:pt x="10424160" y="512064"/>
                  </a:lnTo>
                  <a:lnTo>
                    <a:pt x="0" y="512064"/>
                  </a:lnTo>
                  <a:close/>
                </a:path>
              </a:pathLst>
            </a:custGeom>
            <a:blipFill>
              <a:blip r:embed="rId3">
                <a:alphaModFix amt="0"/>
              </a:blip>
              <a:stretch>
                <a:fillRect l="0" t="-346659" r="0" b="-346659"/>
              </a:stretch>
            </a:blipFill>
          </p:spPr>
        </p:sp>
        <p:sp>
          <p:nvSpPr>
            <p:cNvPr name="TextBox 28" id="28"/>
            <p:cNvSpPr txBox="true"/>
            <p:nvPr/>
          </p:nvSpPr>
          <p:spPr>
            <a:xfrm>
              <a:off x="0" y="-38100"/>
              <a:ext cx="10424160" cy="550164"/>
            </a:xfrm>
            <a:prstGeom prst="rect">
              <a:avLst/>
            </a:prstGeom>
          </p:spPr>
          <p:txBody>
            <a:bodyPr anchor="ctr" rtlCol="false" tIns="0" lIns="0" bIns="0" rIns="0"/>
            <a:lstStyle/>
            <a:p>
              <a:pPr algn="l">
                <a:lnSpc>
                  <a:spcPts val="2160"/>
                </a:lnSpc>
              </a:pPr>
              <a:r>
                <a:rPr lang="en-US" sz="1800">
                  <a:solidFill>
                    <a:srgbClr val="6B6B6B"/>
                  </a:solidFill>
                  <a:latin typeface="Calibri (MS)"/>
                  <a:ea typeface="Calibri (MS)"/>
                  <a:cs typeface="Calibri (MS)"/>
                  <a:sym typeface="Calibri (MS)"/>
                </a:rPr>
                <a:t>PLANNED AUDIO GUIDANCE</a:t>
              </a:r>
            </a:p>
          </p:txBody>
        </p:sp>
      </p:grpSp>
      <p:grpSp>
        <p:nvGrpSpPr>
          <p:cNvPr name="Group 29" id="29"/>
          <p:cNvGrpSpPr/>
          <p:nvPr/>
        </p:nvGrpSpPr>
        <p:grpSpPr>
          <a:xfrm rot="0">
            <a:off x="9454515" y="4928235"/>
            <a:ext cx="7837170" cy="2625090"/>
            <a:chOff x="0" y="0"/>
            <a:chExt cx="10449560" cy="3500120"/>
          </a:xfrm>
        </p:grpSpPr>
        <p:sp>
          <p:nvSpPr>
            <p:cNvPr name="Freeform 30" id="30"/>
            <p:cNvSpPr/>
            <p:nvPr/>
          </p:nvSpPr>
          <p:spPr>
            <a:xfrm flipH="false" flipV="false" rot="0">
              <a:off x="0" y="0"/>
              <a:ext cx="10449560" cy="3500120"/>
            </a:xfrm>
            <a:custGeom>
              <a:avLst/>
              <a:gdLst/>
              <a:ahLst/>
              <a:cxnLst/>
              <a:rect r="r" b="b" t="t" l="l"/>
              <a:pathLst>
                <a:path h="3500120" w="10449560">
                  <a:moveTo>
                    <a:pt x="0" y="110490"/>
                  </a:moveTo>
                  <a:cubicBezTo>
                    <a:pt x="0" y="49530"/>
                    <a:pt x="49530" y="0"/>
                    <a:pt x="110490" y="0"/>
                  </a:cubicBezTo>
                  <a:lnTo>
                    <a:pt x="10339070" y="0"/>
                  </a:lnTo>
                  <a:cubicBezTo>
                    <a:pt x="10400157" y="0"/>
                    <a:pt x="10449560" y="49530"/>
                    <a:pt x="10449560" y="110490"/>
                  </a:cubicBezTo>
                  <a:lnTo>
                    <a:pt x="10449560" y="3389630"/>
                  </a:lnTo>
                  <a:cubicBezTo>
                    <a:pt x="10449560" y="3450717"/>
                    <a:pt x="10400030" y="3500120"/>
                    <a:pt x="10339070" y="3500120"/>
                  </a:cubicBezTo>
                  <a:lnTo>
                    <a:pt x="110490" y="3500120"/>
                  </a:lnTo>
                  <a:cubicBezTo>
                    <a:pt x="49403" y="3500120"/>
                    <a:pt x="0" y="3450590"/>
                    <a:pt x="0" y="3389630"/>
                  </a:cubicBezTo>
                  <a:close/>
                </a:path>
              </a:pathLst>
            </a:custGeom>
            <a:solidFill>
              <a:srgbClr val="FFFFFF"/>
            </a:solidFill>
            <a:ln w="19050" cap="sq">
              <a:solidFill>
                <a:srgbClr val="DCDCDC"/>
              </a:solidFill>
              <a:prstDash val="solid"/>
              <a:miter/>
            </a:ln>
          </p:spPr>
        </p:sp>
      </p:grpSp>
      <p:grpSp>
        <p:nvGrpSpPr>
          <p:cNvPr name="Group 31" id="31"/>
          <p:cNvGrpSpPr/>
          <p:nvPr/>
        </p:nvGrpSpPr>
        <p:grpSpPr>
          <a:xfrm rot="0">
            <a:off x="9454515" y="4928235"/>
            <a:ext cx="7837170" cy="94488"/>
            <a:chOff x="0" y="0"/>
            <a:chExt cx="10449560" cy="125984"/>
          </a:xfrm>
        </p:grpSpPr>
        <p:sp>
          <p:nvSpPr>
            <p:cNvPr name="Freeform 32" id="32"/>
            <p:cNvSpPr/>
            <p:nvPr/>
          </p:nvSpPr>
          <p:spPr>
            <a:xfrm flipH="false" flipV="false" rot="0">
              <a:off x="0" y="0"/>
              <a:ext cx="10449560" cy="125984"/>
            </a:xfrm>
            <a:custGeom>
              <a:avLst/>
              <a:gdLst/>
              <a:ahLst/>
              <a:cxnLst/>
              <a:rect r="r" b="b" t="t" l="l"/>
              <a:pathLst>
                <a:path h="125984" w="10449560">
                  <a:moveTo>
                    <a:pt x="0" y="0"/>
                  </a:moveTo>
                  <a:lnTo>
                    <a:pt x="10449560" y="0"/>
                  </a:lnTo>
                  <a:lnTo>
                    <a:pt x="10449560" y="125984"/>
                  </a:lnTo>
                  <a:lnTo>
                    <a:pt x="0" y="125984"/>
                  </a:lnTo>
                  <a:close/>
                </a:path>
              </a:pathLst>
            </a:custGeom>
            <a:solidFill>
              <a:srgbClr val="FF8A80"/>
            </a:solidFill>
            <a:ln w="19050" cap="sq">
              <a:solidFill>
                <a:srgbClr val="333333"/>
              </a:solidFill>
              <a:prstDash val="solid"/>
              <a:miter/>
            </a:ln>
          </p:spPr>
        </p:sp>
      </p:grpSp>
      <p:grpSp>
        <p:nvGrpSpPr>
          <p:cNvPr name="Group 33" id="33"/>
          <p:cNvGrpSpPr/>
          <p:nvPr/>
        </p:nvGrpSpPr>
        <p:grpSpPr>
          <a:xfrm rot="0">
            <a:off x="9875520" y="5692140"/>
            <a:ext cx="6995160" cy="1234440"/>
            <a:chOff x="0" y="0"/>
            <a:chExt cx="9326880" cy="1645920"/>
          </a:xfrm>
        </p:grpSpPr>
        <p:sp>
          <p:nvSpPr>
            <p:cNvPr name="Freeform 34" id="34"/>
            <p:cNvSpPr/>
            <p:nvPr/>
          </p:nvSpPr>
          <p:spPr>
            <a:xfrm flipH="false" flipV="false" rot="0">
              <a:off x="0" y="0"/>
              <a:ext cx="9326880" cy="1645920"/>
            </a:xfrm>
            <a:custGeom>
              <a:avLst/>
              <a:gdLst/>
              <a:ahLst/>
              <a:cxnLst/>
              <a:rect r="r" b="b" t="t" l="l"/>
              <a:pathLst>
                <a:path h="1645920" w="9326880">
                  <a:moveTo>
                    <a:pt x="0" y="0"/>
                  </a:moveTo>
                  <a:lnTo>
                    <a:pt x="9326880" y="0"/>
                  </a:lnTo>
                  <a:lnTo>
                    <a:pt x="9326880" y="1645920"/>
                  </a:lnTo>
                  <a:lnTo>
                    <a:pt x="0" y="1645920"/>
                  </a:lnTo>
                  <a:close/>
                </a:path>
              </a:pathLst>
            </a:custGeom>
            <a:blipFill>
              <a:blip r:embed="rId3">
                <a:alphaModFix amt="0"/>
              </a:blip>
              <a:stretch>
                <a:fillRect l="0" t="-60415" r="0" b="-60415"/>
              </a:stretch>
            </a:blipFill>
          </p:spPr>
        </p:sp>
        <p:sp>
          <p:nvSpPr>
            <p:cNvPr name="TextBox 35" id="35"/>
            <p:cNvSpPr txBox="true"/>
            <p:nvPr/>
          </p:nvSpPr>
          <p:spPr>
            <a:xfrm>
              <a:off x="0" y="-9525"/>
              <a:ext cx="9326880" cy="1655445"/>
            </a:xfrm>
            <a:prstGeom prst="rect">
              <a:avLst/>
            </a:prstGeom>
          </p:spPr>
          <p:txBody>
            <a:bodyPr anchor="ctr" rtlCol="false" tIns="0" lIns="0" bIns="0" rIns="0"/>
            <a:lstStyle/>
            <a:p>
              <a:pPr algn="ctr">
                <a:lnSpc>
                  <a:spcPts val="3419"/>
                </a:lnSpc>
              </a:pPr>
              <a:r>
                <a:rPr lang="en-US" sz="2850" i="true">
                  <a:solidFill>
                    <a:srgbClr val="2B2B2B"/>
                  </a:solidFill>
                  <a:latin typeface="Georgia Italics"/>
                  <a:ea typeface="Georgia Italics"/>
                  <a:cs typeface="Georgia Italics"/>
                  <a:sym typeface="Georgia Italics"/>
                </a:rPr>
                <a:t>Obstacle ahead, about three metres</a:t>
              </a: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grpSp>
        <p:nvGrpSpPr>
          <p:cNvPr name="Group 2" id="2"/>
          <p:cNvGrpSpPr/>
          <p:nvPr/>
        </p:nvGrpSpPr>
        <p:grpSpPr>
          <a:xfrm rot="0">
            <a:off x="960120" y="576072"/>
            <a:ext cx="16322040" cy="658368"/>
            <a:chOff x="0" y="0"/>
            <a:chExt cx="21762720" cy="877824"/>
          </a:xfrm>
        </p:grpSpPr>
        <p:sp>
          <p:nvSpPr>
            <p:cNvPr name="Freeform 3" id="3"/>
            <p:cNvSpPr/>
            <p:nvPr/>
          </p:nvSpPr>
          <p:spPr>
            <a:xfrm flipH="false" flipV="false" rot="0">
              <a:off x="0" y="0"/>
              <a:ext cx="21762720" cy="877824"/>
            </a:xfrm>
            <a:custGeom>
              <a:avLst/>
              <a:gdLst/>
              <a:ahLst/>
              <a:cxnLst/>
              <a:rect r="r" b="b" t="t" l="l"/>
              <a:pathLst>
                <a:path h="877824" w="21762720">
                  <a:moveTo>
                    <a:pt x="0" y="0"/>
                  </a:moveTo>
                  <a:lnTo>
                    <a:pt x="21762720" y="0"/>
                  </a:lnTo>
                  <a:lnTo>
                    <a:pt x="21762720" y="877824"/>
                  </a:lnTo>
                  <a:lnTo>
                    <a:pt x="0" y="877824"/>
                  </a:lnTo>
                  <a:close/>
                </a:path>
              </a:pathLst>
            </a:custGeom>
            <a:blipFill>
              <a:blip r:embed="rId3">
                <a:alphaModFix amt="0"/>
              </a:blip>
              <a:stretch>
                <a:fillRect l="0" t="-433066" r="0" b="-433066"/>
              </a:stretch>
            </a:blipFill>
          </p:spPr>
        </p:sp>
        <p:sp>
          <p:nvSpPr>
            <p:cNvPr name="TextBox 4" id="4"/>
            <p:cNvSpPr txBox="true"/>
            <p:nvPr/>
          </p:nvSpPr>
          <p:spPr>
            <a:xfrm>
              <a:off x="0" y="0"/>
              <a:ext cx="21762720" cy="877824"/>
            </a:xfrm>
            <a:prstGeom prst="rect">
              <a:avLst/>
            </a:prstGeom>
          </p:spPr>
          <p:txBody>
            <a:bodyPr anchor="ctr" rtlCol="false" tIns="0" lIns="0" bIns="0" rIns="0"/>
            <a:lstStyle/>
            <a:p>
              <a:pPr algn="l">
                <a:lnSpc>
                  <a:spcPts val="5759"/>
                </a:lnSpc>
              </a:pPr>
              <a:r>
                <a:rPr lang="en-US" sz="4800">
                  <a:solidFill>
                    <a:srgbClr val="2B2B2B"/>
                  </a:solidFill>
                  <a:latin typeface="Georgia"/>
                  <a:ea typeface="Georgia"/>
                  <a:cs typeface="Georgia"/>
                  <a:sym typeface="Georgia"/>
                </a:rPr>
                <a:t>Technology Stack</a:t>
              </a:r>
            </a:p>
          </p:txBody>
        </p:sp>
      </p:grpSp>
      <p:grpSp>
        <p:nvGrpSpPr>
          <p:cNvPr name="Group 5" id="5"/>
          <p:cNvGrpSpPr/>
          <p:nvPr/>
        </p:nvGrpSpPr>
        <p:grpSpPr>
          <a:xfrm rot="0">
            <a:off x="950595" y="1293495"/>
            <a:ext cx="1088898" cy="67056"/>
            <a:chOff x="0" y="0"/>
            <a:chExt cx="1451864" cy="89408"/>
          </a:xfrm>
        </p:grpSpPr>
        <p:sp>
          <p:nvSpPr>
            <p:cNvPr name="Freeform 6" id="6"/>
            <p:cNvSpPr/>
            <p:nvPr/>
          </p:nvSpPr>
          <p:spPr>
            <a:xfrm flipH="false" flipV="false" rot="0">
              <a:off x="0" y="0"/>
              <a:ext cx="1451864" cy="89408"/>
            </a:xfrm>
            <a:custGeom>
              <a:avLst/>
              <a:gdLst/>
              <a:ahLst/>
              <a:cxnLst/>
              <a:rect r="r" b="b" t="t" l="l"/>
              <a:pathLst>
                <a:path h="89408" w="1451864">
                  <a:moveTo>
                    <a:pt x="0" y="0"/>
                  </a:moveTo>
                  <a:lnTo>
                    <a:pt x="1451864" y="0"/>
                  </a:lnTo>
                  <a:lnTo>
                    <a:pt x="1451864" y="89408"/>
                  </a:lnTo>
                  <a:lnTo>
                    <a:pt x="0" y="89408"/>
                  </a:lnTo>
                  <a:close/>
                </a:path>
              </a:pathLst>
            </a:custGeom>
            <a:solidFill>
              <a:srgbClr val="FF8A80"/>
            </a:solidFill>
            <a:ln w="19050" cap="sq">
              <a:solidFill>
                <a:srgbClr val="333333"/>
              </a:solidFill>
              <a:prstDash val="solid"/>
              <a:miter/>
            </a:ln>
          </p:spPr>
        </p:sp>
      </p:grpSp>
      <p:grpSp>
        <p:nvGrpSpPr>
          <p:cNvPr name="Group 7" id="7"/>
          <p:cNvGrpSpPr/>
          <p:nvPr/>
        </p:nvGrpSpPr>
        <p:grpSpPr>
          <a:xfrm rot="0">
            <a:off x="950595" y="9701403"/>
            <a:ext cx="16386353" cy="35509"/>
            <a:chOff x="0" y="0"/>
            <a:chExt cx="21848470" cy="47346"/>
          </a:xfrm>
        </p:grpSpPr>
        <p:sp>
          <p:nvSpPr>
            <p:cNvPr name="Freeform 8" id="8"/>
            <p:cNvSpPr/>
            <p:nvPr/>
          </p:nvSpPr>
          <p:spPr>
            <a:xfrm flipH="false" flipV="false" rot="0">
              <a:off x="0" y="0"/>
              <a:ext cx="21848445" cy="47371"/>
            </a:xfrm>
            <a:custGeom>
              <a:avLst/>
              <a:gdLst/>
              <a:ahLst/>
              <a:cxnLst/>
              <a:rect r="r" b="b" t="t" l="l"/>
              <a:pathLst>
                <a:path h="47371" w="21848445">
                  <a:moveTo>
                    <a:pt x="0" y="0"/>
                  </a:moveTo>
                  <a:lnTo>
                    <a:pt x="21848445" y="0"/>
                  </a:lnTo>
                  <a:lnTo>
                    <a:pt x="21848445" y="47371"/>
                  </a:lnTo>
                  <a:lnTo>
                    <a:pt x="0" y="47371"/>
                  </a:lnTo>
                  <a:close/>
                </a:path>
              </a:pathLst>
            </a:custGeom>
            <a:solidFill>
              <a:srgbClr val="D0D0D0"/>
            </a:solidFill>
            <a:ln w="19050" cap="sq">
              <a:solidFill>
                <a:srgbClr val="333333"/>
              </a:solidFill>
              <a:prstDash val="solid"/>
              <a:miter/>
            </a:ln>
          </p:spPr>
        </p:sp>
      </p:grpSp>
      <p:grpSp>
        <p:nvGrpSpPr>
          <p:cNvPr name="Group 9" id="9"/>
          <p:cNvGrpSpPr/>
          <p:nvPr/>
        </p:nvGrpSpPr>
        <p:grpSpPr>
          <a:xfrm rot="0">
            <a:off x="15636240" y="9806940"/>
            <a:ext cx="1645920" cy="356616"/>
            <a:chOff x="0" y="0"/>
            <a:chExt cx="2194560" cy="475488"/>
          </a:xfrm>
        </p:grpSpPr>
        <p:sp>
          <p:nvSpPr>
            <p:cNvPr name="Freeform 10" id="10"/>
            <p:cNvSpPr/>
            <p:nvPr/>
          </p:nvSpPr>
          <p:spPr>
            <a:xfrm flipH="false" flipV="false" rot="0">
              <a:off x="0" y="0"/>
              <a:ext cx="2194560" cy="475488"/>
            </a:xfrm>
            <a:custGeom>
              <a:avLst/>
              <a:gdLst/>
              <a:ahLst/>
              <a:cxnLst/>
              <a:rect r="r" b="b" t="t" l="l"/>
              <a:pathLst>
                <a:path h="475488" w="2194560">
                  <a:moveTo>
                    <a:pt x="0" y="0"/>
                  </a:moveTo>
                  <a:lnTo>
                    <a:pt x="2194560" y="0"/>
                  </a:lnTo>
                  <a:lnTo>
                    <a:pt x="2194560" y="475488"/>
                  </a:lnTo>
                  <a:lnTo>
                    <a:pt x="0" y="475488"/>
                  </a:lnTo>
                  <a:close/>
                </a:path>
              </a:pathLst>
            </a:custGeom>
            <a:blipFill>
              <a:blip r:embed="rId3">
                <a:alphaModFix amt="0"/>
              </a:blip>
              <a:stretch>
                <a:fillRect l="0" t="-39930" r="0" b="-39930"/>
              </a:stretch>
            </a:blipFill>
          </p:spPr>
        </p:sp>
        <p:sp>
          <p:nvSpPr>
            <p:cNvPr name="TextBox 11" id="11"/>
            <p:cNvSpPr txBox="true"/>
            <p:nvPr/>
          </p:nvSpPr>
          <p:spPr>
            <a:xfrm>
              <a:off x="0" y="-28575"/>
              <a:ext cx="2194560" cy="504063"/>
            </a:xfrm>
            <a:prstGeom prst="rect">
              <a:avLst/>
            </a:prstGeom>
          </p:spPr>
          <p:txBody>
            <a:bodyPr anchor="ctr" rtlCol="false" tIns="0" lIns="0" bIns="0" rIns="0"/>
            <a:lstStyle/>
            <a:p>
              <a:pPr algn="r">
                <a:lnSpc>
                  <a:spcPts val="1980"/>
                </a:lnSpc>
              </a:pPr>
              <a:r>
                <a:rPr lang="en-US" sz="1650">
                  <a:solidFill>
                    <a:srgbClr val="6B6B6B"/>
                  </a:solidFill>
                  <a:latin typeface="Calibri (MS)"/>
                  <a:ea typeface="Calibri (MS)"/>
                  <a:cs typeface="Calibri (MS)"/>
                  <a:sym typeface="Calibri (MS)"/>
                </a:rPr>
                <a:t>09</a:t>
              </a:r>
            </a:p>
          </p:txBody>
        </p:sp>
      </p:grpSp>
      <p:grpSp>
        <p:nvGrpSpPr>
          <p:cNvPr name="Group 12" id="12"/>
          <p:cNvGrpSpPr/>
          <p:nvPr/>
        </p:nvGrpSpPr>
        <p:grpSpPr>
          <a:xfrm rot="0">
            <a:off x="950595" y="1979295"/>
            <a:ext cx="5436870" cy="2967990"/>
            <a:chOff x="0" y="0"/>
            <a:chExt cx="7249160" cy="3957320"/>
          </a:xfrm>
        </p:grpSpPr>
        <p:sp>
          <p:nvSpPr>
            <p:cNvPr name="Freeform 13" id="13"/>
            <p:cNvSpPr/>
            <p:nvPr/>
          </p:nvSpPr>
          <p:spPr>
            <a:xfrm flipH="false" flipV="false" rot="0">
              <a:off x="0" y="0"/>
              <a:ext cx="7249160" cy="3957320"/>
            </a:xfrm>
            <a:custGeom>
              <a:avLst/>
              <a:gdLst/>
              <a:ahLst/>
              <a:cxnLst/>
              <a:rect r="r" b="b" t="t" l="l"/>
              <a:pathLst>
                <a:path h="3957320" w="7249160">
                  <a:moveTo>
                    <a:pt x="0" y="110490"/>
                  </a:moveTo>
                  <a:cubicBezTo>
                    <a:pt x="0" y="49403"/>
                    <a:pt x="49403" y="0"/>
                    <a:pt x="110490" y="0"/>
                  </a:cubicBezTo>
                  <a:lnTo>
                    <a:pt x="7138670" y="0"/>
                  </a:lnTo>
                  <a:cubicBezTo>
                    <a:pt x="7199630" y="0"/>
                    <a:pt x="7249160" y="49403"/>
                    <a:pt x="7249160" y="110490"/>
                  </a:cubicBezTo>
                  <a:lnTo>
                    <a:pt x="7249160" y="3846830"/>
                  </a:lnTo>
                  <a:cubicBezTo>
                    <a:pt x="7249160" y="3907790"/>
                    <a:pt x="7199757" y="3957320"/>
                    <a:pt x="7138670" y="3957320"/>
                  </a:cubicBezTo>
                  <a:lnTo>
                    <a:pt x="110490" y="3957320"/>
                  </a:lnTo>
                  <a:cubicBezTo>
                    <a:pt x="49530" y="3957320"/>
                    <a:pt x="0" y="3907917"/>
                    <a:pt x="0" y="3846830"/>
                  </a:cubicBezTo>
                  <a:close/>
                </a:path>
              </a:pathLst>
            </a:custGeom>
            <a:solidFill>
              <a:srgbClr val="FFFFFF"/>
            </a:solidFill>
            <a:ln w="19050" cap="sq">
              <a:solidFill>
                <a:srgbClr val="DCDCDC"/>
              </a:solidFill>
              <a:prstDash val="solid"/>
              <a:miter/>
            </a:ln>
          </p:spPr>
        </p:sp>
      </p:grpSp>
      <p:grpSp>
        <p:nvGrpSpPr>
          <p:cNvPr name="Group 14" id="14"/>
          <p:cNvGrpSpPr/>
          <p:nvPr/>
        </p:nvGrpSpPr>
        <p:grpSpPr>
          <a:xfrm rot="0">
            <a:off x="950595" y="1979295"/>
            <a:ext cx="5436870" cy="94488"/>
            <a:chOff x="0" y="0"/>
            <a:chExt cx="7249160" cy="125984"/>
          </a:xfrm>
        </p:grpSpPr>
        <p:sp>
          <p:nvSpPr>
            <p:cNvPr name="Freeform 15" id="15"/>
            <p:cNvSpPr/>
            <p:nvPr/>
          </p:nvSpPr>
          <p:spPr>
            <a:xfrm flipH="false" flipV="false" rot="0">
              <a:off x="0" y="0"/>
              <a:ext cx="7249160" cy="125984"/>
            </a:xfrm>
            <a:custGeom>
              <a:avLst/>
              <a:gdLst/>
              <a:ahLst/>
              <a:cxnLst/>
              <a:rect r="r" b="b" t="t" l="l"/>
              <a:pathLst>
                <a:path h="125984" w="7249160">
                  <a:moveTo>
                    <a:pt x="0" y="0"/>
                  </a:moveTo>
                  <a:lnTo>
                    <a:pt x="7249160" y="0"/>
                  </a:lnTo>
                  <a:lnTo>
                    <a:pt x="7249160" y="125984"/>
                  </a:lnTo>
                  <a:lnTo>
                    <a:pt x="0" y="125984"/>
                  </a:lnTo>
                  <a:close/>
                </a:path>
              </a:pathLst>
            </a:custGeom>
            <a:solidFill>
              <a:srgbClr val="FF8A80"/>
            </a:solidFill>
            <a:ln w="19050" cap="sq">
              <a:solidFill>
                <a:srgbClr val="333333"/>
              </a:solidFill>
              <a:prstDash val="solid"/>
              <a:miter/>
            </a:ln>
          </p:spPr>
        </p:sp>
      </p:grpSp>
      <p:grpSp>
        <p:nvGrpSpPr>
          <p:cNvPr name="Group 16" id="16"/>
          <p:cNvGrpSpPr/>
          <p:nvPr/>
        </p:nvGrpSpPr>
        <p:grpSpPr>
          <a:xfrm rot="0">
            <a:off x="1303020" y="2743200"/>
            <a:ext cx="4732020" cy="617220"/>
            <a:chOff x="0" y="0"/>
            <a:chExt cx="6309360" cy="822960"/>
          </a:xfrm>
        </p:grpSpPr>
        <p:sp>
          <p:nvSpPr>
            <p:cNvPr name="Freeform 17" id="17"/>
            <p:cNvSpPr/>
            <p:nvPr/>
          </p:nvSpPr>
          <p:spPr>
            <a:xfrm flipH="false" flipV="false" rot="0">
              <a:off x="0" y="0"/>
              <a:ext cx="6309360" cy="822960"/>
            </a:xfrm>
            <a:custGeom>
              <a:avLst/>
              <a:gdLst/>
              <a:ahLst/>
              <a:cxnLst/>
              <a:rect r="r" b="b" t="t" l="l"/>
              <a:pathLst>
                <a:path h="822960" w="6309360">
                  <a:moveTo>
                    <a:pt x="0" y="0"/>
                  </a:moveTo>
                  <a:lnTo>
                    <a:pt x="6309360" y="0"/>
                  </a:lnTo>
                  <a:lnTo>
                    <a:pt x="6309360" y="822960"/>
                  </a:lnTo>
                  <a:lnTo>
                    <a:pt x="0" y="822960"/>
                  </a:lnTo>
                  <a:close/>
                </a:path>
              </a:pathLst>
            </a:custGeom>
            <a:blipFill>
              <a:blip r:embed="rId3">
                <a:alphaModFix amt="0"/>
              </a:blip>
              <a:stretch>
                <a:fillRect l="0" t="-99385" r="0" b="-99385"/>
              </a:stretch>
            </a:blipFill>
          </p:spPr>
        </p:sp>
        <p:sp>
          <p:nvSpPr>
            <p:cNvPr name="TextBox 18" id="18"/>
            <p:cNvSpPr txBox="true"/>
            <p:nvPr/>
          </p:nvSpPr>
          <p:spPr>
            <a:xfrm>
              <a:off x="0" y="-57150"/>
              <a:ext cx="6309360" cy="880110"/>
            </a:xfrm>
            <a:prstGeom prst="rect">
              <a:avLst/>
            </a:prstGeom>
          </p:spPr>
          <p:txBody>
            <a:bodyPr anchor="ctr" rtlCol="false" tIns="0" lIns="0" bIns="0" rIns="0"/>
            <a:lstStyle/>
            <a:p>
              <a:pPr algn="l">
                <a:lnSpc>
                  <a:spcPts val="3240"/>
                </a:lnSpc>
              </a:pPr>
              <a:r>
                <a:rPr lang="en-US" sz="2700" b="true">
                  <a:solidFill>
                    <a:srgbClr val="2B2B2B"/>
                  </a:solidFill>
                  <a:latin typeface="Calibri (MS) Bold"/>
                  <a:ea typeface="Calibri (MS) Bold"/>
                  <a:cs typeface="Calibri (MS) Bold"/>
                  <a:sym typeface="Calibri (MS) Bold"/>
                </a:rPr>
                <a:t>Unity 3D</a:t>
              </a:r>
            </a:p>
          </p:txBody>
        </p:sp>
      </p:grpSp>
      <p:grpSp>
        <p:nvGrpSpPr>
          <p:cNvPr name="Group 19" id="19"/>
          <p:cNvGrpSpPr/>
          <p:nvPr/>
        </p:nvGrpSpPr>
        <p:grpSpPr>
          <a:xfrm rot="0">
            <a:off x="1303020" y="3566160"/>
            <a:ext cx="4732020" cy="754380"/>
            <a:chOff x="0" y="0"/>
            <a:chExt cx="6309360" cy="1005840"/>
          </a:xfrm>
        </p:grpSpPr>
        <p:sp>
          <p:nvSpPr>
            <p:cNvPr name="Freeform 20" id="20"/>
            <p:cNvSpPr/>
            <p:nvPr/>
          </p:nvSpPr>
          <p:spPr>
            <a:xfrm flipH="false" flipV="false" rot="0">
              <a:off x="0" y="0"/>
              <a:ext cx="6309360" cy="1005840"/>
            </a:xfrm>
            <a:custGeom>
              <a:avLst/>
              <a:gdLst/>
              <a:ahLst/>
              <a:cxnLst/>
              <a:rect r="r" b="b" t="t" l="l"/>
              <a:pathLst>
                <a:path h="1005840" w="6309360">
                  <a:moveTo>
                    <a:pt x="0" y="0"/>
                  </a:moveTo>
                  <a:lnTo>
                    <a:pt x="6309360" y="0"/>
                  </a:lnTo>
                  <a:lnTo>
                    <a:pt x="6309360" y="1005840"/>
                  </a:lnTo>
                  <a:lnTo>
                    <a:pt x="0" y="1005840"/>
                  </a:lnTo>
                  <a:close/>
                </a:path>
              </a:pathLst>
            </a:custGeom>
            <a:blipFill>
              <a:blip r:embed="rId3">
                <a:alphaModFix amt="0"/>
              </a:blip>
              <a:stretch>
                <a:fillRect l="0" t="-72224" r="0" b="-72224"/>
              </a:stretch>
            </a:blipFill>
          </p:spPr>
        </p:sp>
        <p:sp>
          <p:nvSpPr>
            <p:cNvPr name="TextBox 21" id="21"/>
            <p:cNvSpPr txBox="true"/>
            <p:nvPr/>
          </p:nvSpPr>
          <p:spPr>
            <a:xfrm>
              <a:off x="0" y="-57150"/>
              <a:ext cx="6309360" cy="1062990"/>
            </a:xfrm>
            <a:prstGeom prst="rect">
              <a:avLst/>
            </a:prstGeom>
          </p:spPr>
          <p:txBody>
            <a:bodyPr anchor="ctr" rtlCol="false" tIns="0" lIns="0" bIns="0" rIns="0"/>
            <a:lstStyle/>
            <a:p>
              <a:pPr algn="l">
                <a:lnSpc>
                  <a:spcPts val="2700"/>
                </a:lnSpc>
              </a:pPr>
              <a:r>
                <a:rPr lang="en-US" sz="2250">
                  <a:solidFill>
                    <a:srgbClr val="555555"/>
                  </a:solidFill>
                  <a:latin typeface="Calibri (MS)"/>
                  <a:ea typeface="Calibri (MS)"/>
                  <a:cs typeface="Calibri (MS)"/>
                  <a:sym typeface="Calibri (MS)"/>
                </a:rPr>
                <a:t>Virtual environment and digital twin</a:t>
              </a:r>
            </a:p>
          </p:txBody>
        </p:sp>
      </p:grpSp>
      <p:grpSp>
        <p:nvGrpSpPr>
          <p:cNvPr name="Group 22" id="22"/>
          <p:cNvGrpSpPr/>
          <p:nvPr/>
        </p:nvGrpSpPr>
        <p:grpSpPr>
          <a:xfrm rot="0">
            <a:off x="6601587" y="1979295"/>
            <a:ext cx="5436870" cy="2967990"/>
            <a:chOff x="0" y="0"/>
            <a:chExt cx="7249160" cy="3957320"/>
          </a:xfrm>
        </p:grpSpPr>
        <p:sp>
          <p:nvSpPr>
            <p:cNvPr name="Freeform 23" id="23"/>
            <p:cNvSpPr/>
            <p:nvPr/>
          </p:nvSpPr>
          <p:spPr>
            <a:xfrm flipH="false" flipV="false" rot="0">
              <a:off x="0" y="0"/>
              <a:ext cx="7249160" cy="3957320"/>
            </a:xfrm>
            <a:custGeom>
              <a:avLst/>
              <a:gdLst/>
              <a:ahLst/>
              <a:cxnLst/>
              <a:rect r="r" b="b" t="t" l="l"/>
              <a:pathLst>
                <a:path h="3957320" w="7249160">
                  <a:moveTo>
                    <a:pt x="0" y="110490"/>
                  </a:moveTo>
                  <a:cubicBezTo>
                    <a:pt x="0" y="49403"/>
                    <a:pt x="49403" y="0"/>
                    <a:pt x="110490" y="0"/>
                  </a:cubicBezTo>
                  <a:lnTo>
                    <a:pt x="7138670" y="0"/>
                  </a:lnTo>
                  <a:cubicBezTo>
                    <a:pt x="7199630" y="0"/>
                    <a:pt x="7249160" y="49403"/>
                    <a:pt x="7249160" y="110490"/>
                  </a:cubicBezTo>
                  <a:lnTo>
                    <a:pt x="7249160" y="3846830"/>
                  </a:lnTo>
                  <a:cubicBezTo>
                    <a:pt x="7249160" y="3907790"/>
                    <a:pt x="7199757" y="3957320"/>
                    <a:pt x="7138670" y="3957320"/>
                  </a:cubicBezTo>
                  <a:lnTo>
                    <a:pt x="110490" y="3957320"/>
                  </a:lnTo>
                  <a:cubicBezTo>
                    <a:pt x="49530" y="3957320"/>
                    <a:pt x="0" y="3907917"/>
                    <a:pt x="0" y="3846830"/>
                  </a:cubicBezTo>
                  <a:close/>
                </a:path>
              </a:pathLst>
            </a:custGeom>
            <a:solidFill>
              <a:srgbClr val="FFFFFF"/>
            </a:solidFill>
            <a:ln w="19050" cap="sq">
              <a:solidFill>
                <a:srgbClr val="DCDCDC"/>
              </a:solidFill>
              <a:prstDash val="solid"/>
              <a:miter/>
            </a:ln>
          </p:spPr>
        </p:sp>
      </p:grpSp>
      <p:grpSp>
        <p:nvGrpSpPr>
          <p:cNvPr name="Group 24" id="24"/>
          <p:cNvGrpSpPr/>
          <p:nvPr/>
        </p:nvGrpSpPr>
        <p:grpSpPr>
          <a:xfrm rot="0">
            <a:off x="6601587" y="1979295"/>
            <a:ext cx="5436870" cy="94488"/>
            <a:chOff x="0" y="0"/>
            <a:chExt cx="7249160" cy="125984"/>
          </a:xfrm>
        </p:grpSpPr>
        <p:sp>
          <p:nvSpPr>
            <p:cNvPr name="Freeform 25" id="25"/>
            <p:cNvSpPr/>
            <p:nvPr/>
          </p:nvSpPr>
          <p:spPr>
            <a:xfrm flipH="false" flipV="false" rot="0">
              <a:off x="0" y="0"/>
              <a:ext cx="7249160" cy="125984"/>
            </a:xfrm>
            <a:custGeom>
              <a:avLst/>
              <a:gdLst/>
              <a:ahLst/>
              <a:cxnLst/>
              <a:rect r="r" b="b" t="t" l="l"/>
              <a:pathLst>
                <a:path h="125984" w="7249160">
                  <a:moveTo>
                    <a:pt x="0" y="0"/>
                  </a:moveTo>
                  <a:lnTo>
                    <a:pt x="7249160" y="0"/>
                  </a:lnTo>
                  <a:lnTo>
                    <a:pt x="7249160" y="125984"/>
                  </a:lnTo>
                  <a:lnTo>
                    <a:pt x="0" y="125984"/>
                  </a:lnTo>
                  <a:close/>
                </a:path>
              </a:pathLst>
            </a:custGeom>
            <a:solidFill>
              <a:srgbClr val="FF8A80"/>
            </a:solidFill>
            <a:ln w="19050" cap="sq">
              <a:solidFill>
                <a:srgbClr val="333333"/>
              </a:solidFill>
              <a:prstDash val="solid"/>
              <a:miter/>
            </a:ln>
          </p:spPr>
        </p:sp>
      </p:grpSp>
      <p:grpSp>
        <p:nvGrpSpPr>
          <p:cNvPr name="Group 26" id="26"/>
          <p:cNvGrpSpPr/>
          <p:nvPr/>
        </p:nvGrpSpPr>
        <p:grpSpPr>
          <a:xfrm rot="0">
            <a:off x="6954012" y="2743200"/>
            <a:ext cx="4732020" cy="617220"/>
            <a:chOff x="0" y="0"/>
            <a:chExt cx="6309360" cy="822960"/>
          </a:xfrm>
        </p:grpSpPr>
        <p:sp>
          <p:nvSpPr>
            <p:cNvPr name="Freeform 27" id="27"/>
            <p:cNvSpPr/>
            <p:nvPr/>
          </p:nvSpPr>
          <p:spPr>
            <a:xfrm flipH="false" flipV="false" rot="0">
              <a:off x="0" y="0"/>
              <a:ext cx="6309360" cy="822960"/>
            </a:xfrm>
            <a:custGeom>
              <a:avLst/>
              <a:gdLst/>
              <a:ahLst/>
              <a:cxnLst/>
              <a:rect r="r" b="b" t="t" l="l"/>
              <a:pathLst>
                <a:path h="822960" w="6309360">
                  <a:moveTo>
                    <a:pt x="0" y="0"/>
                  </a:moveTo>
                  <a:lnTo>
                    <a:pt x="6309360" y="0"/>
                  </a:lnTo>
                  <a:lnTo>
                    <a:pt x="6309360" y="822960"/>
                  </a:lnTo>
                  <a:lnTo>
                    <a:pt x="0" y="822960"/>
                  </a:lnTo>
                  <a:close/>
                </a:path>
              </a:pathLst>
            </a:custGeom>
            <a:blipFill>
              <a:blip r:embed="rId3">
                <a:alphaModFix amt="0"/>
              </a:blip>
              <a:stretch>
                <a:fillRect l="0" t="-99385" r="0" b="-99385"/>
              </a:stretch>
            </a:blipFill>
          </p:spPr>
        </p:sp>
        <p:sp>
          <p:nvSpPr>
            <p:cNvPr name="TextBox 28" id="28"/>
            <p:cNvSpPr txBox="true"/>
            <p:nvPr/>
          </p:nvSpPr>
          <p:spPr>
            <a:xfrm>
              <a:off x="0" y="-57150"/>
              <a:ext cx="6309360" cy="880110"/>
            </a:xfrm>
            <a:prstGeom prst="rect">
              <a:avLst/>
            </a:prstGeom>
          </p:spPr>
          <p:txBody>
            <a:bodyPr anchor="ctr" rtlCol="false" tIns="0" lIns="0" bIns="0" rIns="0"/>
            <a:lstStyle/>
            <a:p>
              <a:pPr algn="l">
                <a:lnSpc>
                  <a:spcPts val="3240"/>
                </a:lnSpc>
              </a:pPr>
              <a:r>
                <a:rPr lang="en-US" sz="2700" b="true">
                  <a:solidFill>
                    <a:srgbClr val="2B2B2B"/>
                  </a:solidFill>
                  <a:latin typeface="Calibri (MS) Bold"/>
                  <a:ea typeface="Calibri (MS) Bold"/>
                  <a:cs typeface="Calibri (MS) Bold"/>
                  <a:sym typeface="Calibri (MS) Bold"/>
                </a:rPr>
                <a:t>C#</a:t>
              </a:r>
            </a:p>
          </p:txBody>
        </p:sp>
      </p:grpSp>
      <p:grpSp>
        <p:nvGrpSpPr>
          <p:cNvPr name="Group 29" id="29"/>
          <p:cNvGrpSpPr/>
          <p:nvPr/>
        </p:nvGrpSpPr>
        <p:grpSpPr>
          <a:xfrm rot="0">
            <a:off x="6954012" y="3566160"/>
            <a:ext cx="4732020" cy="754380"/>
            <a:chOff x="0" y="0"/>
            <a:chExt cx="6309360" cy="1005840"/>
          </a:xfrm>
        </p:grpSpPr>
        <p:sp>
          <p:nvSpPr>
            <p:cNvPr name="Freeform 30" id="30"/>
            <p:cNvSpPr/>
            <p:nvPr/>
          </p:nvSpPr>
          <p:spPr>
            <a:xfrm flipH="false" flipV="false" rot="0">
              <a:off x="0" y="0"/>
              <a:ext cx="6309360" cy="1005840"/>
            </a:xfrm>
            <a:custGeom>
              <a:avLst/>
              <a:gdLst/>
              <a:ahLst/>
              <a:cxnLst/>
              <a:rect r="r" b="b" t="t" l="l"/>
              <a:pathLst>
                <a:path h="1005840" w="6309360">
                  <a:moveTo>
                    <a:pt x="0" y="0"/>
                  </a:moveTo>
                  <a:lnTo>
                    <a:pt x="6309360" y="0"/>
                  </a:lnTo>
                  <a:lnTo>
                    <a:pt x="6309360" y="1005840"/>
                  </a:lnTo>
                  <a:lnTo>
                    <a:pt x="0" y="1005840"/>
                  </a:lnTo>
                  <a:close/>
                </a:path>
              </a:pathLst>
            </a:custGeom>
            <a:blipFill>
              <a:blip r:embed="rId3">
                <a:alphaModFix amt="0"/>
              </a:blip>
              <a:stretch>
                <a:fillRect l="0" t="-72224" r="0" b="-72224"/>
              </a:stretch>
            </a:blipFill>
          </p:spPr>
        </p:sp>
        <p:sp>
          <p:nvSpPr>
            <p:cNvPr name="TextBox 31" id="31"/>
            <p:cNvSpPr txBox="true"/>
            <p:nvPr/>
          </p:nvSpPr>
          <p:spPr>
            <a:xfrm>
              <a:off x="0" y="-57150"/>
              <a:ext cx="6309360" cy="1062990"/>
            </a:xfrm>
            <a:prstGeom prst="rect">
              <a:avLst/>
            </a:prstGeom>
          </p:spPr>
          <p:txBody>
            <a:bodyPr anchor="ctr" rtlCol="false" tIns="0" lIns="0" bIns="0" rIns="0"/>
            <a:lstStyle/>
            <a:p>
              <a:pPr algn="l">
                <a:lnSpc>
                  <a:spcPts val="2700"/>
                </a:lnSpc>
              </a:pPr>
              <a:r>
                <a:rPr lang="en-US" sz="2250">
                  <a:solidFill>
                    <a:srgbClr val="555555"/>
                  </a:solidFill>
                  <a:latin typeface="Calibri (MS)"/>
                  <a:ea typeface="Calibri (MS)"/>
                  <a:cs typeface="Calibri (MS)"/>
                  <a:sym typeface="Calibri (MS)"/>
                </a:rPr>
                <a:t>Sensing and perception programming</a:t>
              </a:r>
            </a:p>
          </p:txBody>
        </p:sp>
      </p:grpSp>
      <p:grpSp>
        <p:nvGrpSpPr>
          <p:cNvPr name="Group 32" id="32"/>
          <p:cNvGrpSpPr/>
          <p:nvPr/>
        </p:nvGrpSpPr>
        <p:grpSpPr>
          <a:xfrm rot="0">
            <a:off x="12252579" y="1979295"/>
            <a:ext cx="5436870" cy="2967990"/>
            <a:chOff x="0" y="0"/>
            <a:chExt cx="7249160" cy="3957320"/>
          </a:xfrm>
        </p:grpSpPr>
        <p:sp>
          <p:nvSpPr>
            <p:cNvPr name="Freeform 33" id="33"/>
            <p:cNvSpPr/>
            <p:nvPr/>
          </p:nvSpPr>
          <p:spPr>
            <a:xfrm flipH="false" flipV="false" rot="0">
              <a:off x="0" y="0"/>
              <a:ext cx="7249160" cy="3957320"/>
            </a:xfrm>
            <a:custGeom>
              <a:avLst/>
              <a:gdLst/>
              <a:ahLst/>
              <a:cxnLst/>
              <a:rect r="r" b="b" t="t" l="l"/>
              <a:pathLst>
                <a:path h="3957320" w="7249160">
                  <a:moveTo>
                    <a:pt x="0" y="110490"/>
                  </a:moveTo>
                  <a:cubicBezTo>
                    <a:pt x="0" y="49403"/>
                    <a:pt x="49403" y="0"/>
                    <a:pt x="110490" y="0"/>
                  </a:cubicBezTo>
                  <a:lnTo>
                    <a:pt x="7138670" y="0"/>
                  </a:lnTo>
                  <a:cubicBezTo>
                    <a:pt x="7199630" y="0"/>
                    <a:pt x="7249160" y="49403"/>
                    <a:pt x="7249160" y="110490"/>
                  </a:cubicBezTo>
                  <a:lnTo>
                    <a:pt x="7249160" y="3846830"/>
                  </a:lnTo>
                  <a:cubicBezTo>
                    <a:pt x="7249160" y="3907790"/>
                    <a:pt x="7199757" y="3957320"/>
                    <a:pt x="7138670" y="3957320"/>
                  </a:cubicBezTo>
                  <a:lnTo>
                    <a:pt x="110490" y="3957320"/>
                  </a:lnTo>
                  <a:cubicBezTo>
                    <a:pt x="49530" y="3957320"/>
                    <a:pt x="0" y="3907917"/>
                    <a:pt x="0" y="3846830"/>
                  </a:cubicBezTo>
                  <a:close/>
                </a:path>
              </a:pathLst>
            </a:custGeom>
            <a:solidFill>
              <a:srgbClr val="FFFFFF"/>
            </a:solidFill>
            <a:ln w="19050" cap="sq">
              <a:solidFill>
                <a:srgbClr val="DCDCDC"/>
              </a:solidFill>
              <a:prstDash val="solid"/>
              <a:miter/>
            </a:ln>
          </p:spPr>
        </p:sp>
      </p:grpSp>
      <p:grpSp>
        <p:nvGrpSpPr>
          <p:cNvPr name="Group 34" id="34"/>
          <p:cNvGrpSpPr/>
          <p:nvPr/>
        </p:nvGrpSpPr>
        <p:grpSpPr>
          <a:xfrm rot="0">
            <a:off x="12252579" y="1979295"/>
            <a:ext cx="5436870" cy="94488"/>
            <a:chOff x="0" y="0"/>
            <a:chExt cx="7249160" cy="125984"/>
          </a:xfrm>
        </p:grpSpPr>
        <p:sp>
          <p:nvSpPr>
            <p:cNvPr name="Freeform 35" id="35"/>
            <p:cNvSpPr/>
            <p:nvPr/>
          </p:nvSpPr>
          <p:spPr>
            <a:xfrm flipH="false" flipV="false" rot="0">
              <a:off x="0" y="0"/>
              <a:ext cx="7249160" cy="125984"/>
            </a:xfrm>
            <a:custGeom>
              <a:avLst/>
              <a:gdLst/>
              <a:ahLst/>
              <a:cxnLst/>
              <a:rect r="r" b="b" t="t" l="l"/>
              <a:pathLst>
                <a:path h="125984" w="7249160">
                  <a:moveTo>
                    <a:pt x="0" y="0"/>
                  </a:moveTo>
                  <a:lnTo>
                    <a:pt x="7249160" y="0"/>
                  </a:lnTo>
                  <a:lnTo>
                    <a:pt x="7249160" y="125984"/>
                  </a:lnTo>
                  <a:lnTo>
                    <a:pt x="0" y="125984"/>
                  </a:lnTo>
                  <a:close/>
                </a:path>
              </a:pathLst>
            </a:custGeom>
            <a:solidFill>
              <a:srgbClr val="FF8A80"/>
            </a:solidFill>
            <a:ln w="19050" cap="sq">
              <a:solidFill>
                <a:srgbClr val="333333"/>
              </a:solidFill>
              <a:prstDash val="solid"/>
              <a:miter/>
            </a:ln>
          </p:spPr>
        </p:sp>
      </p:grpSp>
      <p:grpSp>
        <p:nvGrpSpPr>
          <p:cNvPr name="Group 36" id="36"/>
          <p:cNvGrpSpPr/>
          <p:nvPr/>
        </p:nvGrpSpPr>
        <p:grpSpPr>
          <a:xfrm rot="0">
            <a:off x="12605004" y="2743200"/>
            <a:ext cx="4732020" cy="617220"/>
            <a:chOff x="0" y="0"/>
            <a:chExt cx="6309360" cy="822960"/>
          </a:xfrm>
        </p:grpSpPr>
        <p:sp>
          <p:nvSpPr>
            <p:cNvPr name="Freeform 37" id="37"/>
            <p:cNvSpPr/>
            <p:nvPr/>
          </p:nvSpPr>
          <p:spPr>
            <a:xfrm flipH="false" flipV="false" rot="0">
              <a:off x="0" y="0"/>
              <a:ext cx="6309360" cy="822960"/>
            </a:xfrm>
            <a:custGeom>
              <a:avLst/>
              <a:gdLst/>
              <a:ahLst/>
              <a:cxnLst/>
              <a:rect r="r" b="b" t="t" l="l"/>
              <a:pathLst>
                <a:path h="822960" w="6309360">
                  <a:moveTo>
                    <a:pt x="0" y="0"/>
                  </a:moveTo>
                  <a:lnTo>
                    <a:pt x="6309360" y="0"/>
                  </a:lnTo>
                  <a:lnTo>
                    <a:pt x="6309360" y="822960"/>
                  </a:lnTo>
                  <a:lnTo>
                    <a:pt x="0" y="822960"/>
                  </a:lnTo>
                  <a:close/>
                </a:path>
              </a:pathLst>
            </a:custGeom>
            <a:blipFill>
              <a:blip r:embed="rId3">
                <a:alphaModFix amt="0"/>
              </a:blip>
              <a:stretch>
                <a:fillRect l="0" t="-99385" r="0" b="-99385"/>
              </a:stretch>
            </a:blipFill>
          </p:spPr>
        </p:sp>
        <p:sp>
          <p:nvSpPr>
            <p:cNvPr name="TextBox 38" id="38"/>
            <p:cNvSpPr txBox="true"/>
            <p:nvPr/>
          </p:nvSpPr>
          <p:spPr>
            <a:xfrm>
              <a:off x="0" y="-57150"/>
              <a:ext cx="6309360" cy="880110"/>
            </a:xfrm>
            <a:prstGeom prst="rect">
              <a:avLst/>
            </a:prstGeom>
          </p:spPr>
          <p:txBody>
            <a:bodyPr anchor="ctr" rtlCol="false" tIns="0" lIns="0" bIns="0" rIns="0"/>
            <a:lstStyle/>
            <a:p>
              <a:pPr algn="l">
                <a:lnSpc>
                  <a:spcPts val="3240"/>
                </a:lnSpc>
              </a:pPr>
              <a:r>
                <a:rPr lang="en-US" sz="2700" b="true">
                  <a:solidFill>
                    <a:srgbClr val="2B2B2B"/>
                  </a:solidFill>
                  <a:latin typeface="Calibri (MS) Bold"/>
                  <a:ea typeface="Calibri (MS) Bold"/>
                  <a:cs typeface="Calibri (MS) Bold"/>
                  <a:sym typeface="Calibri (MS) Bold"/>
                </a:rPr>
                <a:t>Unity Camera</a:t>
              </a:r>
            </a:p>
          </p:txBody>
        </p:sp>
      </p:grpSp>
      <p:grpSp>
        <p:nvGrpSpPr>
          <p:cNvPr name="Group 39" id="39"/>
          <p:cNvGrpSpPr/>
          <p:nvPr/>
        </p:nvGrpSpPr>
        <p:grpSpPr>
          <a:xfrm rot="0">
            <a:off x="12605004" y="3566160"/>
            <a:ext cx="4732020" cy="754380"/>
            <a:chOff x="0" y="0"/>
            <a:chExt cx="6309360" cy="1005840"/>
          </a:xfrm>
        </p:grpSpPr>
        <p:sp>
          <p:nvSpPr>
            <p:cNvPr name="Freeform 40" id="40"/>
            <p:cNvSpPr/>
            <p:nvPr/>
          </p:nvSpPr>
          <p:spPr>
            <a:xfrm flipH="false" flipV="false" rot="0">
              <a:off x="0" y="0"/>
              <a:ext cx="6309360" cy="1005840"/>
            </a:xfrm>
            <a:custGeom>
              <a:avLst/>
              <a:gdLst/>
              <a:ahLst/>
              <a:cxnLst/>
              <a:rect r="r" b="b" t="t" l="l"/>
              <a:pathLst>
                <a:path h="1005840" w="6309360">
                  <a:moveTo>
                    <a:pt x="0" y="0"/>
                  </a:moveTo>
                  <a:lnTo>
                    <a:pt x="6309360" y="0"/>
                  </a:lnTo>
                  <a:lnTo>
                    <a:pt x="6309360" y="1005840"/>
                  </a:lnTo>
                  <a:lnTo>
                    <a:pt x="0" y="1005840"/>
                  </a:lnTo>
                  <a:close/>
                </a:path>
              </a:pathLst>
            </a:custGeom>
            <a:blipFill>
              <a:blip r:embed="rId3">
                <a:alphaModFix amt="0"/>
              </a:blip>
              <a:stretch>
                <a:fillRect l="0" t="-72224" r="0" b="-72224"/>
              </a:stretch>
            </a:blipFill>
          </p:spPr>
        </p:sp>
        <p:sp>
          <p:nvSpPr>
            <p:cNvPr name="TextBox 41" id="41"/>
            <p:cNvSpPr txBox="true"/>
            <p:nvPr/>
          </p:nvSpPr>
          <p:spPr>
            <a:xfrm>
              <a:off x="0" y="-57150"/>
              <a:ext cx="6309360" cy="1062990"/>
            </a:xfrm>
            <a:prstGeom prst="rect">
              <a:avLst/>
            </a:prstGeom>
          </p:spPr>
          <p:txBody>
            <a:bodyPr anchor="ctr" rtlCol="false" tIns="0" lIns="0" bIns="0" rIns="0"/>
            <a:lstStyle/>
            <a:p>
              <a:pPr algn="l">
                <a:lnSpc>
                  <a:spcPts val="2700"/>
                </a:lnSpc>
              </a:pPr>
              <a:r>
                <a:rPr lang="en-US" sz="2250">
                  <a:solidFill>
                    <a:srgbClr val="555555"/>
                  </a:solidFill>
                  <a:latin typeface="Calibri (MS)"/>
                  <a:ea typeface="Calibri (MS)"/>
                  <a:cs typeface="Calibri (MS)"/>
                  <a:sym typeface="Calibri (MS)"/>
                </a:rPr>
                <a:t>Environmental image capture</a:t>
              </a:r>
            </a:p>
          </p:txBody>
        </p:sp>
      </p:grpSp>
      <p:grpSp>
        <p:nvGrpSpPr>
          <p:cNvPr name="Group 42" id="42"/>
          <p:cNvGrpSpPr/>
          <p:nvPr/>
        </p:nvGrpSpPr>
        <p:grpSpPr>
          <a:xfrm rot="0">
            <a:off x="950595" y="5339715"/>
            <a:ext cx="5436870" cy="2967990"/>
            <a:chOff x="0" y="0"/>
            <a:chExt cx="7249160" cy="3957320"/>
          </a:xfrm>
        </p:grpSpPr>
        <p:sp>
          <p:nvSpPr>
            <p:cNvPr name="Freeform 43" id="43"/>
            <p:cNvSpPr/>
            <p:nvPr/>
          </p:nvSpPr>
          <p:spPr>
            <a:xfrm flipH="false" flipV="false" rot="0">
              <a:off x="0" y="0"/>
              <a:ext cx="7249160" cy="3957320"/>
            </a:xfrm>
            <a:custGeom>
              <a:avLst/>
              <a:gdLst/>
              <a:ahLst/>
              <a:cxnLst/>
              <a:rect r="r" b="b" t="t" l="l"/>
              <a:pathLst>
                <a:path h="3957320" w="7249160">
                  <a:moveTo>
                    <a:pt x="0" y="110490"/>
                  </a:moveTo>
                  <a:cubicBezTo>
                    <a:pt x="0" y="49403"/>
                    <a:pt x="49403" y="0"/>
                    <a:pt x="110490" y="0"/>
                  </a:cubicBezTo>
                  <a:lnTo>
                    <a:pt x="7138670" y="0"/>
                  </a:lnTo>
                  <a:cubicBezTo>
                    <a:pt x="7199630" y="0"/>
                    <a:pt x="7249160" y="49403"/>
                    <a:pt x="7249160" y="110490"/>
                  </a:cubicBezTo>
                  <a:lnTo>
                    <a:pt x="7249160" y="3846830"/>
                  </a:lnTo>
                  <a:cubicBezTo>
                    <a:pt x="7249160" y="3907790"/>
                    <a:pt x="7199757" y="3957320"/>
                    <a:pt x="7138670" y="3957320"/>
                  </a:cubicBezTo>
                  <a:lnTo>
                    <a:pt x="110490" y="3957320"/>
                  </a:lnTo>
                  <a:cubicBezTo>
                    <a:pt x="49530" y="3957320"/>
                    <a:pt x="0" y="3907917"/>
                    <a:pt x="0" y="3846830"/>
                  </a:cubicBezTo>
                  <a:close/>
                </a:path>
              </a:pathLst>
            </a:custGeom>
            <a:solidFill>
              <a:srgbClr val="FFFFFF"/>
            </a:solidFill>
            <a:ln w="19050" cap="sq">
              <a:solidFill>
                <a:srgbClr val="DCDCDC"/>
              </a:solidFill>
              <a:prstDash val="solid"/>
              <a:miter/>
            </a:ln>
          </p:spPr>
        </p:sp>
      </p:grpSp>
      <p:grpSp>
        <p:nvGrpSpPr>
          <p:cNvPr name="Group 44" id="44"/>
          <p:cNvGrpSpPr/>
          <p:nvPr/>
        </p:nvGrpSpPr>
        <p:grpSpPr>
          <a:xfrm rot="0">
            <a:off x="950595" y="5339715"/>
            <a:ext cx="5436870" cy="94488"/>
            <a:chOff x="0" y="0"/>
            <a:chExt cx="7249160" cy="125984"/>
          </a:xfrm>
        </p:grpSpPr>
        <p:sp>
          <p:nvSpPr>
            <p:cNvPr name="Freeform 45" id="45"/>
            <p:cNvSpPr/>
            <p:nvPr/>
          </p:nvSpPr>
          <p:spPr>
            <a:xfrm flipH="false" flipV="false" rot="0">
              <a:off x="0" y="0"/>
              <a:ext cx="7249160" cy="125984"/>
            </a:xfrm>
            <a:custGeom>
              <a:avLst/>
              <a:gdLst/>
              <a:ahLst/>
              <a:cxnLst/>
              <a:rect r="r" b="b" t="t" l="l"/>
              <a:pathLst>
                <a:path h="125984" w="7249160">
                  <a:moveTo>
                    <a:pt x="0" y="0"/>
                  </a:moveTo>
                  <a:lnTo>
                    <a:pt x="7249160" y="0"/>
                  </a:lnTo>
                  <a:lnTo>
                    <a:pt x="7249160" y="125984"/>
                  </a:lnTo>
                  <a:lnTo>
                    <a:pt x="0" y="125984"/>
                  </a:lnTo>
                  <a:close/>
                </a:path>
              </a:pathLst>
            </a:custGeom>
            <a:solidFill>
              <a:srgbClr val="FF8A80"/>
            </a:solidFill>
            <a:ln w="19050" cap="sq">
              <a:solidFill>
                <a:srgbClr val="333333"/>
              </a:solidFill>
              <a:prstDash val="solid"/>
              <a:miter/>
            </a:ln>
          </p:spPr>
        </p:sp>
      </p:grpSp>
      <p:grpSp>
        <p:nvGrpSpPr>
          <p:cNvPr name="Group 46" id="46"/>
          <p:cNvGrpSpPr/>
          <p:nvPr/>
        </p:nvGrpSpPr>
        <p:grpSpPr>
          <a:xfrm rot="0">
            <a:off x="1303020" y="6103620"/>
            <a:ext cx="4732020" cy="617220"/>
            <a:chOff x="0" y="0"/>
            <a:chExt cx="6309360" cy="822960"/>
          </a:xfrm>
        </p:grpSpPr>
        <p:sp>
          <p:nvSpPr>
            <p:cNvPr name="Freeform 47" id="47"/>
            <p:cNvSpPr/>
            <p:nvPr/>
          </p:nvSpPr>
          <p:spPr>
            <a:xfrm flipH="false" flipV="false" rot="0">
              <a:off x="0" y="0"/>
              <a:ext cx="6309360" cy="822960"/>
            </a:xfrm>
            <a:custGeom>
              <a:avLst/>
              <a:gdLst/>
              <a:ahLst/>
              <a:cxnLst/>
              <a:rect r="r" b="b" t="t" l="l"/>
              <a:pathLst>
                <a:path h="822960" w="6309360">
                  <a:moveTo>
                    <a:pt x="0" y="0"/>
                  </a:moveTo>
                  <a:lnTo>
                    <a:pt x="6309360" y="0"/>
                  </a:lnTo>
                  <a:lnTo>
                    <a:pt x="6309360" y="822960"/>
                  </a:lnTo>
                  <a:lnTo>
                    <a:pt x="0" y="822960"/>
                  </a:lnTo>
                  <a:close/>
                </a:path>
              </a:pathLst>
            </a:custGeom>
            <a:blipFill>
              <a:blip r:embed="rId3">
                <a:alphaModFix amt="0"/>
              </a:blip>
              <a:stretch>
                <a:fillRect l="0" t="-99385" r="0" b="-99385"/>
              </a:stretch>
            </a:blipFill>
          </p:spPr>
        </p:sp>
        <p:sp>
          <p:nvSpPr>
            <p:cNvPr name="TextBox 48" id="48"/>
            <p:cNvSpPr txBox="true"/>
            <p:nvPr/>
          </p:nvSpPr>
          <p:spPr>
            <a:xfrm>
              <a:off x="0" y="-57150"/>
              <a:ext cx="6309360" cy="880110"/>
            </a:xfrm>
            <a:prstGeom prst="rect">
              <a:avLst/>
            </a:prstGeom>
          </p:spPr>
          <p:txBody>
            <a:bodyPr anchor="ctr" rtlCol="false" tIns="0" lIns="0" bIns="0" rIns="0"/>
            <a:lstStyle/>
            <a:p>
              <a:pPr algn="l">
                <a:lnSpc>
                  <a:spcPts val="3240"/>
                </a:lnSpc>
              </a:pPr>
              <a:r>
                <a:rPr lang="en-US" sz="2700" b="true">
                  <a:solidFill>
                    <a:srgbClr val="2B2B2B"/>
                  </a:solidFill>
                  <a:latin typeface="Calibri (MS) Bold"/>
                  <a:ea typeface="Calibri (MS) Bold"/>
                  <a:cs typeface="Calibri (MS) Bold"/>
                  <a:sym typeface="Calibri (MS) Bold"/>
                </a:rPr>
                <a:t>Rendering pipeline</a:t>
              </a:r>
            </a:p>
          </p:txBody>
        </p:sp>
      </p:grpSp>
      <p:grpSp>
        <p:nvGrpSpPr>
          <p:cNvPr name="Group 49" id="49"/>
          <p:cNvGrpSpPr/>
          <p:nvPr/>
        </p:nvGrpSpPr>
        <p:grpSpPr>
          <a:xfrm rot="0">
            <a:off x="1303020" y="6926580"/>
            <a:ext cx="4732020" cy="754380"/>
            <a:chOff x="0" y="0"/>
            <a:chExt cx="6309360" cy="1005840"/>
          </a:xfrm>
        </p:grpSpPr>
        <p:sp>
          <p:nvSpPr>
            <p:cNvPr name="Freeform 50" id="50"/>
            <p:cNvSpPr/>
            <p:nvPr/>
          </p:nvSpPr>
          <p:spPr>
            <a:xfrm flipH="false" flipV="false" rot="0">
              <a:off x="0" y="0"/>
              <a:ext cx="6309360" cy="1005840"/>
            </a:xfrm>
            <a:custGeom>
              <a:avLst/>
              <a:gdLst/>
              <a:ahLst/>
              <a:cxnLst/>
              <a:rect r="r" b="b" t="t" l="l"/>
              <a:pathLst>
                <a:path h="1005840" w="6309360">
                  <a:moveTo>
                    <a:pt x="0" y="0"/>
                  </a:moveTo>
                  <a:lnTo>
                    <a:pt x="6309360" y="0"/>
                  </a:lnTo>
                  <a:lnTo>
                    <a:pt x="6309360" y="1005840"/>
                  </a:lnTo>
                  <a:lnTo>
                    <a:pt x="0" y="1005840"/>
                  </a:lnTo>
                  <a:close/>
                </a:path>
              </a:pathLst>
            </a:custGeom>
            <a:blipFill>
              <a:blip r:embed="rId3">
                <a:alphaModFix amt="0"/>
              </a:blip>
              <a:stretch>
                <a:fillRect l="0" t="-72224" r="0" b="-72224"/>
              </a:stretch>
            </a:blipFill>
          </p:spPr>
        </p:sp>
        <p:sp>
          <p:nvSpPr>
            <p:cNvPr name="TextBox 51" id="51"/>
            <p:cNvSpPr txBox="true"/>
            <p:nvPr/>
          </p:nvSpPr>
          <p:spPr>
            <a:xfrm>
              <a:off x="0" y="-57150"/>
              <a:ext cx="6309360" cy="1062990"/>
            </a:xfrm>
            <a:prstGeom prst="rect">
              <a:avLst/>
            </a:prstGeom>
          </p:spPr>
          <p:txBody>
            <a:bodyPr anchor="ctr" rtlCol="false" tIns="0" lIns="0" bIns="0" rIns="0"/>
            <a:lstStyle/>
            <a:p>
              <a:pPr algn="l">
                <a:lnSpc>
                  <a:spcPts val="2700"/>
                </a:lnSpc>
              </a:pPr>
              <a:r>
                <a:rPr lang="en-US" sz="2250">
                  <a:solidFill>
                    <a:srgbClr val="555555"/>
                  </a:solidFill>
                  <a:latin typeface="Calibri (MS)"/>
                  <a:ea typeface="Calibri (MS)"/>
                  <a:cs typeface="Calibri (MS)"/>
                  <a:sym typeface="Calibri (MS)"/>
                </a:rPr>
                <a:t>Camera-feed acquisition</a:t>
              </a:r>
            </a:p>
          </p:txBody>
        </p:sp>
      </p:grpSp>
      <p:grpSp>
        <p:nvGrpSpPr>
          <p:cNvPr name="Group 52" id="52"/>
          <p:cNvGrpSpPr/>
          <p:nvPr/>
        </p:nvGrpSpPr>
        <p:grpSpPr>
          <a:xfrm rot="0">
            <a:off x="6601587" y="5339715"/>
            <a:ext cx="5436870" cy="2967990"/>
            <a:chOff x="0" y="0"/>
            <a:chExt cx="7249160" cy="3957320"/>
          </a:xfrm>
        </p:grpSpPr>
        <p:sp>
          <p:nvSpPr>
            <p:cNvPr name="Freeform 53" id="53"/>
            <p:cNvSpPr/>
            <p:nvPr/>
          </p:nvSpPr>
          <p:spPr>
            <a:xfrm flipH="false" flipV="false" rot="0">
              <a:off x="0" y="0"/>
              <a:ext cx="7249160" cy="3957320"/>
            </a:xfrm>
            <a:custGeom>
              <a:avLst/>
              <a:gdLst/>
              <a:ahLst/>
              <a:cxnLst/>
              <a:rect r="r" b="b" t="t" l="l"/>
              <a:pathLst>
                <a:path h="3957320" w="7249160">
                  <a:moveTo>
                    <a:pt x="0" y="110490"/>
                  </a:moveTo>
                  <a:cubicBezTo>
                    <a:pt x="0" y="49403"/>
                    <a:pt x="49403" y="0"/>
                    <a:pt x="110490" y="0"/>
                  </a:cubicBezTo>
                  <a:lnTo>
                    <a:pt x="7138670" y="0"/>
                  </a:lnTo>
                  <a:cubicBezTo>
                    <a:pt x="7199630" y="0"/>
                    <a:pt x="7249160" y="49403"/>
                    <a:pt x="7249160" y="110490"/>
                  </a:cubicBezTo>
                  <a:lnTo>
                    <a:pt x="7249160" y="3846830"/>
                  </a:lnTo>
                  <a:cubicBezTo>
                    <a:pt x="7249160" y="3907790"/>
                    <a:pt x="7199757" y="3957320"/>
                    <a:pt x="7138670" y="3957320"/>
                  </a:cubicBezTo>
                  <a:lnTo>
                    <a:pt x="110490" y="3957320"/>
                  </a:lnTo>
                  <a:cubicBezTo>
                    <a:pt x="49530" y="3957320"/>
                    <a:pt x="0" y="3907917"/>
                    <a:pt x="0" y="3846830"/>
                  </a:cubicBezTo>
                  <a:close/>
                </a:path>
              </a:pathLst>
            </a:custGeom>
            <a:solidFill>
              <a:srgbClr val="FFFFFF"/>
            </a:solidFill>
            <a:ln w="19050" cap="sq">
              <a:solidFill>
                <a:srgbClr val="DCDCDC"/>
              </a:solidFill>
              <a:prstDash val="solid"/>
              <a:miter/>
            </a:ln>
          </p:spPr>
        </p:sp>
      </p:grpSp>
      <p:grpSp>
        <p:nvGrpSpPr>
          <p:cNvPr name="Group 54" id="54"/>
          <p:cNvGrpSpPr/>
          <p:nvPr/>
        </p:nvGrpSpPr>
        <p:grpSpPr>
          <a:xfrm rot="0">
            <a:off x="6601587" y="5339715"/>
            <a:ext cx="5436870" cy="94488"/>
            <a:chOff x="0" y="0"/>
            <a:chExt cx="7249160" cy="125984"/>
          </a:xfrm>
        </p:grpSpPr>
        <p:sp>
          <p:nvSpPr>
            <p:cNvPr name="Freeform 55" id="55"/>
            <p:cNvSpPr/>
            <p:nvPr/>
          </p:nvSpPr>
          <p:spPr>
            <a:xfrm flipH="false" flipV="false" rot="0">
              <a:off x="0" y="0"/>
              <a:ext cx="7249160" cy="125984"/>
            </a:xfrm>
            <a:custGeom>
              <a:avLst/>
              <a:gdLst/>
              <a:ahLst/>
              <a:cxnLst/>
              <a:rect r="r" b="b" t="t" l="l"/>
              <a:pathLst>
                <a:path h="125984" w="7249160">
                  <a:moveTo>
                    <a:pt x="0" y="0"/>
                  </a:moveTo>
                  <a:lnTo>
                    <a:pt x="7249160" y="0"/>
                  </a:lnTo>
                  <a:lnTo>
                    <a:pt x="7249160" y="125984"/>
                  </a:lnTo>
                  <a:lnTo>
                    <a:pt x="0" y="125984"/>
                  </a:lnTo>
                  <a:close/>
                </a:path>
              </a:pathLst>
            </a:custGeom>
            <a:solidFill>
              <a:srgbClr val="FF8A80"/>
            </a:solidFill>
            <a:ln w="19050" cap="sq">
              <a:solidFill>
                <a:srgbClr val="333333"/>
              </a:solidFill>
              <a:prstDash val="solid"/>
              <a:miter/>
            </a:ln>
          </p:spPr>
        </p:sp>
      </p:grpSp>
      <p:grpSp>
        <p:nvGrpSpPr>
          <p:cNvPr name="Group 56" id="56"/>
          <p:cNvGrpSpPr/>
          <p:nvPr/>
        </p:nvGrpSpPr>
        <p:grpSpPr>
          <a:xfrm rot="0">
            <a:off x="6954012" y="6103620"/>
            <a:ext cx="4732020" cy="617220"/>
            <a:chOff x="0" y="0"/>
            <a:chExt cx="6309360" cy="822960"/>
          </a:xfrm>
        </p:grpSpPr>
        <p:sp>
          <p:nvSpPr>
            <p:cNvPr name="Freeform 57" id="57"/>
            <p:cNvSpPr/>
            <p:nvPr/>
          </p:nvSpPr>
          <p:spPr>
            <a:xfrm flipH="false" flipV="false" rot="0">
              <a:off x="0" y="0"/>
              <a:ext cx="6309360" cy="822960"/>
            </a:xfrm>
            <a:custGeom>
              <a:avLst/>
              <a:gdLst/>
              <a:ahLst/>
              <a:cxnLst/>
              <a:rect r="r" b="b" t="t" l="l"/>
              <a:pathLst>
                <a:path h="822960" w="6309360">
                  <a:moveTo>
                    <a:pt x="0" y="0"/>
                  </a:moveTo>
                  <a:lnTo>
                    <a:pt x="6309360" y="0"/>
                  </a:lnTo>
                  <a:lnTo>
                    <a:pt x="6309360" y="822960"/>
                  </a:lnTo>
                  <a:lnTo>
                    <a:pt x="0" y="822960"/>
                  </a:lnTo>
                  <a:close/>
                </a:path>
              </a:pathLst>
            </a:custGeom>
            <a:blipFill>
              <a:blip r:embed="rId3">
                <a:alphaModFix amt="0"/>
              </a:blip>
              <a:stretch>
                <a:fillRect l="0" t="-99385" r="0" b="-99385"/>
              </a:stretch>
            </a:blipFill>
          </p:spPr>
        </p:sp>
        <p:sp>
          <p:nvSpPr>
            <p:cNvPr name="TextBox 58" id="58"/>
            <p:cNvSpPr txBox="true"/>
            <p:nvPr/>
          </p:nvSpPr>
          <p:spPr>
            <a:xfrm>
              <a:off x="0" y="-57150"/>
              <a:ext cx="6309360" cy="880110"/>
            </a:xfrm>
            <a:prstGeom prst="rect">
              <a:avLst/>
            </a:prstGeom>
          </p:spPr>
          <p:txBody>
            <a:bodyPr anchor="ctr" rtlCol="false" tIns="0" lIns="0" bIns="0" rIns="0"/>
            <a:lstStyle/>
            <a:p>
              <a:pPr algn="l">
                <a:lnSpc>
                  <a:spcPts val="3240"/>
                </a:lnSpc>
              </a:pPr>
              <a:r>
                <a:rPr lang="en-US" sz="2700" b="true">
                  <a:solidFill>
                    <a:srgbClr val="2B2B2B"/>
                  </a:solidFill>
                  <a:latin typeface="Calibri (MS) Bold"/>
                  <a:ea typeface="Calibri (MS) Bold"/>
                  <a:cs typeface="Calibri (MS) Bold"/>
                  <a:sym typeface="Calibri (MS) Bold"/>
                </a:rPr>
                <a:t>Computer vision and AI</a:t>
              </a:r>
            </a:p>
          </p:txBody>
        </p:sp>
      </p:grpSp>
      <p:grpSp>
        <p:nvGrpSpPr>
          <p:cNvPr name="Group 59" id="59"/>
          <p:cNvGrpSpPr/>
          <p:nvPr/>
        </p:nvGrpSpPr>
        <p:grpSpPr>
          <a:xfrm rot="0">
            <a:off x="6954012" y="6926580"/>
            <a:ext cx="4732020" cy="754380"/>
            <a:chOff x="0" y="0"/>
            <a:chExt cx="6309360" cy="1005840"/>
          </a:xfrm>
        </p:grpSpPr>
        <p:sp>
          <p:nvSpPr>
            <p:cNvPr name="Freeform 60" id="60"/>
            <p:cNvSpPr/>
            <p:nvPr/>
          </p:nvSpPr>
          <p:spPr>
            <a:xfrm flipH="false" flipV="false" rot="0">
              <a:off x="0" y="0"/>
              <a:ext cx="6309360" cy="1005840"/>
            </a:xfrm>
            <a:custGeom>
              <a:avLst/>
              <a:gdLst/>
              <a:ahLst/>
              <a:cxnLst/>
              <a:rect r="r" b="b" t="t" l="l"/>
              <a:pathLst>
                <a:path h="1005840" w="6309360">
                  <a:moveTo>
                    <a:pt x="0" y="0"/>
                  </a:moveTo>
                  <a:lnTo>
                    <a:pt x="6309360" y="0"/>
                  </a:lnTo>
                  <a:lnTo>
                    <a:pt x="6309360" y="1005840"/>
                  </a:lnTo>
                  <a:lnTo>
                    <a:pt x="0" y="1005840"/>
                  </a:lnTo>
                  <a:close/>
                </a:path>
              </a:pathLst>
            </a:custGeom>
            <a:blipFill>
              <a:blip r:embed="rId3">
                <a:alphaModFix amt="0"/>
              </a:blip>
              <a:stretch>
                <a:fillRect l="0" t="-72224" r="0" b="-72224"/>
              </a:stretch>
            </a:blipFill>
          </p:spPr>
        </p:sp>
        <p:sp>
          <p:nvSpPr>
            <p:cNvPr name="TextBox 61" id="61"/>
            <p:cNvSpPr txBox="true"/>
            <p:nvPr/>
          </p:nvSpPr>
          <p:spPr>
            <a:xfrm>
              <a:off x="0" y="-57150"/>
              <a:ext cx="6309360" cy="1062990"/>
            </a:xfrm>
            <a:prstGeom prst="rect">
              <a:avLst/>
            </a:prstGeom>
          </p:spPr>
          <p:txBody>
            <a:bodyPr anchor="ctr" rtlCol="false" tIns="0" lIns="0" bIns="0" rIns="0"/>
            <a:lstStyle/>
            <a:p>
              <a:pPr algn="l">
                <a:lnSpc>
                  <a:spcPts val="2700"/>
                </a:lnSpc>
              </a:pPr>
              <a:r>
                <a:rPr lang="en-US" sz="2250">
                  <a:solidFill>
                    <a:srgbClr val="555555"/>
                  </a:solidFill>
                  <a:latin typeface="Calibri (MS)"/>
                  <a:ea typeface="Calibri (MS)"/>
                  <a:cs typeface="Calibri (MS)"/>
                  <a:sym typeface="Calibri (MS)"/>
                </a:rPr>
                <a:t>Environmental interpretation</a:t>
              </a:r>
            </a:p>
          </p:txBody>
        </p:sp>
      </p:grpSp>
      <p:grpSp>
        <p:nvGrpSpPr>
          <p:cNvPr name="Group 62" id="62"/>
          <p:cNvGrpSpPr/>
          <p:nvPr/>
        </p:nvGrpSpPr>
        <p:grpSpPr>
          <a:xfrm rot="0">
            <a:off x="12252579" y="5339715"/>
            <a:ext cx="5436870" cy="2967990"/>
            <a:chOff x="0" y="0"/>
            <a:chExt cx="7249160" cy="3957320"/>
          </a:xfrm>
        </p:grpSpPr>
        <p:sp>
          <p:nvSpPr>
            <p:cNvPr name="Freeform 63" id="63"/>
            <p:cNvSpPr/>
            <p:nvPr/>
          </p:nvSpPr>
          <p:spPr>
            <a:xfrm flipH="false" flipV="false" rot="0">
              <a:off x="0" y="0"/>
              <a:ext cx="7249160" cy="3957320"/>
            </a:xfrm>
            <a:custGeom>
              <a:avLst/>
              <a:gdLst/>
              <a:ahLst/>
              <a:cxnLst/>
              <a:rect r="r" b="b" t="t" l="l"/>
              <a:pathLst>
                <a:path h="3957320" w="7249160">
                  <a:moveTo>
                    <a:pt x="0" y="110490"/>
                  </a:moveTo>
                  <a:cubicBezTo>
                    <a:pt x="0" y="49403"/>
                    <a:pt x="49403" y="0"/>
                    <a:pt x="110490" y="0"/>
                  </a:cubicBezTo>
                  <a:lnTo>
                    <a:pt x="7138670" y="0"/>
                  </a:lnTo>
                  <a:cubicBezTo>
                    <a:pt x="7199630" y="0"/>
                    <a:pt x="7249160" y="49403"/>
                    <a:pt x="7249160" y="110490"/>
                  </a:cubicBezTo>
                  <a:lnTo>
                    <a:pt x="7249160" y="3846830"/>
                  </a:lnTo>
                  <a:cubicBezTo>
                    <a:pt x="7249160" y="3907790"/>
                    <a:pt x="7199757" y="3957320"/>
                    <a:pt x="7138670" y="3957320"/>
                  </a:cubicBezTo>
                  <a:lnTo>
                    <a:pt x="110490" y="3957320"/>
                  </a:lnTo>
                  <a:cubicBezTo>
                    <a:pt x="49530" y="3957320"/>
                    <a:pt x="0" y="3907917"/>
                    <a:pt x="0" y="3846830"/>
                  </a:cubicBezTo>
                  <a:close/>
                </a:path>
              </a:pathLst>
            </a:custGeom>
            <a:solidFill>
              <a:srgbClr val="FFFFFF"/>
            </a:solidFill>
            <a:ln w="19050" cap="sq">
              <a:solidFill>
                <a:srgbClr val="DCDCDC"/>
              </a:solidFill>
              <a:prstDash val="solid"/>
              <a:miter/>
            </a:ln>
          </p:spPr>
        </p:sp>
      </p:grpSp>
      <p:grpSp>
        <p:nvGrpSpPr>
          <p:cNvPr name="Group 64" id="64"/>
          <p:cNvGrpSpPr/>
          <p:nvPr/>
        </p:nvGrpSpPr>
        <p:grpSpPr>
          <a:xfrm rot="0">
            <a:off x="12252579" y="5339715"/>
            <a:ext cx="5436870" cy="94488"/>
            <a:chOff x="0" y="0"/>
            <a:chExt cx="7249160" cy="125984"/>
          </a:xfrm>
        </p:grpSpPr>
        <p:sp>
          <p:nvSpPr>
            <p:cNvPr name="Freeform 65" id="65"/>
            <p:cNvSpPr/>
            <p:nvPr/>
          </p:nvSpPr>
          <p:spPr>
            <a:xfrm flipH="false" flipV="false" rot="0">
              <a:off x="0" y="0"/>
              <a:ext cx="7249160" cy="125984"/>
            </a:xfrm>
            <a:custGeom>
              <a:avLst/>
              <a:gdLst/>
              <a:ahLst/>
              <a:cxnLst/>
              <a:rect r="r" b="b" t="t" l="l"/>
              <a:pathLst>
                <a:path h="125984" w="7249160">
                  <a:moveTo>
                    <a:pt x="0" y="0"/>
                  </a:moveTo>
                  <a:lnTo>
                    <a:pt x="7249160" y="0"/>
                  </a:lnTo>
                  <a:lnTo>
                    <a:pt x="7249160" y="125984"/>
                  </a:lnTo>
                  <a:lnTo>
                    <a:pt x="0" y="125984"/>
                  </a:lnTo>
                  <a:close/>
                </a:path>
              </a:pathLst>
            </a:custGeom>
            <a:solidFill>
              <a:srgbClr val="FF8A80"/>
            </a:solidFill>
            <a:ln w="19050" cap="sq">
              <a:solidFill>
                <a:srgbClr val="333333"/>
              </a:solidFill>
              <a:prstDash val="solid"/>
              <a:miter/>
            </a:ln>
          </p:spPr>
        </p:sp>
      </p:grpSp>
      <p:grpSp>
        <p:nvGrpSpPr>
          <p:cNvPr name="Group 66" id="66"/>
          <p:cNvGrpSpPr/>
          <p:nvPr/>
        </p:nvGrpSpPr>
        <p:grpSpPr>
          <a:xfrm rot="0">
            <a:off x="12605004" y="6103620"/>
            <a:ext cx="4732020" cy="617220"/>
            <a:chOff x="0" y="0"/>
            <a:chExt cx="6309360" cy="822960"/>
          </a:xfrm>
        </p:grpSpPr>
        <p:sp>
          <p:nvSpPr>
            <p:cNvPr name="Freeform 67" id="67"/>
            <p:cNvSpPr/>
            <p:nvPr/>
          </p:nvSpPr>
          <p:spPr>
            <a:xfrm flipH="false" flipV="false" rot="0">
              <a:off x="0" y="0"/>
              <a:ext cx="6309360" cy="822960"/>
            </a:xfrm>
            <a:custGeom>
              <a:avLst/>
              <a:gdLst/>
              <a:ahLst/>
              <a:cxnLst/>
              <a:rect r="r" b="b" t="t" l="l"/>
              <a:pathLst>
                <a:path h="822960" w="6309360">
                  <a:moveTo>
                    <a:pt x="0" y="0"/>
                  </a:moveTo>
                  <a:lnTo>
                    <a:pt x="6309360" y="0"/>
                  </a:lnTo>
                  <a:lnTo>
                    <a:pt x="6309360" y="822960"/>
                  </a:lnTo>
                  <a:lnTo>
                    <a:pt x="0" y="822960"/>
                  </a:lnTo>
                  <a:close/>
                </a:path>
              </a:pathLst>
            </a:custGeom>
            <a:blipFill>
              <a:blip r:embed="rId3">
                <a:alphaModFix amt="0"/>
              </a:blip>
              <a:stretch>
                <a:fillRect l="0" t="-99385" r="0" b="-99385"/>
              </a:stretch>
            </a:blipFill>
          </p:spPr>
        </p:sp>
        <p:sp>
          <p:nvSpPr>
            <p:cNvPr name="TextBox 68" id="68"/>
            <p:cNvSpPr txBox="true"/>
            <p:nvPr/>
          </p:nvSpPr>
          <p:spPr>
            <a:xfrm>
              <a:off x="0" y="-57150"/>
              <a:ext cx="6309360" cy="880110"/>
            </a:xfrm>
            <a:prstGeom prst="rect">
              <a:avLst/>
            </a:prstGeom>
          </p:spPr>
          <p:txBody>
            <a:bodyPr anchor="ctr" rtlCol="false" tIns="0" lIns="0" bIns="0" rIns="0"/>
            <a:lstStyle/>
            <a:p>
              <a:pPr algn="l">
                <a:lnSpc>
                  <a:spcPts val="3240"/>
                </a:lnSpc>
              </a:pPr>
              <a:r>
                <a:rPr lang="en-US" sz="2700" b="true">
                  <a:solidFill>
                    <a:srgbClr val="2B2B2B"/>
                  </a:solidFill>
                  <a:latin typeface="Calibri (MS) Bold"/>
                  <a:ea typeface="Calibri (MS) Bold"/>
                  <a:cs typeface="Calibri (MS) Bold"/>
                  <a:sym typeface="Calibri (MS) Bold"/>
                </a:rPr>
                <a:t>Audio technology</a:t>
              </a:r>
            </a:p>
          </p:txBody>
        </p:sp>
      </p:grpSp>
      <p:grpSp>
        <p:nvGrpSpPr>
          <p:cNvPr name="Group 69" id="69"/>
          <p:cNvGrpSpPr/>
          <p:nvPr/>
        </p:nvGrpSpPr>
        <p:grpSpPr>
          <a:xfrm rot="0">
            <a:off x="12605004" y="6926580"/>
            <a:ext cx="4732020" cy="754380"/>
            <a:chOff x="0" y="0"/>
            <a:chExt cx="6309360" cy="1005840"/>
          </a:xfrm>
        </p:grpSpPr>
        <p:sp>
          <p:nvSpPr>
            <p:cNvPr name="Freeform 70" id="70"/>
            <p:cNvSpPr/>
            <p:nvPr/>
          </p:nvSpPr>
          <p:spPr>
            <a:xfrm flipH="false" flipV="false" rot="0">
              <a:off x="0" y="0"/>
              <a:ext cx="6309360" cy="1005840"/>
            </a:xfrm>
            <a:custGeom>
              <a:avLst/>
              <a:gdLst/>
              <a:ahLst/>
              <a:cxnLst/>
              <a:rect r="r" b="b" t="t" l="l"/>
              <a:pathLst>
                <a:path h="1005840" w="6309360">
                  <a:moveTo>
                    <a:pt x="0" y="0"/>
                  </a:moveTo>
                  <a:lnTo>
                    <a:pt x="6309360" y="0"/>
                  </a:lnTo>
                  <a:lnTo>
                    <a:pt x="6309360" y="1005840"/>
                  </a:lnTo>
                  <a:lnTo>
                    <a:pt x="0" y="1005840"/>
                  </a:lnTo>
                  <a:close/>
                </a:path>
              </a:pathLst>
            </a:custGeom>
            <a:blipFill>
              <a:blip r:embed="rId3">
                <a:alphaModFix amt="0"/>
              </a:blip>
              <a:stretch>
                <a:fillRect l="0" t="-72224" r="0" b="-72224"/>
              </a:stretch>
            </a:blipFill>
          </p:spPr>
        </p:sp>
        <p:sp>
          <p:nvSpPr>
            <p:cNvPr name="TextBox 71" id="71"/>
            <p:cNvSpPr txBox="true"/>
            <p:nvPr/>
          </p:nvSpPr>
          <p:spPr>
            <a:xfrm>
              <a:off x="0" y="-57150"/>
              <a:ext cx="6309360" cy="1062990"/>
            </a:xfrm>
            <a:prstGeom prst="rect">
              <a:avLst/>
            </a:prstGeom>
          </p:spPr>
          <p:txBody>
            <a:bodyPr anchor="ctr" rtlCol="false" tIns="0" lIns="0" bIns="0" rIns="0"/>
            <a:lstStyle/>
            <a:p>
              <a:pPr algn="l">
                <a:lnSpc>
                  <a:spcPts val="2700"/>
                </a:lnSpc>
              </a:pPr>
              <a:r>
                <a:rPr lang="en-US" sz="2250">
                  <a:solidFill>
                    <a:srgbClr val="555555"/>
                  </a:solidFill>
                  <a:latin typeface="Calibri (MS)"/>
                  <a:ea typeface="Calibri (MS)"/>
                  <a:cs typeface="Calibri (MS)"/>
                  <a:sym typeface="Calibri (MS)"/>
                </a:rPr>
                <a:t>Assistive information delivery</a:t>
              </a: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grpSp>
        <p:nvGrpSpPr>
          <p:cNvPr name="Group 2" id="2"/>
          <p:cNvGrpSpPr/>
          <p:nvPr/>
        </p:nvGrpSpPr>
        <p:grpSpPr>
          <a:xfrm rot="0">
            <a:off x="960120" y="576072"/>
            <a:ext cx="16322040" cy="658368"/>
            <a:chOff x="0" y="0"/>
            <a:chExt cx="21762720" cy="877824"/>
          </a:xfrm>
        </p:grpSpPr>
        <p:sp>
          <p:nvSpPr>
            <p:cNvPr name="Freeform 3" id="3"/>
            <p:cNvSpPr/>
            <p:nvPr/>
          </p:nvSpPr>
          <p:spPr>
            <a:xfrm flipH="false" flipV="false" rot="0">
              <a:off x="0" y="0"/>
              <a:ext cx="21762720" cy="877824"/>
            </a:xfrm>
            <a:custGeom>
              <a:avLst/>
              <a:gdLst/>
              <a:ahLst/>
              <a:cxnLst/>
              <a:rect r="r" b="b" t="t" l="l"/>
              <a:pathLst>
                <a:path h="877824" w="21762720">
                  <a:moveTo>
                    <a:pt x="0" y="0"/>
                  </a:moveTo>
                  <a:lnTo>
                    <a:pt x="21762720" y="0"/>
                  </a:lnTo>
                  <a:lnTo>
                    <a:pt x="21762720" y="877824"/>
                  </a:lnTo>
                  <a:lnTo>
                    <a:pt x="0" y="877824"/>
                  </a:lnTo>
                  <a:close/>
                </a:path>
              </a:pathLst>
            </a:custGeom>
            <a:blipFill>
              <a:blip r:embed="rId3">
                <a:alphaModFix amt="0"/>
              </a:blip>
              <a:stretch>
                <a:fillRect l="0" t="-433066" r="0" b="-433066"/>
              </a:stretch>
            </a:blipFill>
          </p:spPr>
        </p:sp>
        <p:sp>
          <p:nvSpPr>
            <p:cNvPr name="TextBox 4" id="4"/>
            <p:cNvSpPr txBox="true"/>
            <p:nvPr/>
          </p:nvSpPr>
          <p:spPr>
            <a:xfrm>
              <a:off x="0" y="0"/>
              <a:ext cx="21762720" cy="877824"/>
            </a:xfrm>
            <a:prstGeom prst="rect">
              <a:avLst/>
            </a:prstGeom>
          </p:spPr>
          <p:txBody>
            <a:bodyPr anchor="ctr" rtlCol="false" tIns="0" lIns="0" bIns="0" rIns="0"/>
            <a:lstStyle/>
            <a:p>
              <a:pPr algn="l">
                <a:lnSpc>
                  <a:spcPts val="5759"/>
                </a:lnSpc>
              </a:pPr>
              <a:r>
                <a:rPr lang="en-US" sz="4800">
                  <a:solidFill>
                    <a:srgbClr val="2B2B2B"/>
                  </a:solidFill>
                  <a:latin typeface="Georgia"/>
                  <a:ea typeface="Georgia"/>
                  <a:cs typeface="Georgia"/>
                  <a:sym typeface="Georgia"/>
                </a:rPr>
                <a:t>Expected Impact</a:t>
              </a:r>
            </a:p>
          </p:txBody>
        </p:sp>
      </p:grpSp>
      <p:grpSp>
        <p:nvGrpSpPr>
          <p:cNvPr name="Group 5" id="5"/>
          <p:cNvGrpSpPr/>
          <p:nvPr/>
        </p:nvGrpSpPr>
        <p:grpSpPr>
          <a:xfrm rot="0">
            <a:off x="950595" y="1293495"/>
            <a:ext cx="1088898" cy="67056"/>
            <a:chOff x="0" y="0"/>
            <a:chExt cx="1451864" cy="89408"/>
          </a:xfrm>
        </p:grpSpPr>
        <p:sp>
          <p:nvSpPr>
            <p:cNvPr name="Freeform 6" id="6"/>
            <p:cNvSpPr/>
            <p:nvPr/>
          </p:nvSpPr>
          <p:spPr>
            <a:xfrm flipH="false" flipV="false" rot="0">
              <a:off x="0" y="0"/>
              <a:ext cx="1451864" cy="89408"/>
            </a:xfrm>
            <a:custGeom>
              <a:avLst/>
              <a:gdLst/>
              <a:ahLst/>
              <a:cxnLst/>
              <a:rect r="r" b="b" t="t" l="l"/>
              <a:pathLst>
                <a:path h="89408" w="1451864">
                  <a:moveTo>
                    <a:pt x="0" y="0"/>
                  </a:moveTo>
                  <a:lnTo>
                    <a:pt x="1451864" y="0"/>
                  </a:lnTo>
                  <a:lnTo>
                    <a:pt x="1451864" y="89408"/>
                  </a:lnTo>
                  <a:lnTo>
                    <a:pt x="0" y="89408"/>
                  </a:lnTo>
                  <a:close/>
                </a:path>
              </a:pathLst>
            </a:custGeom>
            <a:solidFill>
              <a:srgbClr val="FF8A80"/>
            </a:solidFill>
            <a:ln w="19050" cap="sq">
              <a:solidFill>
                <a:srgbClr val="333333"/>
              </a:solidFill>
              <a:prstDash val="solid"/>
              <a:miter/>
            </a:ln>
          </p:spPr>
        </p:sp>
      </p:grpSp>
      <p:grpSp>
        <p:nvGrpSpPr>
          <p:cNvPr name="Group 7" id="7"/>
          <p:cNvGrpSpPr/>
          <p:nvPr/>
        </p:nvGrpSpPr>
        <p:grpSpPr>
          <a:xfrm rot="0">
            <a:off x="950595" y="9701403"/>
            <a:ext cx="16386353" cy="35509"/>
            <a:chOff x="0" y="0"/>
            <a:chExt cx="21848470" cy="47346"/>
          </a:xfrm>
        </p:grpSpPr>
        <p:sp>
          <p:nvSpPr>
            <p:cNvPr name="Freeform 8" id="8"/>
            <p:cNvSpPr/>
            <p:nvPr/>
          </p:nvSpPr>
          <p:spPr>
            <a:xfrm flipH="false" flipV="false" rot="0">
              <a:off x="0" y="0"/>
              <a:ext cx="21848445" cy="47371"/>
            </a:xfrm>
            <a:custGeom>
              <a:avLst/>
              <a:gdLst/>
              <a:ahLst/>
              <a:cxnLst/>
              <a:rect r="r" b="b" t="t" l="l"/>
              <a:pathLst>
                <a:path h="47371" w="21848445">
                  <a:moveTo>
                    <a:pt x="0" y="0"/>
                  </a:moveTo>
                  <a:lnTo>
                    <a:pt x="21848445" y="0"/>
                  </a:lnTo>
                  <a:lnTo>
                    <a:pt x="21848445" y="47371"/>
                  </a:lnTo>
                  <a:lnTo>
                    <a:pt x="0" y="47371"/>
                  </a:lnTo>
                  <a:close/>
                </a:path>
              </a:pathLst>
            </a:custGeom>
            <a:solidFill>
              <a:srgbClr val="D0D0D0"/>
            </a:solidFill>
            <a:ln w="19050" cap="sq">
              <a:solidFill>
                <a:srgbClr val="333333"/>
              </a:solidFill>
              <a:prstDash val="solid"/>
              <a:miter/>
            </a:ln>
          </p:spPr>
        </p:sp>
      </p:grpSp>
      <p:grpSp>
        <p:nvGrpSpPr>
          <p:cNvPr name="Group 9" id="9"/>
          <p:cNvGrpSpPr/>
          <p:nvPr/>
        </p:nvGrpSpPr>
        <p:grpSpPr>
          <a:xfrm rot="0">
            <a:off x="15636240" y="9806940"/>
            <a:ext cx="1645920" cy="356616"/>
            <a:chOff x="0" y="0"/>
            <a:chExt cx="2194560" cy="475488"/>
          </a:xfrm>
        </p:grpSpPr>
        <p:sp>
          <p:nvSpPr>
            <p:cNvPr name="Freeform 10" id="10"/>
            <p:cNvSpPr/>
            <p:nvPr/>
          </p:nvSpPr>
          <p:spPr>
            <a:xfrm flipH="false" flipV="false" rot="0">
              <a:off x="0" y="0"/>
              <a:ext cx="2194560" cy="475488"/>
            </a:xfrm>
            <a:custGeom>
              <a:avLst/>
              <a:gdLst/>
              <a:ahLst/>
              <a:cxnLst/>
              <a:rect r="r" b="b" t="t" l="l"/>
              <a:pathLst>
                <a:path h="475488" w="2194560">
                  <a:moveTo>
                    <a:pt x="0" y="0"/>
                  </a:moveTo>
                  <a:lnTo>
                    <a:pt x="2194560" y="0"/>
                  </a:lnTo>
                  <a:lnTo>
                    <a:pt x="2194560" y="475488"/>
                  </a:lnTo>
                  <a:lnTo>
                    <a:pt x="0" y="475488"/>
                  </a:lnTo>
                  <a:close/>
                </a:path>
              </a:pathLst>
            </a:custGeom>
            <a:blipFill>
              <a:blip r:embed="rId3">
                <a:alphaModFix amt="0"/>
              </a:blip>
              <a:stretch>
                <a:fillRect l="0" t="-39930" r="0" b="-39930"/>
              </a:stretch>
            </a:blipFill>
          </p:spPr>
        </p:sp>
        <p:sp>
          <p:nvSpPr>
            <p:cNvPr name="TextBox 11" id="11"/>
            <p:cNvSpPr txBox="true"/>
            <p:nvPr/>
          </p:nvSpPr>
          <p:spPr>
            <a:xfrm>
              <a:off x="0" y="-28575"/>
              <a:ext cx="2194560" cy="504063"/>
            </a:xfrm>
            <a:prstGeom prst="rect">
              <a:avLst/>
            </a:prstGeom>
          </p:spPr>
          <p:txBody>
            <a:bodyPr anchor="ctr" rtlCol="false" tIns="0" lIns="0" bIns="0" rIns="0"/>
            <a:lstStyle/>
            <a:p>
              <a:pPr algn="r">
                <a:lnSpc>
                  <a:spcPts val="1980"/>
                </a:lnSpc>
              </a:pPr>
              <a:r>
                <a:rPr lang="en-US" sz="1650">
                  <a:solidFill>
                    <a:srgbClr val="6B6B6B"/>
                  </a:solidFill>
                  <a:latin typeface="Calibri (MS)"/>
                  <a:ea typeface="Calibri (MS)"/>
                  <a:cs typeface="Calibri (MS)"/>
                  <a:sym typeface="Calibri (MS)"/>
                </a:rPr>
                <a:t>10</a:t>
              </a:r>
            </a:p>
          </p:txBody>
        </p:sp>
      </p:grpSp>
      <p:grpSp>
        <p:nvGrpSpPr>
          <p:cNvPr name="Group 12" id="12"/>
          <p:cNvGrpSpPr/>
          <p:nvPr/>
        </p:nvGrpSpPr>
        <p:grpSpPr>
          <a:xfrm rot="0">
            <a:off x="960120" y="1783080"/>
            <a:ext cx="16322040" cy="1234440"/>
            <a:chOff x="0" y="0"/>
            <a:chExt cx="21762720" cy="1645920"/>
          </a:xfrm>
        </p:grpSpPr>
        <p:sp>
          <p:nvSpPr>
            <p:cNvPr name="Freeform 13" id="13"/>
            <p:cNvSpPr/>
            <p:nvPr/>
          </p:nvSpPr>
          <p:spPr>
            <a:xfrm flipH="false" flipV="false" rot="0">
              <a:off x="0" y="0"/>
              <a:ext cx="21762720" cy="1645920"/>
            </a:xfrm>
            <a:custGeom>
              <a:avLst/>
              <a:gdLst/>
              <a:ahLst/>
              <a:cxnLst/>
              <a:rect r="r" b="b" t="t" l="l"/>
              <a:pathLst>
                <a:path h="1645920" w="21762720">
                  <a:moveTo>
                    <a:pt x="0" y="0"/>
                  </a:moveTo>
                  <a:lnTo>
                    <a:pt x="21762720" y="0"/>
                  </a:lnTo>
                  <a:lnTo>
                    <a:pt x="21762720" y="1645920"/>
                  </a:lnTo>
                  <a:lnTo>
                    <a:pt x="0" y="1645920"/>
                  </a:lnTo>
                  <a:close/>
                </a:path>
              </a:pathLst>
            </a:custGeom>
            <a:blipFill>
              <a:blip r:embed="rId3">
                <a:alphaModFix amt="0"/>
              </a:blip>
              <a:stretch>
                <a:fillRect l="0" t="-207635" r="0" b="-207635"/>
              </a:stretch>
            </a:blipFill>
          </p:spPr>
        </p:sp>
        <p:sp>
          <p:nvSpPr>
            <p:cNvPr name="TextBox 14" id="14"/>
            <p:cNvSpPr txBox="true"/>
            <p:nvPr/>
          </p:nvSpPr>
          <p:spPr>
            <a:xfrm>
              <a:off x="0" y="-57150"/>
              <a:ext cx="21762720" cy="1703070"/>
            </a:xfrm>
            <a:prstGeom prst="rect">
              <a:avLst/>
            </a:prstGeom>
          </p:spPr>
          <p:txBody>
            <a:bodyPr anchor="ctr" rtlCol="false" tIns="0" lIns="0" bIns="0" rIns="0"/>
            <a:lstStyle/>
            <a:p>
              <a:pPr algn="l">
                <a:lnSpc>
                  <a:spcPts val="3240"/>
                </a:lnSpc>
              </a:pPr>
              <a:r>
                <a:rPr lang="en-US" sz="2700">
                  <a:solidFill>
                    <a:srgbClr val="2B2B2B"/>
                  </a:solidFill>
                  <a:latin typeface="Calibri (MS)"/>
                  <a:ea typeface="Calibri (MS)"/>
                  <a:cs typeface="Calibri (MS)"/>
                  <a:sym typeface="Calibri (MS)"/>
                </a:rPr>
                <a:t>Echo Vision is intended to contribute to accessibility and assistive technology by giving users meaningful information about nearby objects, obstacles and spatial conditions.</a:t>
              </a:r>
            </a:p>
          </p:txBody>
        </p:sp>
      </p:grpSp>
      <p:grpSp>
        <p:nvGrpSpPr>
          <p:cNvPr name="Group 15" id="15"/>
          <p:cNvGrpSpPr/>
          <p:nvPr/>
        </p:nvGrpSpPr>
        <p:grpSpPr>
          <a:xfrm rot="0">
            <a:off x="950595" y="3488055"/>
            <a:ext cx="4133850" cy="4133850"/>
            <a:chOff x="0" y="0"/>
            <a:chExt cx="5511800" cy="5511800"/>
          </a:xfrm>
        </p:grpSpPr>
        <p:sp>
          <p:nvSpPr>
            <p:cNvPr name="Freeform 16" id="16"/>
            <p:cNvSpPr/>
            <p:nvPr/>
          </p:nvSpPr>
          <p:spPr>
            <a:xfrm flipH="false" flipV="false" rot="0">
              <a:off x="0" y="0"/>
              <a:ext cx="5511800" cy="5511800"/>
            </a:xfrm>
            <a:custGeom>
              <a:avLst/>
              <a:gdLst/>
              <a:ahLst/>
              <a:cxnLst/>
              <a:rect r="r" b="b" t="t" l="l"/>
              <a:pathLst>
                <a:path h="5511800" w="5511800">
                  <a:moveTo>
                    <a:pt x="0" y="110236"/>
                  </a:moveTo>
                  <a:cubicBezTo>
                    <a:pt x="0" y="49403"/>
                    <a:pt x="49403" y="0"/>
                    <a:pt x="110236" y="0"/>
                  </a:cubicBezTo>
                  <a:lnTo>
                    <a:pt x="5401564" y="0"/>
                  </a:lnTo>
                  <a:cubicBezTo>
                    <a:pt x="5462397" y="0"/>
                    <a:pt x="5511800" y="49403"/>
                    <a:pt x="5511800" y="110236"/>
                  </a:cubicBezTo>
                  <a:lnTo>
                    <a:pt x="5511800" y="5401564"/>
                  </a:lnTo>
                  <a:cubicBezTo>
                    <a:pt x="5511800" y="5462397"/>
                    <a:pt x="5462397" y="5511800"/>
                    <a:pt x="5401564" y="5511800"/>
                  </a:cubicBezTo>
                  <a:lnTo>
                    <a:pt x="110236" y="5511800"/>
                  </a:lnTo>
                  <a:cubicBezTo>
                    <a:pt x="49403" y="5511800"/>
                    <a:pt x="0" y="5462397"/>
                    <a:pt x="0" y="5401564"/>
                  </a:cubicBezTo>
                  <a:close/>
                </a:path>
              </a:pathLst>
            </a:custGeom>
            <a:solidFill>
              <a:srgbClr val="FFFFFF"/>
            </a:solidFill>
            <a:ln w="19050" cap="sq">
              <a:solidFill>
                <a:srgbClr val="DCDCDC"/>
              </a:solidFill>
              <a:prstDash val="solid"/>
              <a:miter/>
            </a:ln>
          </p:spPr>
        </p:sp>
      </p:grpSp>
      <p:grpSp>
        <p:nvGrpSpPr>
          <p:cNvPr name="Group 17" id="17"/>
          <p:cNvGrpSpPr/>
          <p:nvPr/>
        </p:nvGrpSpPr>
        <p:grpSpPr>
          <a:xfrm rot="0">
            <a:off x="950595" y="3488055"/>
            <a:ext cx="4133850" cy="94488"/>
            <a:chOff x="0" y="0"/>
            <a:chExt cx="5511800" cy="125984"/>
          </a:xfrm>
        </p:grpSpPr>
        <p:sp>
          <p:nvSpPr>
            <p:cNvPr name="Freeform 18" id="18"/>
            <p:cNvSpPr/>
            <p:nvPr/>
          </p:nvSpPr>
          <p:spPr>
            <a:xfrm flipH="false" flipV="false" rot="0">
              <a:off x="0" y="0"/>
              <a:ext cx="5511800" cy="125984"/>
            </a:xfrm>
            <a:custGeom>
              <a:avLst/>
              <a:gdLst/>
              <a:ahLst/>
              <a:cxnLst/>
              <a:rect r="r" b="b" t="t" l="l"/>
              <a:pathLst>
                <a:path h="125984" w="5511800">
                  <a:moveTo>
                    <a:pt x="0" y="0"/>
                  </a:moveTo>
                  <a:lnTo>
                    <a:pt x="5511800" y="0"/>
                  </a:lnTo>
                  <a:lnTo>
                    <a:pt x="5511800" y="125984"/>
                  </a:lnTo>
                  <a:lnTo>
                    <a:pt x="0" y="125984"/>
                  </a:lnTo>
                  <a:close/>
                </a:path>
              </a:pathLst>
            </a:custGeom>
            <a:solidFill>
              <a:srgbClr val="FF8A80"/>
            </a:solidFill>
            <a:ln w="19050" cap="sq">
              <a:solidFill>
                <a:srgbClr val="333333"/>
              </a:solidFill>
              <a:prstDash val="solid"/>
              <a:miter/>
            </a:ln>
          </p:spPr>
        </p:sp>
      </p:grpSp>
      <p:grpSp>
        <p:nvGrpSpPr>
          <p:cNvPr name="Group 19" id="19"/>
          <p:cNvGrpSpPr/>
          <p:nvPr/>
        </p:nvGrpSpPr>
        <p:grpSpPr>
          <a:xfrm rot="0">
            <a:off x="960120" y="4183380"/>
            <a:ext cx="4114800" cy="685800"/>
            <a:chOff x="0" y="0"/>
            <a:chExt cx="5486400" cy="914400"/>
          </a:xfrm>
        </p:grpSpPr>
        <p:sp>
          <p:nvSpPr>
            <p:cNvPr name="Freeform 20" id="20"/>
            <p:cNvSpPr/>
            <p:nvPr/>
          </p:nvSpPr>
          <p:spPr>
            <a:xfrm flipH="false" flipV="false" rot="0">
              <a:off x="0" y="0"/>
              <a:ext cx="5486400" cy="914400"/>
            </a:xfrm>
            <a:custGeom>
              <a:avLst/>
              <a:gdLst/>
              <a:ahLst/>
              <a:cxnLst/>
              <a:rect r="r" b="b" t="t" l="l"/>
              <a:pathLst>
                <a:path h="914400" w="5486400">
                  <a:moveTo>
                    <a:pt x="0" y="0"/>
                  </a:moveTo>
                  <a:lnTo>
                    <a:pt x="5486400" y="0"/>
                  </a:lnTo>
                  <a:lnTo>
                    <a:pt x="5486400" y="914400"/>
                  </a:lnTo>
                  <a:lnTo>
                    <a:pt x="0" y="914400"/>
                  </a:lnTo>
                  <a:close/>
                </a:path>
              </a:pathLst>
            </a:custGeom>
            <a:blipFill>
              <a:blip r:embed="rId3">
                <a:alphaModFix amt="0"/>
              </a:blip>
              <a:stretch>
                <a:fillRect l="0" t="-66910" r="0" b="-66910"/>
              </a:stretch>
            </a:blipFill>
          </p:spPr>
        </p:sp>
        <p:sp>
          <p:nvSpPr>
            <p:cNvPr name="TextBox 21" id="21"/>
            <p:cNvSpPr txBox="true"/>
            <p:nvPr/>
          </p:nvSpPr>
          <p:spPr>
            <a:xfrm>
              <a:off x="0" y="-9525"/>
              <a:ext cx="5486400" cy="923925"/>
            </a:xfrm>
            <a:prstGeom prst="rect">
              <a:avLst/>
            </a:prstGeom>
          </p:spPr>
          <p:txBody>
            <a:bodyPr anchor="ctr" rtlCol="false" tIns="0" lIns="0" bIns="0" rIns="0"/>
            <a:lstStyle/>
            <a:p>
              <a:pPr algn="ctr">
                <a:lnSpc>
                  <a:spcPts val="5040"/>
                </a:lnSpc>
              </a:pPr>
              <a:r>
                <a:rPr lang="en-US" sz="4200">
                  <a:solidFill>
                    <a:srgbClr val="FF8A80"/>
                  </a:solidFill>
                  <a:latin typeface="Georgia"/>
                  <a:ea typeface="Georgia"/>
                  <a:cs typeface="Georgia"/>
                  <a:sym typeface="Georgia"/>
                </a:rPr>
                <a:t>01</a:t>
              </a:r>
            </a:p>
          </p:txBody>
        </p:sp>
      </p:grpSp>
      <p:grpSp>
        <p:nvGrpSpPr>
          <p:cNvPr name="Group 22" id="22"/>
          <p:cNvGrpSpPr/>
          <p:nvPr/>
        </p:nvGrpSpPr>
        <p:grpSpPr>
          <a:xfrm rot="0">
            <a:off x="1165860" y="5143500"/>
            <a:ext cx="3703320" cy="548640"/>
            <a:chOff x="0" y="0"/>
            <a:chExt cx="4937760" cy="731520"/>
          </a:xfrm>
        </p:grpSpPr>
        <p:sp>
          <p:nvSpPr>
            <p:cNvPr name="Freeform 23" id="23"/>
            <p:cNvSpPr/>
            <p:nvPr/>
          </p:nvSpPr>
          <p:spPr>
            <a:xfrm flipH="false" flipV="false" rot="0">
              <a:off x="0" y="0"/>
              <a:ext cx="4937760" cy="731520"/>
            </a:xfrm>
            <a:custGeom>
              <a:avLst/>
              <a:gdLst/>
              <a:ahLst/>
              <a:cxnLst/>
              <a:rect r="r" b="b" t="t" l="l"/>
              <a:pathLst>
                <a:path h="731520" w="4937760">
                  <a:moveTo>
                    <a:pt x="0" y="0"/>
                  </a:moveTo>
                  <a:lnTo>
                    <a:pt x="4937760" y="0"/>
                  </a:lnTo>
                  <a:lnTo>
                    <a:pt x="4937760" y="731520"/>
                  </a:lnTo>
                  <a:lnTo>
                    <a:pt x="0" y="731520"/>
                  </a:lnTo>
                  <a:close/>
                </a:path>
              </a:pathLst>
            </a:custGeom>
            <a:blipFill>
              <a:blip r:embed="rId3">
                <a:alphaModFix amt="0"/>
              </a:blip>
              <a:stretch>
                <a:fillRect l="0" t="-81524" r="0" b="-81524"/>
              </a:stretch>
            </a:blipFill>
          </p:spPr>
        </p:sp>
        <p:sp>
          <p:nvSpPr>
            <p:cNvPr name="TextBox 24" id="24"/>
            <p:cNvSpPr txBox="true"/>
            <p:nvPr/>
          </p:nvSpPr>
          <p:spPr>
            <a:xfrm>
              <a:off x="0" y="-57150"/>
              <a:ext cx="4937760" cy="788670"/>
            </a:xfrm>
            <a:prstGeom prst="rect">
              <a:avLst/>
            </a:prstGeom>
          </p:spPr>
          <p:txBody>
            <a:bodyPr anchor="ctr" rtlCol="false" tIns="0" lIns="0" bIns="0" rIns="0"/>
            <a:lstStyle/>
            <a:p>
              <a:pPr algn="ctr">
                <a:lnSpc>
                  <a:spcPts val="3240"/>
                </a:lnSpc>
              </a:pPr>
              <a:r>
                <a:rPr lang="en-US" sz="2700" b="true">
                  <a:solidFill>
                    <a:srgbClr val="2B2B2B"/>
                  </a:solidFill>
                  <a:latin typeface="Calibri (MS) Bold"/>
                  <a:ea typeface="Calibri (MS) Bold"/>
                  <a:cs typeface="Calibri (MS) Bold"/>
                  <a:sym typeface="Calibri (MS) Bold"/>
                </a:rPr>
                <a:t>Independence</a:t>
              </a:r>
            </a:p>
          </p:txBody>
        </p:sp>
      </p:grpSp>
      <p:grpSp>
        <p:nvGrpSpPr>
          <p:cNvPr name="Group 25" id="25"/>
          <p:cNvGrpSpPr/>
          <p:nvPr/>
        </p:nvGrpSpPr>
        <p:grpSpPr>
          <a:xfrm rot="0">
            <a:off x="1165860" y="5897880"/>
            <a:ext cx="3703320" cy="548640"/>
            <a:chOff x="0" y="0"/>
            <a:chExt cx="4937760" cy="731520"/>
          </a:xfrm>
        </p:grpSpPr>
        <p:sp>
          <p:nvSpPr>
            <p:cNvPr name="Freeform 26" id="26"/>
            <p:cNvSpPr/>
            <p:nvPr/>
          </p:nvSpPr>
          <p:spPr>
            <a:xfrm flipH="false" flipV="false" rot="0">
              <a:off x="0" y="0"/>
              <a:ext cx="4937760" cy="731520"/>
            </a:xfrm>
            <a:custGeom>
              <a:avLst/>
              <a:gdLst/>
              <a:ahLst/>
              <a:cxnLst/>
              <a:rect r="r" b="b" t="t" l="l"/>
              <a:pathLst>
                <a:path h="731520" w="4937760">
                  <a:moveTo>
                    <a:pt x="0" y="0"/>
                  </a:moveTo>
                  <a:lnTo>
                    <a:pt x="4937760" y="0"/>
                  </a:lnTo>
                  <a:lnTo>
                    <a:pt x="4937760" y="731520"/>
                  </a:lnTo>
                  <a:lnTo>
                    <a:pt x="0" y="731520"/>
                  </a:lnTo>
                  <a:close/>
                </a:path>
              </a:pathLst>
            </a:custGeom>
            <a:blipFill>
              <a:blip r:embed="rId3">
                <a:alphaModFix amt="0"/>
              </a:blip>
              <a:stretch>
                <a:fillRect l="0" t="-81524" r="0" b="-81524"/>
              </a:stretch>
            </a:blipFill>
          </p:spPr>
        </p:sp>
        <p:sp>
          <p:nvSpPr>
            <p:cNvPr name="TextBox 27" id="27"/>
            <p:cNvSpPr txBox="true"/>
            <p:nvPr/>
          </p:nvSpPr>
          <p:spPr>
            <a:xfrm>
              <a:off x="0" y="-57150"/>
              <a:ext cx="4937760" cy="788670"/>
            </a:xfrm>
            <a:prstGeom prst="rect">
              <a:avLst/>
            </a:prstGeom>
          </p:spPr>
          <p:txBody>
            <a:bodyPr anchor="ctr" rtlCol="false" tIns="0" lIns="0" bIns="0" rIns="0"/>
            <a:lstStyle/>
            <a:p>
              <a:pPr algn="ctr">
                <a:lnSpc>
                  <a:spcPts val="2700"/>
                </a:lnSpc>
              </a:pPr>
              <a:r>
                <a:rPr lang="en-US" sz="2250">
                  <a:solidFill>
                    <a:srgbClr val="555555"/>
                  </a:solidFill>
                  <a:latin typeface="Calibri (MS)"/>
                  <a:ea typeface="Calibri (MS)"/>
                  <a:cs typeface="Calibri (MS)"/>
                  <a:sym typeface="Calibri (MS)"/>
                </a:rPr>
                <a:t>Informed movement</a:t>
              </a:r>
            </a:p>
          </p:txBody>
        </p:sp>
      </p:grpSp>
      <p:grpSp>
        <p:nvGrpSpPr>
          <p:cNvPr name="Group 28" id="28"/>
          <p:cNvGrpSpPr/>
          <p:nvPr/>
        </p:nvGrpSpPr>
        <p:grpSpPr>
          <a:xfrm rot="0">
            <a:off x="5271135" y="3488055"/>
            <a:ext cx="4133850" cy="4133850"/>
            <a:chOff x="0" y="0"/>
            <a:chExt cx="5511800" cy="5511800"/>
          </a:xfrm>
        </p:grpSpPr>
        <p:sp>
          <p:nvSpPr>
            <p:cNvPr name="Freeform 29" id="29"/>
            <p:cNvSpPr/>
            <p:nvPr/>
          </p:nvSpPr>
          <p:spPr>
            <a:xfrm flipH="false" flipV="false" rot="0">
              <a:off x="0" y="0"/>
              <a:ext cx="5511800" cy="5511800"/>
            </a:xfrm>
            <a:custGeom>
              <a:avLst/>
              <a:gdLst/>
              <a:ahLst/>
              <a:cxnLst/>
              <a:rect r="r" b="b" t="t" l="l"/>
              <a:pathLst>
                <a:path h="5511800" w="5511800">
                  <a:moveTo>
                    <a:pt x="0" y="110236"/>
                  </a:moveTo>
                  <a:cubicBezTo>
                    <a:pt x="0" y="49403"/>
                    <a:pt x="49403" y="0"/>
                    <a:pt x="110236" y="0"/>
                  </a:cubicBezTo>
                  <a:lnTo>
                    <a:pt x="5401564" y="0"/>
                  </a:lnTo>
                  <a:cubicBezTo>
                    <a:pt x="5462397" y="0"/>
                    <a:pt x="5511800" y="49403"/>
                    <a:pt x="5511800" y="110236"/>
                  </a:cubicBezTo>
                  <a:lnTo>
                    <a:pt x="5511800" y="5401564"/>
                  </a:lnTo>
                  <a:cubicBezTo>
                    <a:pt x="5511800" y="5462397"/>
                    <a:pt x="5462397" y="5511800"/>
                    <a:pt x="5401564" y="5511800"/>
                  </a:cubicBezTo>
                  <a:lnTo>
                    <a:pt x="110236" y="5511800"/>
                  </a:lnTo>
                  <a:cubicBezTo>
                    <a:pt x="49403" y="5511800"/>
                    <a:pt x="0" y="5462397"/>
                    <a:pt x="0" y="5401564"/>
                  </a:cubicBezTo>
                  <a:close/>
                </a:path>
              </a:pathLst>
            </a:custGeom>
            <a:solidFill>
              <a:srgbClr val="FFFFFF"/>
            </a:solidFill>
            <a:ln w="19050" cap="sq">
              <a:solidFill>
                <a:srgbClr val="DCDCDC"/>
              </a:solidFill>
              <a:prstDash val="solid"/>
              <a:miter/>
            </a:ln>
          </p:spPr>
        </p:sp>
      </p:grpSp>
      <p:grpSp>
        <p:nvGrpSpPr>
          <p:cNvPr name="Group 30" id="30"/>
          <p:cNvGrpSpPr/>
          <p:nvPr/>
        </p:nvGrpSpPr>
        <p:grpSpPr>
          <a:xfrm rot="0">
            <a:off x="5271135" y="3488055"/>
            <a:ext cx="4133850" cy="94488"/>
            <a:chOff x="0" y="0"/>
            <a:chExt cx="5511800" cy="125984"/>
          </a:xfrm>
        </p:grpSpPr>
        <p:sp>
          <p:nvSpPr>
            <p:cNvPr name="Freeform 31" id="31"/>
            <p:cNvSpPr/>
            <p:nvPr/>
          </p:nvSpPr>
          <p:spPr>
            <a:xfrm flipH="false" flipV="false" rot="0">
              <a:off x="0" y="0"/>
              <a:ext cx="5511800" cy="125984"/>
            </a:xfrm>
            <a:custGeom>
              <a:avLst/>
              <a:gdLst/>
              <a:ahLst/>
              <a:cxnLst/>
              <a:rect r="r" b="b" t="t" l="l"/>
              <a:pathLst>
                <a:path h="125984" w="5511800">
                  <a:moveTo>
                    <a:pt x="0" y="0"/>
                  </a:moveTo>
                  <a:lnTo>
                    <a:pt x="5511800" y="0"/>
                  </a:lnTo>
                  <a:lnTo>
                    <a:pt x="5511800" y="125984"/>
                  </a:lnTo>
                  <a:lnTo>
                    <a:pt x="0" y="125984"/>
                  </a:lnTo>
                  <a:close/>
                </a:path>
              </a:pathLst>
            </a:custGeom>
            <a:solidFill>
              <a:srgbClr val="FF8A80"/>
            </a:solidFill>
            <a:ln w="19050" cap="sq">
              <a:solidFill>
                <a:srgbClr val="333333"/>
              </a:solidFill>
              <a:prstDash val="solid"/>
              <a:miter/>
            </a:ln>
          </p:spPr>
        </p:sp>
      </p:grpSp>
      <p:grpSp>
        <p:nvGrpSpPr>
          <p:cNvPr name="Group 32" id="32"/>
          <p:cNvGrpSpPr/>
          <p:nvPr/>
        </p:nvGrpSpPr>
        <p:grpSpPr>
          <a:xfrm rot="0">
            <a:off x="5280660" y="4183380"/>
            <a:ext cx="4114800" cy="685800"/>
            <a:chOff x="0" y="0"/>
            <a:chExt cx="5486400" cy="914400"/>
          </a:xfrm>
        </p:grpSpPr>
        <p:sp>
          <p:nvSpPr>
            <p:cNvPr name="Freeform 33" id="33"/>
            <p:cNvSpPr/>
            <p:nvPr/>
          </p:nvSpPr>
          <p:spPr>
            <a:xfrm flipH="false" flipV="false" rot="0">
              <a:off x="0" y="0"/>
              <a:ext cx="5486400" cy="914400"/>
            </a:xfrm>
            <a:custGeom>
              <a:avLst/>
              <a:gdLst/>
              <a:ahLst/>
              <a:cxnLst/>
              <a:rect r="r" b="b" t="t" l="l"/>
              <a:pathLst>
                <a:path h="914400" w="5486400">
                  <a:moveTo>
                    <a:pt x="0" y="0"/>
                  </a:moveTo>
                  <a:lnTo>
                    <a:pt x="5486400" y="0"/>
                  </a:lnTo>
                  <a:lnTo>
                    <a:pt x="5486400" y="914400"/>
                  </a:lnTo>
                  <a:lnTo>
                    <a:pt x="0" y="914400"/>
                  </a:lnTo>
                  <a:close/>
                </a:path>
              </a:pathLst>
            </a:custGeom>
            <a:blipFill>
              <a:blip r:embed="rId3">
                <a:alphaModFix amt="0"/>
              </a:blip>
              <a:stretch>
                <a:fillRect l="0" t="-66910" r="0" b="-66910"/>
              </a:stretch>
            </a:blipFill>
          </p:spPr>
        </p:sp>
        <p:sp>
          <p:nvSpPr>
            <p:cNvPr name="TextBox 34" id="34"/>
            <p:cNvSpPr txBox="true"/>
            <p:nvPr/>
          </p:nvSpPr>
          <p:spPr>
            <a:xfrm>
              <a:off x="0" y="-9525"/>
              <a:ext cx="5486400" cy="923925"/>
            </a:xfrm>
            <a:prstGeom prst="rect">
              <a:avLst/>
            </a:prstGeom>
          </p:spPr>
          <p:txBody>
            <a:bodyPr anchor="ctr" rtlCol="false" tIns="0" lIns="0" bIns="0" rIns="0"/>
            <a:lstStyle/>
            <a:p>
              <a:pPr algn="ctr">
                <a:lnSpc>
                  <a:spcPts val="5040"/>
                </a:lnSpc>
              </a:pPr>
              <a:r>
                <a:rPr lang="en-US" sz="4200">
                  <a:solidFill>
                    <a:srgbClr val="FF8A80"/>
                  </a:solidFill>
                  <a:latin typeface="Georgia"/>
                  <a:ea typeface="Georgia"/>
                  <a:cs typeface="Georgia"/>
                  <a:sym typeface="Georgia"/>
                </a:rPr>
                <a:t>02</a:t>
              </a:r>
            </a:p>
          </p:txBody>
        </p:sp>
      </p:grpSp>
      <p:grpSp>
        <p:nvGrpSpPr>
          <p:cNvPr name="Group 35" id="35"/>
          <p:cNvGrpSpPr/>
          <p:nvPr/>
        </p:nvGrpSpPr>
        <p:grpSpPr>
          <a:xfrm rot="0">
            <a:off x="5486400" y="5143500"/>
            <a:ext cx="3703320" cy="548640"/>
            <a:chOff x="0" y="0"/>
            <a:chExt cx="4937760" cy="731520"/>
          </a:xfrm>
        </p:grpSpPr>
        <p:sp>
          <p:nvSpPr>
            <p:cNvPr name="Freeform 36" id="36"/>
            <p:cNvSpPr/>
            <p:nvPr/>
          </p:nvSpPr>
          <p:spPr>
            <a:xfrm flipH="false" flipV="false" rot="0">
              <a:off x="0" y="0"/>
              <a:ext cx="4937760" cy="731520"/>
            </a:xfrm>
            <a:custGeom>
              <a:avLst/>
              <a:gdLst/>
              <a:ahLst/>
              <a:cxnLst/>
              <a:rect r="r" b="b" t="t" l="l"/>
              <a:pathLst>
                <a:path h="731520" w="4937760">
                  <a:moveTo>
                    <a:pt x="0" y="0"/>
                  </a:moveTo>
                  <a:lnTo>
                    <a:pt x="4937760" y="0"/>
                  </a:lnTo>
                  <a:lnTo>
                    <a:pt x="4937760" y="731520"/>
                  </a:lnTo>
                  <a:lnTo>
                    <a:pt x="0" y="731520"/>
                  </a:lnTo>
                  <a:close/>
                </a:path>
              </a:pathLst>
            </a:custGeom>
            <a:blipFill>
              <a:blip r:embed="rId3">
                <a:alphaModFix amt="0"/>
              </a:blip>
              <a:stretch>
                <a:fillRect l="0" t="-81524" r="0" b="-81524"/>
              </a:stretch>
            </a:blipFill>
          </p:spPr>
        </p:sp>
        <p:sp>
          <p:nvSpPr>
            <p:cNvPr name="TextBox 37" id="37"/>
            <p:cNvSpPr txBox="true"/>
            <p:nvPr/>
          </p:nvSpPr>
          <p:spPr>
            <a:xfrm>
              <a:off x="0" y="-57150"/>
              <a:ext cx="4937760" cy="788670"/>
            </a:xfrm>
            <a:prstGeom prst="rect">
              <a:avLst/>
            </a:prstGeom>
          </p:spPr>
          <p:txBody>
            <a:bodyPr anchor="ctr" rtlCol="false" tIns="0" lIns="0" bIns="0" rIns="0"/>
            <a:lstStyle/>
            <a:p>
              <a:pPr algn="ctr">
                <a:lnSpc>
                  <a:spcPts val="3240"/>
                </a:lnSpc>
              </a:pPr>
              <a:r>
                <a:rPr lang="en-US" sz="2700" b="true">
                  <a:solidFill>
                    <a:srgbClr val="2B2B2B"/>
                  </a:solidFill>
                  <a:latin typeface="Calibri (MS) Bold"/>
                  <a:ea typeface="Calibri (MS) Bold"/>
                  <a:cs typeface="Calibri (MS) Bold"/>
                  <a:sym typeface="Calibri (MS) Bold"/>
                </a:rPr>
                <a:t>Awareness</a:t>
              </a:r>
            </a:p>
          </p:txBody>
        </p:sp>
      </p:grpSp>
      <p:grpSp>
        <p:nvGrpSpPr>
          <p:cNvPr name="Group 38" id="38"/>
          <p:cNvGrpSpPr/>
          <p:nvPr/>
        </p:nvGrpSpPr>
        <p:grpSpPr>
          <a:xfrm rot="0">
            <a:off x="5486400" y="5897880"/>
            <a:ext cx="3703320" cy="548640"/>
            <a:chOff x="0" y="0"/>
            <a:chExt cx="4937760" cy="731520"/>
          </a:xfrm>
        </p:grpSpPr>
        <p:sp>
          <p:nvSpPr>
            <p:cNvPr name="Freeform 39" id="39"/>
            <p:cNvSpPr/>
            <p:nvPr/>
          </p:nvSpPr>
          <p:spPr>
            <a:xfrm flipH="false" flipV="false" rot="0">
              <a:off x="0" y="0"/>
              <a:ext cx="4937760" cy="731520"/>
            </a:xfrm>
            <a:custGeom>
              <a:avLst/>
              <a:gdLst/>
              <a:ahLst/>
              <a:cxnLst/>
              <a:rect r="r" b="b" t="t" l="l"/>
              <a:pathLst>
                <a:path h="731520" w="4937760">
                  <a:moveTo>
                    <a:pt x="0" y="0"/>
                  </a:moveTo>
                  <a:lnTo>
                    <a:pt x="4937760" y="0"/>
                  </a:lnTo>
                  <a:lnTo>
                    <a:pt x="4937760" y="731520"/>
                  </a:lnTo>
                  <a:lnTo>
                    <a:pt x="0" y="731520"/>
                  </a:lnTo>
                  <a:close/>
                </a:path>
              </a:pathLst>
            </a:custGeom>
            <a:blipFill>
              <a:blip r:embed="rId3">
                <a:alphaModFix amt="0"/>
              </a:blip>
              <a:stretch>
                <a:fillRect l="0" t="-81524" r="0" b="-81524"/>
              </a:stretch>
            </a:blipFill>
          </p:spPr>
        </p:sp>
        <p:sp>
          <p:nvSpPr>
            <p:cNvPr name="TextBox 40" id="40"/>
            <p:cNvSpPr txBox="true"/>
            <p:nvPr/>
          </p:nvSpPr>
          <p:spPr>
            <a:xfrm>
              <a:off x="0" y="-57150"/>
              <a:ext cx="4937760" cy="788670"/>
            </a:xfrm>
            <a:prstGeom prst="rect">
              <a:avLst/>
            </a:prstGeom>
          </p:spPr>
          <p:txBody>
            <a:bodyPr anchor="ctr" rtlCol="false" tIns="0" lIns="0" bIns="0" rIns="0"/>
            <a:lstStyle/>
            <a:p>
              <a:pPr algn="ctr">
                <a:lnSpc>
                  <a:spcPts val="2700"/>
                </a:lnSpc>
              </a:pPr>
              <a:r>
                <a:rPr lang="en-US" sz="2250">
                  <a:solidFill>
                    <a:srgbClr val="555555"/>
                  </a:solidFill>
                  <a:latin typeface="Calibri (MS)"/>
                  <a:ea typeface="Calibri (MS)"/>
                  <a:cs typeface="Calibri (MS)"/>
                  <a:sym typeface="Calibri (MS)"/>
                </a:rPr>
                <a:t>Spatial understanding</a:t>
              </a:r>
            </a:p>
          </p:txBody>
        </p:sp>
      </p:grpSp>
      <p:grpSp>
        <p:nvGrpSpPr>
          <p:cNvPr name="Group 41" id="41"/>
          <p:cNvGrpSpPr/>
          <p:nvPr/>
        </p:nvGrpSpPr>
        <p:grpSpPr>
          <a:xfrm rot="0">
            <a:off x="9591675" y="3488055"/>
            <a:ext cx="4133850" cy="4133850"/>
            <a:chOff x="0" y="0"/>
            <a:chExt cx="5511800" cy="5511800"/>
          </a:xfrm>
        </p:grpSpPr>
        <p:sp>
          <p:nvSpPr>
            <p:cNvPr name="Freeform 42" id="42"/>
            <p:cNvSpPr/>
            <p:nvPr/>
          </p:nvSpPr>
          <p:spPr>
            <a:xfrm flipH="false" flipV="false" rot="0">
              <a:off x="0" y="0"/>
              <a:ext cx="5511800" cy="5511800"/>
            </a:xfrm>
            <a:custGeom>
              <a:avLst/>
              <a:gdLst/>
              <a:ahLst/>
              <a:cxnLst/>
              <a:rect r="r" b="b" t="t" l="l"/>
              <a:pathLst>
                <a:path h="5511800" w="5511800">
                  <a:moveTo>
                    <a:pt x="0" y="110236"/>
                  </a:moveTo>
                  <a:cubicBezTo>
                    <a:pt x="0" y="49403"/>
                    <a:pt x="49403" y="0"/>
                    <a:pt x="110236" y="0"/>
                  </a:cubicBezTo>
                  <a:lnTo>
                    <a:pt x="5401564" y="0"/>
                  </a:lnTo>
                  <a:cubicBezTo>
                    <a:pt x="5462397" y="0"/>
                    <a:pt x="5511800" y="49403"/>
                    <a:pt x="5511800" y="110236"/>
                  </a:cubicBezTo>
                  <a:lnTo>
                    <a:pt x="5511800" y="5401564"/>
                  </a:lnTo>
                  <a:cubicBezTo>
                    <a:pt x="5511800" y="5462397"/>
                    <a:pt x="5462397" y="5511800"/>
                    <a:pt x="5401564" y="5511800"/>
                  </a:cubicBezTo>
                  <a:lnTo>
                    <a:pt x="110236" y="5511800"/>
                  </a:lnTo>
                  <a:cubicBezTo>
                    <a:pt x="49403" y="5511800"/>
                    <a:pt x="0" y="5462397"/>
                    <a:pt x="0" y="5401564"/>
                  </a:cubicBezTo>
                  <a:close/>
                </a:path>
              </a:pathLst>
            </a:custGeom>
            <a:solidFill>
              <a:srgbClr val="FFFFFF"/>
            </a:solidFill>
            <a:ln w="19050" cap="sq">
              <a:solidFill>
                <a:srgbClr val="DCDCDC"/>
              </a:solidFill>
              <a:prstDash val="solid"/>
              <a:miter/>
            </a:ln>
          </p:spPr>
        </p:sp>
      </p:grpSp>
      <p:grpSp>
        <p:nvGrpSpPr>
          <p:cNvPr name="Group 43" id="43"/>
          <p:cNvGrpSpPr/>
          <p:nvPr/>
        </p:nvGrpSpPr>
        <p:grpSpPr>
          <a:xfrm rot="0">
            <a:off x="9591675" y="3488055"/>
            <a:ext cx="4133850" cy="94488"/>
            <a:chOff x="0" y="0"/>
            <a:chExt cx="5511800" cy="125984"/>
          </a:xfrm>
        </p:grpSpPr>
        <p:sp>
          <p:nvSpPr>
            <p:cNvPr name="Freeform 44" id="44"/>
            <p:cNvSpPr/>
            <p:nvPr/>
          </p:nvSpPr>
          <p:spPr>
            <a:xfrm flipH="false" flipV="false" rot="0">
              <a:off x="0" y="0"/>
              <a:ext cx="5511800" cy="125984"/>
            </a:xfrm>
            <a:custGeom>
              <a:avLst/>
              <a:gdLst/>
              <a:ahLst/>
              <a:cxnLst/>
              <a:rect r="r" b="b" t="t" l="l"/>
              <a:pathLst>
                <a:path h="125984" w="5511800">
                  <a:moveTo>
                    <a:pt x="0" y="0"/>
                  </a:moveTo>
                  <a:lnTo>
                    <a:pt x="5511800" y="0"/>
                  </a:lnTo>
                  <a:lnTo>
                    <a:pt x="5511800" y="125984"/>
                  </a:lnTo>
                  <a:lnTo>
                    <a:pt x="0" y="125984"/>
                  </a:lnTo>
                  <a:close/>
                </a:path>
              </a:pathLst>
            </a:custGeom>
            <a:solidFill>
              <a:srgbClr val="FF8A80"/>
            </a:solidFill>
            <a:ln w="19050" cap="sq">
              <a:solidFill>
                <a:srgbClr val="333333"/>
              </a:solidFill>
              <a:prstDash val="solid"/>
              <a:miter/>
            </a:ln>
          </p:spPr>
        </p:sp>
      </p:grpSp>
      <p:grpSp>
        <p:nvGrpSpPr>
          <p:cNvPr name="Group 45" id="45"/>
          <p:cNvGrpSpPr/>
          <p:nvPr/>
        </p:nvGrpSpPr>
        <p:grpSpPr>
          <a:xfrm rot="0">
            <a:off x="9601200" y="4183380"/>
            <a:ext cx="4114800" cy="685800"/>
            <a:chOff x="0" y="0"/>
            <a:chExt cx="5486400" cy="914400"/>
          </a:xfrm>
        </p:grpSpPr>
        <p:sp>
          <p:nvSpPr>
            <p:cNvPr name="Freeform 46" id="46"/>
            <p:cNvSpPr/>
            <p:nvPr/>
          </p:nvSpPr>
          <p:spPr>
            <a:xfrm flipH="false" flipV="false" rot="0">
              <a:off x="0" y="0"/>
              <a:ext cx="5486400" cy="914400"/>
            </a:xfrm>
            <a:custGeom>
              <a:avLst/>
              <a:gdLst/>
              <a:ahLst/>
              <a:cxnLst/>
              <a:rect r="r" b="b" t="t" l="l"/>
              <a:pathLst>
                <a:path h="914400" w="5486400">
                  <a:moveTo>
                    <a:pt x="0" y="0"/>
                  </a:moveTo>
                  <a:lnTo>
                    <a:pt x="5486400" y="0"/>
                  </a:lnTo>
                  <a:lnTo>
                    <a:pt x="5486400" y="914400"/>
                  </a:lnTo>
                  <a:lnTo>
                    <a:pt x="0" y="914400"/>
                  </a:lnTo>
                  <a:close/>
                </a:path>
              </a:pathLst>
            </a:custGeom>
            <a:blipFill>
              <a:blip r:embed="rId3">
                <a:alphaModFix amt="0"/>
              </a:blip>
              <a:stretch>
                <a:fillRect l="0" t="-66910" r="0" b="-66910"/>
              </a:stretch>
            </a:blipFill>
          </p:spPr>
        </p:sp>
        <p:sp>
          <p:nvSpPr>
            <p:cNvPr name="TextBox 47" id="47"/>
            <p:cNvSpPr txBox="true"/>
            <p:nvPr/>
          </p:nvSpPr>
          <p:spPr>
            <a:xfrm>
              <a:off x="0" y="-9525"/>
              <a:ext cx="5486400" cy="923925"/>
            </a:xfrm>
            <a:prstGeom prst="rect">
              <a:avLst/>
            </a:prstGeom>
          </p:spPr>
          <p:txBody>
            <a:bodyPr anchor="ctr" rtlCol="false" tIns="0" lIns="0" bIns="0" rIns="0"/>
            <a:lstStyle/>
            <a:p>
              <a:pPr algn="ctr">
                <a:lnSpc>
                  <a:spcPts val="5040"/>
                </a:lnSpc>
              </a:pPr>
              <a:r>
                <a:rPr lang="en-US" sz="4200">
                  <a:solidFill>
                    <a:srgbClr val="FF8A80"/>
                  </a:solidFill>
                  <a:latin typeface="Georgia"/>
                  <a:ea typeface="Georgia"/>
                  <a:cs typeface="Georgia"/>
                  <a:sym typeface="Georgia"/>
                </a:rPr>
                <a:t>03</a:t>
              </a:r>
            </a:p>
          </p:txBody>
        </p:sp>
      </p:grpSp>
      <p:grpSp>
        <p:nvGrpSpPr>
          <p:cNvPr name="Group 48" id="48"/>
          <p:cNvGrpSpPr/>
          <p:nvPr/>
        </p:nvGrpSpPr>
        <p:grpSpPr>
          <a:xfrm rot="0">
            <a:off x="9806940" y="5143500"/>
            <a:ext cx="3703320" cy="548640"/>
            <a:chOff x="0" y="0"/>
            <a:chExt cx="4937760" cy="731520"/>
          </a:xfrm>
        </p:grpSpPr>
        <p:sp>
          <p:nvSpPr>
            <p:cNvPr name="Freeform 49" id="49"/>
            <p:cNvSpPr/>
            <p:nvPr/>
          </p:nvSpPr>
          <p:spPr>
            <a:xfrm flipH="false" flipV="false" rot="0">
              <a:off x="0" y="0"/>
              <a:ext cx="4937760" cy="731520"/>
            </a:xfrm>
            <a:custGeom>
              <a:avLst/>
              <a:gdLst/>
              <a:ahLst/>
              <a:cxnLst/>
              <a:rect r="r" b="b" t="t" l="l"/>
              <a:pathLst>
                <a:path h="731520" w="4937760">
                  <a:moveTo>
                    <a:pt x="0" y="0"/>
                  </a:moveTo>
                  <a:lnTo>
                    <a:pt x="4937760" y="0"/>
                  </a:lnTo>
                  <a:lnTo>
                    <a:pt x="4937760" y="731520"/>
                  </a:lnTo>
                  <a:lnTo>
                    <a:pt x="0" y="731520"/>
                  </a:lnTo>
                  <a:close/>
                </a:path>
              </a:pathLst>
            </a:custGeom>
            <a:blipFill>
              <a:blip r:embed="rId3">
                <a:alphaModFix amt="0"/>
              </a:blip>
              <a:stretch>
                <a:fillRect l="0" t="-81524" r="0" b="-81524"/>
              </a:stretch>
            </a:blipFill>
          </p:spPr>
        </p:sp>
        <p:sp>
          <p:nvSpPr>
            <p:cNvPr name="TextBox 50" id="50"/>
            <p:cNvSpPr txBox="true"/>
            <p:nvPr/>
          </p:nvSpPr>
          <p:spPr>
            <a:xfrm>
              <a:off x="0" y="-57150"/>
              <a:ext cx="4937760" cy="788670"/>
            </a:xfrm>
            <a:prstGeom prst="rect">
              <a:avLst/>
            </a:prstGeom>
          </p:spPr>
          <p:txBody>
            <a:bodyPr anchor="ctr" rtlCol="false" tIns="0" lIns="0" bIns="0" rIns="0"/>
            <a:lstStyle/>
            <a:p>
              <a:pPr algn="ctr">
                <a:lnSpc>
                  <a:spcPts val="3240"/>
                </a:lnSpc>
              </a:pPr>
              <a:r>
                <a:rPr lang="en-US" sz="2700" b="true">
                  <a:solidFill>
                    <a:srgbClr val="2B2B2B"/>
                  </a:solidFill>
                  <a:latin typeface="Calibri (MS) Bold"/>
                  <a:ea typeface="Calibri (MS) Bold"/>
                  <a:cs typeface="Calibri (MS) Bold"/>
                  <a:sym typeface="Calibri (MS) Bold"/>
                </a:rPr>
                <a:t>Confidence</a:t>
              </a:r>
            </a:p>
          </p:txBody>
        </p:sp>
      </p:grpSp>
      <p:grpSp>
        <p:nvGrpSpPr>
          <p:cNvPr name="Group 51" id="51"/>
          <p:cNvGrpSpPr/>
          <p:nvPr/>
        </p:nvGrpSpPr>
        <p:grpSpPr>
          <a:xfrm rot="0">
            <a:off x="9806940" y="5897880"/>
            <a:ext cx="3703320" cy="548640"/>
            <a:chOff x="0" y="0"/>
            <a:chExt cx="4937760" cy="731520"/>
          </a:xfrm>
        </p:grpSpPr>
        <p:sp>
          <p:nvSpPr>
            <p:cNvPr name="Freeform 52" id="52"/>
            <p:cNvSpPr/>
            <p:nvPr/>
          </p:nvSpPr>
          <p:spPr>
            <a:xfrm flipH="false" flipV="false" rot="0">
              <a:off x="0" y="0"/>
              <a:ext cx="4937760" cy="731520"/>
            </a:xfrm>
            <a:custGeom>
              <a:avLst/>
              <a:gdLst/>
              <a:ahLst/>
              <a:cxnLst/>
              <a:rect r="r" b="b" t="t" l="l"/>
              <a:pathLst>
                <a:path h="731520" w="4937760">
                  <a:moveTo>
                    <a:pt x="0" y="0"/>
                  </a:moveTo>
                  <a:lnTo>
                    <a:pt x="4937760" y="0"/>
                  </a:lnTo>
                  <a:lnTo>
                    <a:pt x="4937760" y="731520"/>
                  </a:lnTo>
                  <a:lnTo>
                    <a:pt x="0" y="731520"/>
                  </a:lnTo>
                  <a:close/>
                </a:path>
              </a:pathLst>
            </a:custGeom>
            <a:blipFill>
              <a:blip r:embed="rId3">
                <a:alphaModFix amt="0"/>
              </a:blip>
              <a:stretch>
                <a:fillRect l="0" t="-81524" r="0" b="-81524"/>
              </a:stretch>
            </a:blipFill>
          </p:spPr>
        </p:sp>
        <p:sp>
          <p:nvSpPr>
            <p:cNvPr name="TextBox 53" id="53"/>
            <p:cNvSpPr txBox="true"/>
            <p:nvPr/>
          </p:nvSpPr>
          <p:spPr>
            <a:xfrm>
              <a:off x="0" y="-57150"/>
              <a:ext cx="4937760" cy="788670"/>
            </a:xfrm>
            <a:prstGeom prst="rect">
              <a:avLst/>
            </a:prstGeom>
          </p:spPr>
          <p:txBody>
            <a:bodyPr anchor="ctr" rtlCol="false" tIns="0" lIns="0" bIns="0" rIns="0"/>
            <a:lstStyle/>
            <a:p>
              <a:pPr algn="ctr">
                <a:lnSpc>
                  <a:spcPts val="2700"/>
                </a:lnSpc>
              </a:pPr>
              <a:r>
                <a:rPr lang="en-US" sz="2250">
                  <a:solidFill>
                    <a:srgbClr val="555555"/>
                  </a:solidFill>
                  <a:latin typeface="Calibri (MS)"/>
                  <a:ea typeface="Calibri (MS)"/>
                  <a:cs typeface="Calibri (MS)"/>
                  <a:sym typeface="Calibri (MS)"/>
                </a:rPr>
                <a:t>Less uncertainty</a:t>
              </a:r>
            </a:p>
          </p:txBody>
        </p:sp>
      </p:grpSp>
      <p:grpSp>
        <p:nvGrpSpPr>
          <p:cNvPr name="Group 54" id="54"/>
          <p:cNvGrpSpPr/>
          <p:nvPr/>
        </p:nvGrpSpPr>
        <p:grpSpPr>
          <a:xfrm rot="0">
            <a:off x="13912215" y="3488055"/>
            <a:ext cx="4133850" cy="4133850"/>
            <a:chOff x="0" y="0"/>
            <a:chExt cx="5511800" cy="5511800"/>
          </a:xfrm>
        </p:grpSpPr>
        <p:sp>
          <p:nvSpPr>
            <p:cNvPr name="Freeform 55" id="55"/>
            <p:cNvSpPr/>
            <p:nvPr/>
          </p:nvSpPr>
          <p:spPr>
            <a:xfrm flipH="false" flipV="false" rot="0">
              <a:off x="0" y="0"/>
              <a:ext cx="5511800" cy="5511800"/>
            </a:xfrm>
            <a:custGeom>
              <a:avLst/>
              <a:gdLst/>
              <a:ahLst/>
              <a:cxnLst/>
              <a:rect r="r" b="b" t="t" l="l"/>
              <a:pathLst>
                <a:path h="5511800" w="5511800">
                  <a:moveTo>
                    <a:pt x="0" y="110236"/>
                  </a:moveTo>
                  <a:cubicBezTo>
                    <a:pt x="0" y="49403"/>
                    <a:pt x="49403" y="0"/>
                    <a:pt x="110236" y="0"/>
                  </a:cubicBezTo>
                  <a:lnTo>
                    <a:pt x="5401564" y="0"/>
                  </a:lnTo>
                  <a:cubicBezTo>
                    <a:pt x="5462397" y="0"/>
                    <a:pt x="5511800" y="49403"/>
                    <a:pt x="5511800" y="110236"/>
                  </a:cubicBezTo>
                  <a:lnTo>
                    <a:pt x="5511800" y="5401564"/>
                  </a:lnTo>
                  <a:cubicBezTo>
                    <a:pt x="5511800" y="5462397"/>
                    <a:pt x="5462397" y="5511800"/>
                    <a:pt x="5401564" y="5511800"/>
                  </a:cubicBezTo>
                  <a:lnTo>
                    <a:pt x="110236" y="5511800"/>
                  </a:lnTo>
                  <a:cubicBezTo>
                    <a:pt x="49403" y="5511800"/>
                    <a:pt x="0" y="5462397"/>
                    <a:pt x="0" y="5401564"/>
                  </a:cubicBezTo>
                  <a:close/>
                </a:path>
              </a:pathLst>
            </a:custGeom>
            <a:solidFill>
              <a:srgbClr val="FFFFFF"/>
            </a:solidFill>
            <a:ln w="19050" cap="sq">
              <a:solidFill>
                <a:srgbClr val="DCDCDC"/>
              </a:solidFill>
              <a:prstDash val="solid"/>
              <a:miter/>
            </a:ln>
          </p:spPr>
        </p:sp>
      </p:grpSp>
      <p:grpSp>
        <p:nvGrpSpPr>
          <p:cNvPr name="Group 56" id="56"/>
          <p:cNvGrpSpPr/>
          <p:nvPr/>
        </p:nvGrpSpPr>
        <p:grpSpPr>
          <a:xfrm rot="0">
            <a:off x="13912215" y="3488055"/>
            <a:ext cx="4133850" cy="94488"/>
            <a:chOff x="0" y="0"/>
            <a:chExt cx="5511800" cy="125984"/>
          </a:xfrm>
        </p:grpSpPr>
        <p:sp>
          <p:nvSpPr>
            <p:cNvPr name="Freeform 57" id="57"/>
            <p:cNvSpPr/>
            <p:nvPr/>
          </p:nvSpPr>
          <p:spPr>
            <a:xfrm flipH="false" flipV="false" rot="0">
              <a:off x="0" y="0"/>
              <a:ext cx="5511800" cy="125984"/>
            </a:xfrm>
            <a:custGeom>
              <a:avLst/>
              <a:gdLst/>
              <a:ahLst/>
              <a:cxnLst/>
              <a:rect r="r" b="b" t="t" l="l"/>
              <a:pathLst>
                <a:path h="125984" w="5511800">
                  <a:moveTo>
                    <a:pt x="0" y="0"/>
                  </a:moveTo>
                  <a:lnTo>
                    <a:pt x="5511800" y="0"/>
                  </a:lnTo>
                  <a:lnTo>
                    <a:pt x="5511800" y="125984"/>
                  </a:lnTo>
                  <a:lnTo>
                    <a:pt x="0" y="125984"/>
                  </a:lnTo>
                  <a:close/>
                </a:path>
              </a:pathLst>
            </a:custGeom>
            <a:solidFill>
              <a:srgbClr val="FF8A80"/>
            </a:solidFill>
            <a:ln w="19050" cap="sq">
              <a:solidFill>
                <a:srgbClr val="333333"/>
              </a:solidFill>
              <a:prstDash val="solid"/>
              <a:miter/>
            </a:ln>
          </p:spPr>
        </p:sp>
      </p:grpSp>
      <p:grpSp>
        <p:nvGrpSpPr>
          <p:cNvPr name="Group 58" id="58"/>
          <p:cNvGrpSpPr/>
          <p:nvPr/>
        </p:nvGrpSpPr>
        <p:grpSpPr>
          <a:xfrm rot="0">
            <a:off x="13921740" y="4183380"/>
            <a:ext cx="4114800" cy="685800"/>
            <a:chOff x="0" y="0"/>
            <a:chExt cx="5486400" cy="914400"/>
          </a:xfrm>
        </p:grpSpPr>
        <p:sp>
          <p:nvSpPr>
            <p:cNvPr name="Freeform 59" id="59"/>
            <p:cNvSpPr/>
            <p:nvPr/>
          </p:nvSpPr>
          <p:spPr>
            <a:xfrm flipH="false" flipV="false" rot="0">
              <a:off x="0" y="0"/>
              <a:ext cx="5486400" cy="914400"/>
            </a:xfrm>
            <a:custGeom>
              <a:avLst/>
              <a:gdLst/>
              <a:ahLst/>
              <a:cxnLst/>
              <a:rect r="r" b="b" t="t" l="l"/>
              <a:pathLst>
                <a:path h="914400" w="5486400">
                  <a:moveTo>
                    <a:pt x="0" y="0"/>
                  </a:moveTo>
                  <a:lnTo>
                    <a:pt x="5486400" y="0"/>
                  </a:lnTo>
                  <a:lnTo>
                    <a:pt x="5486400" y="914400"/>
                  </a:lnTo>
                  <a:lnTo>
                    <a:pt x="0" y="914400"/>
                  </a:lnTo>
                  <a:close/>
                </a:path>
              </a:pathLst>
            </a:custGeom>
            <a:blipFill>
              <a:blip r:embed="rId3">
                <a:alphaModFix amt="0"/>
              </a:blip>
              <a:stretch>
                <a:fillRect l="0" t="-66910" r="0" b="-66910"/>
              </a:stretch>
            </a:blipFill>
          </p:spPr>
        </p:sp>
        <p:sp>
          <p:nvSpPr>
            <p:cNvPr name="TextBox 60" id="60"/>
            <p:cNvSpPr txBox="true"/>
            <p:nvPr/>
          </p:nvSpPr>
          <p:spPr>
            <a:xfrm>
              <a:off x="0" y="-9525"/>
              <a:ext cx="5486400" cy="923925"/>
            </a:xfrm>
            <a:prstGeom prst="rect">
              <a:avLst/>
            </a:prstGeom>
          </p:spPr>
          <p:txBody>
            <a:bodyPr anchor="ctr" rtlCol="false" tIns="0" lIns="0" bIns="0" rIns="0"/>
            <a:lstStyle/>
            <a:p>
              <a:pPr algn="ctr">
                <a:lnSpc>
                  <a:spcPts val="5040"/>
                </a:lnSpc>
              </a:pPr>
              <a:r>
                <a:rPr lang="en-US" sz="4200">
                  <a:solidFill>
                    <a:srgbClr val="FF8A80"/>
                  </a:solidFill>
                  <a:latin typeface="Georgia"/>
                  <a:ea typeface="Georgia"/>
                  <a:cs typeface="Georgia"/>
                  <a:sym typeface="Georgia"/>
                </a:rPr>
                <a:t>04</a:t>
              </a:r>
            </a:p>
          </p:txBody>
        </p:sp>
      </p:grpSp>
      <p:grpSp>
        <p:nvGrpSpPr>
          <p:cNvPr name="Group 61" id="61"/>
          <p:cNvGrpSpPr/>
          <p:nvPr/>
        </p:nvGrpSpPr>
        <p:grpSpPr>
          <a:xfrm rot="0">
            <a:off x="14127480" y="5143500"/>
            <a:ext cx="3703320" cy="548640"/>
            <a:chOff x="0" y="0"/>
            <a:chExt cx="4937760" cy="731520"/>
          </a:xfrm>
        </p:grpSpPr>
        <p:sp>
          <p:nvSpPr>
            <p:cNvPr name="Freeform 62" id="62"/>
            <p:cNvSpPr/>
            <p:nvPr/>
          </p:nvSpPr>
          <p:spPr>
            <a:xfrm flipH="false" flipV="false" rot="0">
              <a:off x="0" y="0"/>
              <a:ext cx="4937760" cy="731520"/>
            </a:xfrm>
            <a:custGeom>
              <a:avLst/>
              <a:gdLst/>
              <a:ahLst/>
              <a:cxnLst/>
              <a:rect r="r" b="b" t="t" l="l"/>
              <a:pathLst>
                <a:path h="731520" w="4937760">
                  <a:moveTo>
                    <a:pt x="0" y="0"/>
                  </a:moveTo>
                  <a:lnTo>
                    <a:pt x="4937760" y="0"/>
                  </a:lnTo>
                  <a:lnTo>
                    <a:pt x="4937760" y="731520"/>
                  </a:lnTo>
                  <a:lnTo>
                    <a:pt x="0" y="731520"/>
                  </a:lnTo>
                  <a:close/>
                </a:path>
              </a:pathLst>
            </a:custGeom>
            <a:blipFill>
              <a:blip r:embed="rId3">
                <a:alphaModFix amt="0"/>
              </a:blip>
              <a:stretch>
                <a:fillRect l="0" t="-81524" r="0" b="-81524"/>
              </a:stretch>
            </a:blipFill>
          </p:spPr>
        </p:sp>
        <p:sp>
          <p:nvSpPr>
            <p:cNvPr name="TextBox 63" id="63"/>
            <p:cNvSpPr txBox="true"/>
            <p:nvPr/>
          </p:nvSpPr>
          <p:spPr>
            <a:xfrm>
              <a:off x="0" y="-57150"/>
              <a:ext cx="4937760" cy="788670"/>
            </a:xfrm>
            <a:prstGeom prst="rect">
              <a:avLst/>
            </a:prstGeom>
          </p:spPr>
          <p:txBody>
            <a:bodyPr anchor="ctr" rtlCol="false" tIns="0" lIns="0" bIns="0" rIns="0"/>
            <a:lstStyle/>
            <a:p>
              <a:pPr algn="ctr">
                <a:lnSpc>
                  <a:spcPts val="3240"/>
                </a:lnSpc>
              </a:pPr>
              <a:r>
                <a:rPr lang="en-US" sz="2700" b="true">
                  <a:solidFill>
                    <a:srgbClr val="2B2B2B"/>
                  </a:solidFill>
                  <a:latin typeface="Calibri (MS) Bold"/>
                  <a:ea typeface="Calibri (MS) Bold"/>
                  <a:cs typeface="Calibri (MS) Bold"/>
                  <a:sym typeface="Calibri (MS) Bold"/>
                </a:rPr>
                <a:t>Inclusion</a:t>
              </a:r>
            </a:p>
          </p:txBody>
        </p:sp>
      </p:grpSp>
      <p:grpSp>
        <p:nvGrpSpPr>
          <p:cNvPr name="Group 64" id="64"/>
          <p:cNvGrpSpPr/>
          <p:nvPr/>
        </p:nvGrpSpPr>
        <p:grpSpPr>
          <a:xfrm rot="0">
            <a:off x="14127480" y="5897880"/>
            <a:ext cx="3703320" cy="548640"/>
            <a:chOff x="0" y="0"/>
            <a:chExt cx="4937760" cy="731520"/>
          </a:xfrm>
        </p:grpSpPr>
        <p:sp>
          <p:nvSpPr>
            <p:cNvPr name="Freeform 65" id="65"/>
            <p:cNvSpPr/>
            <p:nvPr/>
          </p:nvSpPr>
          <p:spPr>
            <a:xfrm flipH="false" flipV="false" rot="0">
              <a:off x="0" y="0"/>
              <a:ext cx="4937760" cy="731520"/>
            </a:xfrm>
            <a:custGeom>
              <a:avLst/>
              <a:gdLst/>
              <a:ahLst/>
              <a:cxnLst/>
              <a:rect r="r" b="b" t="t" l="l"/>
              <a:pathLst>
                <a:path h="731520" w="4937760">
                  <a:moveTo>
                    <a:pt x="0" y="0"/>
                  </a:moveTo>
                  <a:lnTo>
                    <a:pt x="4937760" y="0"/>
                  </a:lnTo>
                  <a:lnTo>
                    <a:pt x="4937760" y="731520"/>
                  </a:lnTo>
                  <a:lnTo>
                    <a:pt x="0" y="731520"/>
                  </a:lnTo>
                  <a:close/>
                </a:path>
              </a:pathLst>
            </a:custGeom>
            <a:blipFill>
              <a:blip r:embed="rId3">
                <a:alphaModFix amt="0"/>
              </a:blip>
              <a:stretch>
                <a:fillRect l="0" t="-81524" r="0" b="-81524"/>
              </a:stretch>
            </a:blipFill>
          </p:spPr>
        </p:sp>
        <p:sp>
          <p:nvSpPr>
            <p:cNvPr name="TextBox 66" id="66"/>
            <p:cNvSpPr txBox="true"/>
            <p:nvPr/>
          </p:nvSpPr>
          <p:spPr>
            <a:xfrm>
              <a:off x="0" y="-57150"/>
              <a:ext cx="4937760" cy="788670"/>
            </a:xfrm>
            <a:prstGeom prst="rect">
              <a:avLst/>
            </a:prstGeom>
          </p:spPr>
          <p:txBody>
            <a:bodyPr anchor="ctr" rtlCol="false" tIns="0" lIns="0" bIns="0" rIns="0"/>
            <a:lstStyle/>
            <a:p>
              <a:pPr algn="ctr">
                <a:lnSpc>
                  <a:spcPts val="2700"/>
                </a:lnSpc>
              </a:pPr>
              <a:r>
                <a:rPr lang="en-US" sz="2250">
                  <a:solidFill>
                    <a:srgbClr val="555555"/>
                  </a:solidFill>
                  <a:latin typeface="Calibri (MS)"/>
                  <a:ea typeface="Calibri (MS)"/>
                  <a:cs typeface="Calibri (MS)"/>
                  <a:sym typeface="Calibri (MS)"/>
                </a:rPr>
                <a:t>Accessible technology</a:t>
              </a: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grpSp>
        <p:nvGrpSpPr>
          <p:cNvPr name="Group 2" id="2"/>
          <p:cNvGrpSpPr/>
          <p:nvPr/>
        </p:nvGrpSpPr>
        <p:grpSpPr>
          <a:xfrm rot="0">
            <a:off x="960120" y="576072"/>
            <a:ext cx="16322040" cy="658368"/>
            <a:chOff x="0" y="0"/>
            <a:chExt cx="21762720" cy="877824"/>
          </a:xfrm>
        </p:grpSpPr>
        <p:sp>
          <p:nvSpPr>
            <p:cNvPr name="Freeform 3" id="3"/>
            <p:cNvSpPr/>
            <p:nvPr/>
          </p:nvSpPr>
          <p:spPr>
            <a:xfrm flipH="false" flipV="false" rot="0">
              <a:off x="0" y="0"/>
              <a:ext cx="21762720" cy="877824"/>
            </a:xfrm>
            <a:custGeom>
              <a:avLst/>
              <a:gdLst/>
              <a:ahLst/>
              <a:cxnLst/>
              <a:rect r="r" b="b" t="t" l="l"/>
              <a:pathLst>
                <a:path h="877824" w="21762720">
                  <a:moveTo>
                    <a:pt x="0" y="0"/>
                  </a:moveTo>
                  <a:lnTo>
                    <a:pt x="21762720" y="0"/>
                  </a:lnTo>
                  <a:lnTo>
                    <a:pt x="21762720" y="877824"/>
                  </a:lnTo>
                  <a:lnTo>
                    <a:pt x="0" y="877824"/>
                  </a:lnTo>
                  <a:close/>
                </a:path>
              </a:pathLst>
            </a:custGeom>
            <a:blipFill>
              <a:blip r:embed="rId3">
                <a:alphaModFix amt="0"/>
              </a:blip>
              <a:stretch>
                <a:fillRect l="0" t="-433066" r="0" b="-433066"/>
              </a:stretch>
            </a:blipFill>
          </p:spPr>
        </p:sp>
        <p:sp>
          <p:nvSpPr>
            <p:cNvPr name="TextBox 4" id="4"/>
            <p:cNvSpPr txBox="true"/>
            <p:nvPr/>
          </p:nvSpPr>
          <p:spPr>
            <a:xfrm>
              <a:off x="0" y="0"/>
              <a:ext cx="21762720" cy="877824"/>
            </a:xfrm>
            <a:prstGeom prst="rect">
              <a:avLst/>
            </a:prstGeom>
          </p:spPr>
          <p:txBody>
            <a:bodyPr anchor="ctr" rtlCol="false" tIns="0" lIns="0" bIns="0" rIns="0"/>
            <a:lstStyle/>
            <a:p>
              <a:pPr algn="l">
                <a:lnSpc>
                  <a:spcPts val="5759"/>
                </a:lnSpc>
              </a:pPr>
              <a:r>
                <a:rPr lang="en-US" sz="4800">
                  <a:solidFill>
                    <a:srgbClr val="2B2B2B"/>
                  </a:solidFill>
                  <a:latin typeface="Georgia"/>
                  <a:ea typeface="Georgia"/>
                  <a:cs typeface="Georgia"/>
                  <a:sym typeface="Georgia"/>
                </a:rPr>
                <a:t>Development Roadmap</a:t>
              </a:r>
            </a:p>
          </p:txBody>
        </p:sp>
      </p:grpSp>
      <p:grpSp>
        <p:nvGrpSpPr>
          <p:cNvPr name="Group 5" id="5"/>
          <p:cNvGrpSpPr/>
          <p:nvPr/>
        </p:nvGrpSpPr>
        <p:grpSpPr>
          <a:xfrm rot="0">
            <a:off x="950595" y="1293495"/>
            <a:ext cx="1088898" cy="67056"/>
            <a:chOff x="0" y="0"/>
            <a:chExt cx="1451864" cy="89408"/>
          </a:xfrm>
        </p:grpSpPr>
        <p:sp>
          <p:nvSpPr>
            <p:cNvPr name="Freeform 6" id="6"/>
            <p:cNvSpPr/>
            <p:nvPr/>
          </p:nvSpPr>
          <p:spPr>
            <a:xfrm flipH="false" flipV="false" rot="0">
              <a:off x="0" y="0"/>
              <a:ext cx="1451864" cy="89408"/>
            </a:xfrm>
            <a:custGeom>
              <a:avLst/>
              <a:gdLst/>
              <a:ahLst/>
              <a:cxnLst/>
              <a:rect r="r" b="b" t="t" l="l"/>
              <a:pathLst>
                <a:path h="89408" w="1451864">
                  <a:moveTo>
                    <a:pt x="0" y="0"/>
                  </a:moveTo>
                  <a:lnTo>
                    <a:pt x="1451864" y="0"/>
                  </a:lnTo>
                  <a:lnTo>
                    <a:pt x="1451864" y="89408"/>
                  </a:lnTo>
                  <a:lnTo>
                    <a:pt x="0" y="89408"/>
                  </a:lnTo>
                  <a:close/>
                </a:path>
              </a:pathLst>
            </a:custGeom>
            <a:solidFill>
              <a:srgbClr val="FF8A80"/>
            </a:solidFill>
            <a:ln w="19050" cap="sq">
              <a:solidFill>
                <a:srgbClr val="333333"/>
              </a:solidFill>
              <a:prstDash val="solid"/>
              <a:miter/>
            </a:ln>
          </p:spPr>
        </p:sp>
      </p:grpSp>
      <p:grpSp>
        <p:nvGrpSpPr>
          <p:cNvPr name="Group 7" id="7"/>
          <p:cNvGrpSpPr/>
          <p:nvPr/>
        </p:nvGrpSpPr>
        <p:grpSpPr>
          <a:xfrm rot="0">
            <a:off x="950595" y="9701403"/>
            <a:ext cx="16386353" cy="35509"/>
            <a:chOff x="0" y="0"/>
            <a:chExt cx="21848470" cy="47346"/>
          </a:xfrm>
        </p:grpSpPr>
        <p:sp>
          <p:nvSpPr>
            <p:cNvPr name="Freeform 8" id="8"/>
            <p:cNvSpPr/>
            <p:nvPr/>
          </p:nvSpPr>
          <p:spPr>
            <a:xfrm flipH="false" flipV="false" rot="0">
              <a:off x="0" y="0"/>
              <a:ext cx="21848445" cy="47371"/>
            </a:xfrm>
            <a:custGeom>
              <a:avLst/>
              <a:gdLst/>
              <a:ahLst/>
              <a:cxnLst/>
              <a:rect r="r" b="b" t="t" l="l"/>
              <a:pathLst>
                <a:path h="47371" w="21848445">
                  <a:moveTo>
                    <a:pt x="0" y="0"/>
                  </a:moveTo>
                  <a:lnTo>
                    <a:pt x="21848445" y="0"/>
                  </a:lnTo>
                  <a:lnTo>
                    <a:pt x="21848445" y="47371"/>
                  </a:lnTo>
                  <a:lnTo>
                    <a:pt x="0" y="47371"/>
                  </a:lnTo>
                  <a:close/>
                </a:path>
              </a:pathLst>
            </a:custGeom>
            <a:solidFill>
              <a:srgbClr val="D0D0D0"/>
            </a:solidFill>
            <a:ln w="19050" cap="sq">
              <a:solidFill>
                <a:srgbClr val="333333"/>
              </a:solidFill>
              <a:prstDash val="solid"/>
              <a:miter/>
            </a:ln>
          </p:spPr>
        </p:sp>
      </p:grpSp>
      <p:grpSp>
        <p:nvGrpSpPr>
          <p:cNvPr name="Group 9" id="9"/>
          <p:cNvGrpSpPr/>
          <p:nvPr/>
        </p:nvGrpSpPr>
        <p:grpSpPr>
          <a:xfrm rot="0">
            <a:off x="15636240" y="9806940"/>
            <a:ext cx="1645920" cy="356616"/>
            <a:chOff x="0" y="0"/>
            <a:chExt cx="2194560" cy="475488"/>
          </a:xfrm>
        </p:grpSpPr>
        <p:sp>
          <p:nvSpPr>
            <p:cNvPr name="Freeform 10" id="10"/>
            <p:cNvSpPr/>
            <p:nvPr/>
          </p:nvSpPr>
          <p:spPr>
            <a:xfrm flipH="false" flipV="false" rot="0">
              <a:off x="0" y="0"/>
              <a:ext cx="2194560" cy="475488"/>
            </a:xfrm>
            <a:custGeom>
              <a:avLst/>
              <a:gdLst/>
              <a:ahLst/>
              <a:cxnLst/>
              <a:rect r="r" b="b" t="t" l="l"/>
              <a:pathLst>
                <a:path h="475488" w="2194560">
                  <a:moveTo>
                    <a:pt x="0" y="0"/>
                  </a:moveTo>
                  <a:lnTo>
                    <a:pt x="2194560" y="0"/>
                  </a:lnTo>
                  <a:lnTo>
                    <a:pt x="2194560" y="475488"/>
                  </a:lnTo>
                  <a:lnTo>
                    <a:pt x="0" y="475488"/>
                  </a:lnTo>
                  <a:close/>
                </a:path>
              </a:pathLst>
            </a:custGeom>
            <a:blipFill>
              <a:blip r:embed="rId3">
                <a:alphaModFix amt="0"/>
              </a:blip>
              <a:stretch>
                <a:fillRect l="0" t="-39930" r="0" b="-39930"/>
              </a:stretch>
            </a:blipFill>
          </p:spPr>
        </p:sp>
        <p:sp>
          <p:nvSpPr>
            <p:cNvPr name="TextBox 11" id="11"/>
            <p:cNvSpPr txBox="true"/>
            <p:nvPr/>
          </p:nvSpPr>
          <p:spPr>
            <a:xfrm>
              <a:off x="0" y="-28575"/>
              <a:ext cx="2194560" cy="504063"/>
            </a:xfrm>
            <a:prstGeom prst="rect">
              <a:avLst/>
            </a:prstGeom>
          </p:spPr>
          <p:txBody>
            <a:bodyPr anchor="ctr" rtlCol="false" tIns="0" lIns="0" bIns="0" rIns="0"/>
            <a:lstStyle/>
            <a:p>
              <a:pPr algn="r">
                <a:lnSpc>
                  <a:spcPts val="1980"/>
                </a:lnSpc>
              </a:pPr>
              <a:r>
                <a:rPr lang="en-US" sz="1650">
                  <a:solidFill>
                    <a:srgbClr val="6B6B6B"/>
                  </a:solidFill>
                  <a:latin typeface="Calibri (MS)"/>
                  <a:ea typeface="Calibri (MS)"/>
                  <a:cs typeface="Calibri (MS)"/>
                  <a:sym typeface="Calibri (MS)"/>
                </a:rPr>
                <a:t>11</a:t>
              </a:r>
            </a:p>
          </p:txBody>
        </p:sp>
      </p:grpSp>
      <p:grpSp>
        <p:nvGrpSpPr>
          <p:cNvPr name="Group 12" id="12"/>
          <p:cNvGrpSpPr/>
          <p:nvPr/>
        </p:nvGrpSpPr>
        <p:grpSpPr>
          <a:xfrm rot="0">
            <a:off x="960120" y="1673352"/>
            <a:ext cx="16322040" cy="754380"/>
            <a:chOff x="0" y="0"/>
            <a:chExt cx="21762720" cy="1005840"/>
          </a:xfrm>
        </p:grpSpPr>
        <p:sp>
          <p:nvSpPr>
            <p:cNvPr name="Freeform 13" id="13"/>
            <p:cNvSpPr/>
            <p:nvPr/>
          </p:nvSpPr>
          <p:spPr>
            <a:xfrm flipH="false" flipV="false" rot="0">
              <a:off x="0" y="0"/>
              <a:ext cx="21762720" cy="1005840"/>
            </a:xfrm>
            <a:custGeom>
              <a:avLst/>
              <a:gdLst/>
              <a:ahLst/>
              <a:cxnLst/>
              <a:rect r="r" b="b" t="t" l="l"/>
              <a:pathLst>
                <a:path h="1005840" w="21762720">
                  <a:moveTo>
                    <a:pt x="0" y="0"/>
                  </a:moveTo>
                  <a:lnTo>
                    <a:pt x="21762720" y="0"/>
                  </a:lnTo>
                  <a:lnTo>
                    <a:pt x="21762720" y="1005840"/>
                  </a:lnTo>
                  <a:lnTo>
                    <a:pt x="0" y="1005840"/>
                  </a:lnTo>
                  <a:close/>
                </a:path>
              </a:pathLst>
            </a:custGeom>
            <a:blipFill>
              <a:blip r:embed="rId3">
                <a:alphaModFix amt="0"/>
              </a:blip>
              <a:stretch>
                <a:fillRect l="0" t="-371585" r="0" b="-371585"/>
              </a:stretch>
            </a:blipFill>
          </p:spPr>
        </p:sp>
        <p:sp>
          <p:nvSpPr>
            <p:cNvPr name="TextBox 14" id="14"/>
            <p:cNvSpPr txBox="true"/>
            <p:nvPr/>
          </p:nvSpPr>
          <p:spPr>
            <a:xfrm>
              <a:off x="0" y="-47625"/>
              <a:ext cx="21762720" cy="1053465"/>
            </a:xfrm>
            <a:prstGeom prst="rect">
              <a:avLst/>
            </a:prstGeom>
          </p:spPr>
          <p:txBody>
            <a:bodyPr anchor="ctr" rtlCol="false" tIns="0" lIns="0" bIns="0" rIns="0"/>
            <a:lstStyle/>
            <a:p>
              <a:pPr algn="l">
                <a:lnSpc>
                  <a:spcPts val="3060"/>
                </a:lnSpc>
              </a:pPr>
              <a:r>
                <a:rPr lang="en-US" sz="2550">
                  <a:solidFill>
                    <a:srgbClr val="2B2B2B"/>
                  </a:solidFill>
                  <a:latin typeface="Calibri (MS)"/>
                  <a:ea typeface="Calibri (MS)"/>
                  <a:cs typeface="Calibri (MS)"/>
                  <a:sym typeface="Calibri (MS)"/>
                </a:rPr>
                <a:t>The project will progress through six phases, moving from a simulated environment towards validation in real-world conditions.</a:t>
              </a:r>
            </a:p>
          </p:txBody>
        </p:sp>
      </p:grpSp>
      <p:grpSp>
        <p:nvGrpSpPr>
          <p:cNvPr name="Group 15" id="15"/>
          <p:cNvGrpSpPr/>
          <p:nvPr/>
        </p:nvGrpSpPr>
        <p:grpSpPr>
          <a:xfrm rot="0">
            <a:off x="950595" y="2665095"/>
            <a:ext cx="5436870" cy="2967990"/>
            <a:chOff x="0" y="0"/>
            <a:chExt cx="7249160" cy="3957320"/>
          </a:xfrm>
        </p:grpSpPr>
        <p:sp>
          <p:nvSpPr>
            <p:cNvPr name="Freeform 16" id="16"/>
            <p:cNvSpPr/>
            <p:nvPr/>
          </p:nvSpPr>
          <p:spPr>
            <a:xfrm flipH="false" flipV="false" rot="0">
              <a:off x="0" y="0"/>
              <a:ext cx="7249160" cy="3957320"/>
            </a:xfrm>
            <a:custGeom>
              <a:avLst/>
              <a:gdLst/>
              <a:ahLst/>
              <a:cxnLst/>
              <a:rect r="r" b="b" t="t" l="l"/>
              <a:pathLst>
                <a:path h="3957320" w="7249160">
                  <a:moveTo>
                    <a:pt x="0" y="110490"/>
                  </a:moveTo>
                  <a:cubicBezTo>
                    <a:pt x="0" y="49403"/>
                    <a:pt x="49403" y="0"/>
                    <a:pt x="110490" y="0"/>
                  </a:cubicBezTo>
                  <a:lnTo>
                    <a:pt x="7138670" y="0"/>
                  </a:lnTo>
                  <a:cubicBezTo>
                    <a:pt x="7199630" y="0"/>
                    <a:pt x="7249160" y="49403"/>
                    <a:pt x="7249160" y="110490"/>
                  </a:cubicBezTo>
                  <a:lnTo>
                    <a:pt x="7249160" y="3846830"/>
                  </a:lnTo>
                  <a:cubicBezTo>
                    <a:pt x="7249160" y="3907790"/>
                    <a:pt x="7199757" y="3957320"/>
                    <a:pt x="7138670" y="3957320"/>
                  </a:cubicBezTo>
                  <a:lnTo>
                    <a:pt x="110490" y="3957320"/>
                  </a:lnTo>
                  <a:cubicBezTo>
                    <a:pt x="49530" y="3957320"/>
                    <a:pt x="0" y="3907917"/>
                    <a:pt x="0" y="3846830"/>
                  </a:cubicBezTo>
                  <a:close/>
                </a:path>
              </a:pathLst>
            </a:custGeom>
            <a:solidFill>
              <a:srgbClr val="FFFFFF"/>
            </a:solidFill>
            <a:ln w="19050" cap="sq">
              <a:solidFill>
                <a:srgbClr val="DCDCDC"/>
              </a:solidFill>
              <a:prstDash val="solid"/>
              <a:miter/>
            </a:ln>
          </p:spPr>
        </p:sp>
      </p:grpSp>
      <p:grpSp>
        <p:nvGrpSpPr>
          <p:cNvPr name="Group 17" id="17"/>
          <p:cNvGrpSpPr/>
          <p:nvPr/>
        </p:nvGrpSpPr>
        <p:grpSpPr>
          <a:xfrm rot="0">
            <a:off x="950595" y="2665095"/>
            <a:ext cx="5436870" cy="94488"/>
            <a:chOff x="0" y="0"/>
            <a:chExt cx="7249160" cy="125984"/>
          </a:xfrm>
        </p:grpSpPr>
        <p:sp>
          <p:nvSpPr>
            <p:cNvPr name="Freeform 18" id="18"/>
            <p:cNvSpPr/>
            <p:nvPr/>
          </p:nvSpPr>
          <p:spPr>
            <a:xfrm flipH="false" flipV="false" rot="0">
              <a:off x="0" y="0"/>
              <a:ext cx="7249160" cy="125984"/>
            </a:xfrm>
            <a:custGeom>
              <a:avLst/>
              <a:gdLst/>
              <a:ahLst/>
              <a:cxnLst/>
              <a:rect r="r" b="b" t="t" l="l"/>
              <a:pathLst>
                <a:path h="125984" w="7249160">
                  <a:moveTo>
                    <a:pt x="0" y="0"/>
                  </a:moveTo>
                  <a:lnTo>
                    <a:pt x="7249160" y="0"/>
                  </a:lnTo>
                  <a:lnTo>
                    <a:pt x="7249160" y="125984"/>
                  </a:lnTo>
                  <a:lnTo>
                    <a:pt x="0" y="125984"/>
                  </a:lnTo>
                  <a:close/>
                </a:path>
              </a:pathLst>
            </a:custGeom>
            <a:solidFill>
              <a:srgbClr val="FF8A80"/>
            </a:solidFill>
            <a:ln w="19050" cap="sq">
              <a:solidFill>
                <a:srgbClr val="333333"/>
              </a:solidFill>
              <a:prstDash val="solid"/>
              <a:miter/>
            </a:ln>
          </p:spPr>
        </p:sp>
      </p:grpSp>
      <p:grpSp>
        <p:nvGrpSpPr>
          <p:cNvPr name="Group 19" id="19"/>
          <p:cNvGrpSpPr/>
          <p:nvPr/>
        </p:nvGrpSpPr>
        <p:grpSpPr>
          <a:xfrm rot="0">
            <a:off x="1261872" y="2976372"/>
            <a:ext cx="4800600" cy="356616"/>
            <a:chOff x="0" y="0"/>
            <a:chExt cx="6400800" cy="475488"/>
          </a:xfrm>
        </p:grpSpPr>
        <p:sp>
          <p:nvSpPr>
            <p:cNvPr name="Freeform 20" id="20"/>
            <p:cNvSpPr/>
            <p:nvPr/>
          </p:nvSpPr>
          <p:spPr>
            <a:xfrm flipH="false" flipV="false" rot="0">
              <a:off x="0" y="0"/>
              <a:ext cx="6400800" cy="475488"/>
            </a:xfrm>
            <a:custGeom>
              <a:avLst/>
              <a:gdLst/>
              <a:ahLst/>
              <a:cxnLst/>
              <a:rect r="r" b="b" t="t" l="l"/>
              <a:pathLst>
                <a:path h="475488" w="6400800">
                  <a:moveTo>
                    <a:pt x="0" y="0"/>
                  </a:moveTo>
                  <a:lnTo>
                    <a:pt x="6400800" y="0"/>
                  </a:lnTo>
                  <a:lnTo>
                    <a:pt x="6400800" y="475488"/>
                  </a:lnTo>
                  <a:lnTo>
                    <a:pt x="0" y="475488"/>
                  </a:lnTo>
                  <a:close/>
                </a:path>
              </a:pathLst>
            </a:custGeom>
            <a:blipFill>
              <a:blip r:embed="rId3">
                <a:alphaModFix amt="0"/>
              </a:blip>
              <a:stretch>
                <a:fillRect l="0" t="-212298" r="0" b="-212298"/>
              </a:stretch>
            </a:blipFill>
          </p:spPr>
        </p:sp>
        <p:sp>
          <p:nvSpPr>
            <p:cNvPr name="TextBox 21" id="21"/>
            <p:cNvSpPr txBox="true"/>
            <p:nvPr/>
          </p:nvSpPr>
          <p:spPr>
            <a:xfrm>
              <a:off x="0" y="-38100"/>
              <a:ext cx="6400800" cy="513588"/>
            </a:xfrm>
            <a:prstGeom prst="rect">
              <a:avLst/>
            </a:prstGeom>
          </p:spPr>
          <p:txBody>
            <a:bodyPr anchor="ctr" rtlCol="false" tIns="0" lIns="0" bIns="0" rIns="0"/>
            <a:lstStyle/>
            <a:p>
              <a:pPr algn="l">
                <a:lnSpc>
                  <a:spcPts val="2160"/>
                </a:lnSpc>
              </a:pPr>
              <a:r>
                <a:rPr lang="en-US" sz="1800">
                  <a:solidFill>
                    <a:srgbClr val="6B6B6B"/>
                  </a:solidFill>
                  <a:latin typeface="Calibri (MS)"/>
                  <a:ea typeface="Calibri (MS)"/>
                  <a:cs typeface="Calibri (MS)"/>
                  <a:sym typeface="Calibri (MS)"/>
                </a:rPr>
                <a:t>PHASE  01</a:t>
              </a:r>
            </a:p>
          </p:txBody>
        </p:sp>
      </p:grpSp>
      <p:grpSp>
        <p:nvGrpSpPr>
          <p:cNvPr name="Group 22" id="22"/>
          <p:cNvGrpSpPr/>
          <p:nvPr/>
        </p:nvGrpSpPr>
        <p:grpSpPr>
          <a:xfrm rot="0">
            <a:off x="1261872" y="3429000"/>
            <a:ext cx="4800600" cy="548640"/>
            <a:chOff x="0" y="0"/>
            <a:chExt cx="6400800" cy="731520"/>
          </a:xfrm>
        </p:grpSpPr>
        <p:sp>
          <p:nvSpPr>
            <p:cNvPr name="Freeform 23" id="23"/>
            <p:cNvSpPr/>
            <p:nvPr/>
          </p:nvSpPr>
          <p:spPr>
            <a:xfrm flipH="false" flipV="false" rot="0">
              <a:off x="0" y="0"/>
              <a:ext cx="6400800" cy="731520"/>
            </a:xfrm>
            <a:custGeom>
              <a:avLst/>
              <a:gdLst/>
              <a:ahLst/>
              <a:cxnLst/>
              <a:rect r="r" b="b" t="t" l="l"/>
              <a:pathLst>
                <a:path h="731520" w="6400800">
                  <a:moveTo>
                    <a:pt x="0" y="0"/>
                  </a:moveTo>
                  <a:lnTo>
                    <a:pt x="6400800" y="0"/>
                  </a:lnTo>
                  <a:lnTo>
                    <a:pt x="6400800" y="731520"/>
                  </a:lnTo>
                  <a:lnTo>
                    <a:pt x="0" y="731520"/>
                  </a:lnTo>
                  <a:close/>
                </a:path>
              </a:pathLst>
            </a:custGeom>
            <a:blipFill>
              <a:blip r:embed="rId3">
                <a:alphaModFix amt="0"/>
              </a:blip>
              <a:stretch>
                <a:fillRect l="0" t="-120494" r="0" b="-120494"/>
              </a:stretch>
            </a:blipFill>
          </p:spPr>
        </p:sp>
        <p:sp>
          <p:nvSpPr>
            <p:cNvPr name="TextBox 24" id="24"/>
            <p:cNvSpPr txBox="true"/>
            <p:nvPr/>
          </p:nvSpPr>
          <p:spPr>
            <a:xfrm>
              <a:off x="0" y="-38100"/>
              <a:ext cx="6400800" cy="769620"/>
            </a:xfrm>
            <a:prstGeom prst="rect">
              <a:avLst/>
            </a:prstGeom>
          </p:spPr>
          <p:txBody>
            <a:bodyPr anchor="ctr" rtlCol="false" tIns="0" lIns="0" bIns="0" rIns="0"/>
            <a:lstStyle/>
            <a:p>
              <a:pPr algn="l">
                <a:lnSpc>
                  <a:spcPts val="2879"/>
                </a:lnSpc>
              </a:pPr>
              <a:r>
                <a:rPr lang="en-US" sz="2400" b="true">
                  <a:solidFill>
                    <a:srgbClr val="2B2B2B"/>
                  </a:solidFill>
                  <a:latin typeface="Calibri (MS) Bold"/>
                  <a:ea typeface="Calibri (MS) Bold"/>
                  <a:cs typeface="Calibri (MS) Bold"/>
                  <a:sym typeface="Calibri (MS) Bold"/>
                </a:rPr>
                <a:t>Digital twin environment</a:t>
              </a:r>
            </a:p>
          </p:txBody>
        </p:sp>
      </p:grpSp>
      <p:grpSp>
        <p:nvGrpSpPr>
          <p:cNvPr name="Group 25" id="25"/>
          <p:cNvGrpSpPr/>
          <p:nvPr/>
        </p:nvGrpSpPr>
        <p:grpSpPr>
          <a:xfrm rot="0">
            <a:off x="1261872" y="4183380"/>
            <a:ext cx="4800600" cy="1097280"/>
            <a:chOff x="0" y="0"/>
            <a:chExt cx="6400800" cy="1463040"/>
          </a:xfrm>
        </p:grpSpPr>
        <p:sp>
          <p:nvSpPr>
            <p:cNvPr name="Freeform 26" id="26"/>
            <p:cNvSpPr/>
            <p:nvPr/>
          </p:nvSpPr>
          <p:spPr>
            <a:xfrm flipH="false" flipV="false" rot="0">
              <a:off x="0" y="0"/>
              <a:ext cx="6400800" cy="1463040"/>
            </a:xfrm>
            <a:custGeom>
              <a:avLst/>
              <a:gdLst/>
              <a:ahLst/>
              <a:cxnLst/>
              <a:rect r="r" b="b" t="t" l="l"/>
              <a:pathLst>
                <a:path h="1463040" w="6400800">
                  <a:moveTo>
                    <a:pt x="0" y="0"/>
                  </a:moveTo>
                  <a:lnTo>
                    <a:pt x="6400800" y="0"/>
                  </a:lnTo>
                  <a:lnTo>
                    <a:pt x="6400800" y="1463040"/>
                  </a:lnTo>
                  <a:lnTo>
                    <a:pt x="0" y="1463040"/>
                  </a:lnTo>
                  <a:close/>
                </a:path>
              </a:pathLst>
            </a:custGeom>
            <a:blipFill>
              <a:blip r:embed="rId3">
                <a:alphaModFix amt="0"/>
              </a:blip>
              <a:stretch>
                <a:fillRect l="0" t="-35247" r="0" b="-35247"/>
              </a:stretch>
            </a:blipFill>
          </p:spPr>
        </p:sp>
        <p:sp>
          <p:nvSpPr>
            <p:cNvPr name="TextBox 27" id="27"/>
            <p:cNvSpPr txBox="true"/>
            <p:nvPr/>
          </p:nvSpPr>
          <p:spPr>
            <a:xfrm>
              <a:off x="0" y="-47625"/>
              <a:ext cx="6400800" cy="1510665"/>
            </a:xfrm>
            <a:prstGeom prst="rect">
              <a:avLst/>
            </a:prstGeom>
          </p:spPr>
          <p:txBody>
            <a:bodyPr anchor="ctr" rtlCol="false" tIns="0" lIns="0" bIns="0" rIns="0"/>
            <a:lstStyle/>
            <a:p>
              <a:pPr algn="l">
                <a:lnSpc>
                  <a:spcPts val="2520"/>
                </a:lnSpc>
              </a:pPr>
              <a:r>
                <a:rPr lang="en-US" sz="2100">
                  <a:solidFill>
                    <a:srgbClr val="555555"/>
                  </a:solidFill>
                  <a:latin typeface="Calibri (MS)"/>
                  <a:ea typeface="Calibri (MS)"/>
                  <a:cs typeface="Calibri (MS)"/>
                  <a:sym typeface="Calibri (MS)"/>
                </a:rPr>
                <a:t>Develop and organise the virtual environment for assistive perception.</a:t>
              </a:r>
            </a:p>
          </p:txBody>
        </p:sp>
      </p:grpSp>
      <p:grpSp>
        <p:nvGrpSpPr>
          <p:cNvPr name="Group 28" id="28"/>
          <p:cNvGrpSpPr/>
          <p:nvPr/>
        </p:nvGrpSpPr>
        <p:grpSpPr>
          <a:xfrm rot="0">
            <a:off x="6601587" y="2665095"/>
            <a:ext cx="5436870" cy="2967990"/>
            <a:chOff x="0" y="0"/>
            <a:chExt cx="7249160" cy="3957320"/>
          </a:xfrm>
        </p:grpSpPr>
        <p:sp>
          <p:nvSpPr>
            <p:cNvPr name="Freeform 29" id="29"/>
            <p:cNvSpPr/>
            <p:nvPr/>
          </p:nvSpPr>
          <p:spPr>
            <a:xfrm flipH="false" flipV="false" rot="0">
              <a:off x="0" y="0"/>
              <a:ext cx="7249160" cy="3957320"/>
            </a:xfrm>
            <a:custGeom>
              <a:avLst/>
              <a:gdLst/>
              <a:ahLst/>
              <a:cxnLst/>
              <a:rect r="r" b="b" t="t" l="l"/>
              <a:pathLst>
                <a:path h="3957320" w="7249160">
                  <a:moveTo>
                    <a:pt x="0" y="110490"/>
                  </a:moveTo>
                  <a:cubicBezTo>
                    <a:pt x="0" y="49403"/>
                    <a:pt x="49403" y="0"/>
                    <a:pt x="110490" y="0"/>
                  </a:cubicBezTo>
                  <a:lnTo>
                    <a:pt x="7138670" y="0"/>
                  </a:lnTo>
                  <a:cubicBezTo>
                    <a:pt x="7199630" y="0"/>
                    <a:pt x="7249160" y="49403"/>
                    <a:pt x="7249160" y="110490"/>
                  </a:cubicBezTo>
                  <a:lnTo>
                    <a:pt x="7249160" y="3846830"/>
                  </a:lnTo>
                  <a:cubicBezTo>
                    <a:pt x="7249160" y="3907790"/>
                    <a:pt x="7199757" y="3957320"/>
                    <a:pt x="7138670" y="3957320"/>
                  </a:cubicBezTo>
                  <a:lnTo>
                    <a:pt x="110490" y="3957320"/>
                  </a:lnTo>
                  <a:cubicBezTo>
                    <a:pt x="49530" y="3957320"/>
                    <a:pt x="0" y="3907917"/>
                    <a:pt x="0" y="3846830"/>
                  </a:cubicBezTo>
                  <a:close/>
                </a:path>
              </a:pathLst>
            </a:custGeom>
            <a:solidFill>
              <a:srgbClr val="FFFFFF"/>
            </a:solidFill>
            <a:ln w="19050" cap="sq">
              <a:solidFill>
                <a:srgbClr val="DCDCDC"/>
              </a:solidFill>
              <a:prstDash val="solid"/>
              <a:miter/>
            </a:ln>
          </p:spPr>
        </p:sp>
      </p:grpSp>
      <p:grpSp>
        <p:nvGrpSpPr>
          <p:cNvPr name="Group 30" id="30"/>
          <p:cNvGrpSpPr/>
          <p:nvPr/>
        </p:nvGrpSpPr>
        <p:grpSpPr>
          <a:xfrm rot="0">
            <a:off x="6601587" y="2665095"/>
            <a:ext cx="5436870" cy="94488"/>
            <a:chOff x="0" y="0"/>
            <a:chExt cx="7249160" cy="125984"/>
          </a:xfrm>
        </p:grpSpPr>
        <p:sp>
          <p:nvSpPr>
            <p:cNvPr name="Freeform 31" id="31"/>
            <p:cNvSpPr/>
            <p:nvPr/>
          </p:nvSpPr>
          <p:spPr>
            <a:xfrm flipH="false" flipV="false" rot="0">
              <a:off x="0" y="0"/>
              <a:ext cx="7249160" cy="125984"/>
            </a:xfrm>
            <a:custGeom>
              <a:avLst/>
              <a:gdLst/>
              <a:ahLst/>
              <a:cxnLst/>
              <a:rect r="r" b="b" t="t" l="l"/>
              <a:pathLst>
                <a:path h="125984" w="7249160">
                  <a:moveTo>
                    <a:pt x="0" y="0"/>
                  </a:moveTo>
                  <a:lnTo>
                    <a:pt x="7249160" y="0"/>
                  </a:lnTo>
                  <a:lnTo>
                    <a:pt x="7249160" y="125984"/>
                  </a:lnTo>
                  <a:lnTo>
                    <a:pt x="0" y="125984"/>
                  </a:lnTo>
                  <a:close/>
                </a:path>
              </a:pathLst>
            </a:custGeom>
            <a:solidFill>
              <a:srgbClr val="FF8A80"/>
            </a:solidFill>
            <a:ln w="19050" cap="sq">
              <a:solidFill>
                <a:srgbClr val="333333"/>
              </a:solidFill>
              <a:prstDash val="solid"/>
              <a:miter/>
            </a:ln>
          </p:spPr>
        </p:sp>
      </p:grpSp>
      <p:grpSp>
        <p:nvGrpSpPr>
          <p:cNvPr name="Group 32" id="32"/>
          <p:cNvGrpSpPr/>
          <p:nvPr/>
        </p:nvGrpSpPr>
        <p:grpSpPr>
          <a:xfrm rot="0">
            <a:off x="6912864" y="2976372"/>
            <a:ext cx="4800600" cy="356616"/>
            <a:chOff x="0" y="0"/>
            <a:chExt cx="6400800" cy="475488"/>
          </a:xfrm>
        </p:grpSpPr>
        <p:sp>
          <p:nvSpPr>
            <p:cNvPr name="Freeform 33" id="33"/>
            <p:cNvSpPr/>
            <p:nvPr/>
          </p:nvSpPr>
          <p:spPr>
            <a:xfrm flipH="false" flipV="false" rot="0">
              <a:off x="0" y="0"/>
              <a:ext cx="6400800" cy="475488"/>
            </a:xfrm>
            <a:custGeom>
              <a:avLst/>
              <a:gdLst/>
              <a:ahLst/>
              <a:cxnLst/>
              <a:rect r="r" b="b" t="t" l="l"/>
              <a:pathLst>
                <a:path h="475488" w="6400800">
                  <a:moveTo>
                    <a:pt x="0" y="0"/>
                  </a:moveTo>
                  <a:lnTo>
                    <a:pt x="6400800" y="0"/>
                  </a:lnTo>
                  <a:lnTo>
                    <a:pt x="6400800" y="475488"/>
                  </a:lnTo>
                  <a:lnTo>
                    <a:pt x="0" y="475488"/>
                  </a:lnTo>
                  <a:close/>
                </a:path>
              </a:pathLst>
            </a:custGeom>
            <a:blipFill>
              <a:blip r:embed="rId3">
                <a:alphaModFix amt="0"/>
              </a:blip>
              <a:stretch>
                <a:fillRect l="0" t="-212298" r="0" b="-212298"/>
              </a:stretch>
            </a:blipFill>
          </p:spPr>
        </p:sp>
        <p:sp>
          <p:nvSpPr>
            <p:cNvPr name="TextBox 34" id="34"/>
            <p:cNvSpPr txBox="true"/>
            <p:nvPr/>
          </p:nvSpPr>
          <p:spPr>
            <a:xfrm>
              <a:off x="0" y="-38100"/>
              <a:ext cx="6400800" cy="513588"/>
            </a:xfrm>
            <a:prstGeom prst="rect">
              <a:avLst/>
            </a:prstGeom>
          </p:spPr>
          <p:txBody>
            <a:bodyPr anchor="ctr" rtlCol="false" tIns="0" lIns="0" bIns="0" rIns="0"/>
            <a:lstStyle/>
            <a:p>
              <a:pPr algn="l">
                <a:lnSpc>
                  <a:spcPts val="2160"/>
                </a:lnSpc>
              </a:pPr>
              <a:r>
                <a:rPr lang="en-US" sz="1800">
                  <a:solidFill>
                    <a:srgbClr val="6B6B6B"/>
                  </a:solidFill>
                  <a:latin typeface="Calibri (MS)"/>
                  <a:ea typeface="Calibri (MS)"/>
                  <a:cs typeface="Calibri (MS)"/>
                  <a:sym typeface="Calibri (MS)"/>
                </a:rPr>
                <a:t>PHASE  02</a:t>
              </a:r>
            </a:p>
          </p:txBody>
        </p:sp>
      </p:grpSp>
      <p:grpSp>
        <p:nvGrpSpPr>
          <p:cNvPr name="Group 35" id="35"/>
          <p:cNvGrpSpPr/>
          <p:nvPr/>
        </p:nvGrpSpPr>
        <p:grpSpPr>
          <a:xfrm rot="0">
            <a:off x="6912864" y="3429000"/>
            <a:ext cx="4800600" cy="548640"/>
            <a:chOff x="0" y="0"/>
            <a:chExt cx="6400800" cy="731520"/>
          </a:xfrm>
        </p:grpSpPr>
        <p:sp>
          <p:nvSpPr>
            <p:cNvPr name="Freeform 36" id="36"/>
            <p:cNvSpPr/>
            <p:nvPr/>
          </p:nvSpPr>
          <p:spPr>
            <a:xfrm flipH="false" flipV="false" rot="0">
              <a:off x="0" y="0"/>
              <a:ext cx="6400800" cy="731520"/>
            </a:xfrm>
            <a:custGeom>
              <a:avLst/>
              <a:gdLst/>
              <a:ahLst/>
              <a:cxnLst/>
              <a:rect r="r" b="b" t="t" l="l"/>
              <a:pathLst>
                <a:path h="731520" w="6400800">
                  <a:moveTo>
                    <a:pt x="0" y="0"/>
                  </a:moveTo>
                  <a:lnTo>
                    <a:pt x="6400800" y="0"/>
                  </a:lnTo>
                  <a:lnTo>
                    <a:pt x="6400800" y="731520"/>
                  </a:lnTo>
                  <a:lnTo>
                    <a:pt x="0" y="731520"/>
                  </a:lnTo>
                  <a:close/>
                </a:path>
              </a:pathLst>
            </a:custGeom>
            <a:blipFill>
              <a:blip r:embed="rId3">
                <a:alphaModFix amt="0"/>
              </a:blip>
              <a:stretch>
                <a:fillRect l="0" t="-120494" r="0" b="-120494"/>
              </a:stretch>
            </a:blipFill>
          </p:spPr>
        </p:sp>
        <p:sp>
          <p:nvSpPr>
            <p:cNvPr name="TextBox 37" id="37"/>
            <p:cNvSpPr txBox="true"/>
            <p:nvPr/>
          </p:nvSpPr>
          <p:spPr>
            <a:xfrm>
              <a:off x="0" y="-38100"/>
              <a:ext cx="6400800" cy="769620"/>
            </a:xfrm>
            <a:prstGeom prst="rect">
              <a:avLst/>
            </a:prstGeom>
          </p:spPr>
          <p:txBody>
            <a:bodyPr anchor="ctr" rtlCol="false" tIns="0" lIns="0" bIns="0" rIns="0"/>
            <a:lstStyle/>
            <a:p>
              <a:pPr algn="l">
                <a:lnSpc>
                  <a:spcPts val="2879"/>
                </a:lnSpc>
              </a:pPr>
              <a:r>
                <a:rPr lang="en-US" sz="2400" b="true">
                  <a:solidFill>
                    <a:srgbClr val="2B2B2B"/>
                  </a:solidFill>
                  <a:latin typeface="Calibri (MS) Bold"/>
                  <a:ea typeface="Calibri (MS) Bold"/>
                  <a:cs typeface="Calibri (MS) Bold"/>
                  <a:sym typeface="Calibri (MS) Bold"/>
                </a:rPr>
                <a:t>Environmental perception</a:t>
              </a:r>
            </a:p>
          </p:txBody>
        </p:sp>
      </p:grpSp>
      <p:grpSp>
        <p:nvGrpSpPr>
          <p:cNvPr name="Group 38" id="38"/>
          <p:cNvGrpSpPr/>
          <p:nvPr/>
        </p:nvGrpSpPr>
        <p:grpSpPr>
          <a:xfrm rot="0">
            <a:off x="6912864" y="4183380"/>
            <a:ext cx="4800600" cy="1097280"/>
            <a:chOff x="0" y="0"/>
            <a:chExt cx="6400800" cy="1463040"/>
          </a:xfrm>
        </p:grpSpPr>
        <p:sp>
          <p:nvSpPr>
            <p:cNvPr name="Freeform 39" id="39"/>
            <p:cNvSpPr/>
            <p:nvPr/>
          </p:nvSpPr>
          <p:spPr>
            <a:xfrm flipH="false" flipV="false" rot="0">
              <a:off x="0" y="0"/>
              <a:ext cx="6400800" cy="1463040"/>
            </a:xfrm>
            <a:custGeom>
              <a:avLst/>
              <a:gdLst/>
              <a:ahLst/>
              <a:cxnLst/>
              <a:rect r="r" b="b" t="t" l="l"/>
              <a:pathLst>
                <a:path h="1463040" w="6400800">
                  <a:moveTo>
                    <a:pt x="0" y="0"/>
                  </a:moveTo>
                  <a:lnTo>
                    <a:pt x="6400800" y="0"/>
                  </a:lnTo>
                  <a:lnTo>
                    <a:pt x="6400800" y="1463040"/>
                  </a:lnTo>
                  <a:lnTo>
                    <a:pt x="0" y="1463040"/>
                  </a:lnTo>
                  <a:close/>
                </a:path>
              </a:pathLst>
            </a:custGeom>
            <a:blipFill>
              <a:blip r:embed="rId3">
                <a:alphaModFix amt="0"/>
              </a:blip>
              <a:stretch>
                <a:fillRect l="0" t="-35247" r="0" b="-35247"/>
              </a:stretch>
            </a:blipFill>
          </p:spPr>
        </p:sp>
        <p:sp>
          <p:nvSpPr>
            <p:cNvPr name="TextBox 40" id="40"/>
            <p:cNvSpPr txBox="true"/>
            <p:nvPr/>
          </p:nvSpPr>
          <p:spPr>
            <a:xfrm>
              <a:off x="0" y="-47625"/>
              <a:ext cx="6400800" cy="1510665"/>
            </a:xfrm>
            <a:prstGeom prst="rect">
              <a:avLst/>
            </a:prstGeom>
          </p:spPr>
          <p:txBody>
            <a:bodyPr anchor="ctr" rtlCol="false" tIns="0" lIns="0" bIns="0" rIns="0"/>
            <a:lstStyle/>
            <a:p>
              <a:pPr algn="l">
                <a:lnSpc>
                  <a:spcPts val="2520"/>
                </a:lnSpc>
              </a:pPr>
              <a:r>
                <a:rPr lang="en-US" sz="2100">
                  <a:solidFill>
                    <a:srgbClr val="555555"/>
                  </a:solidFill>
                  <a:latin typeface="Calibri (MS)"/>
                  <a:ea typeface="Calibri (MS)"/>
                  <a:cs typeface="Calibri (MS)"/>
                  <a:sym typeface="Calibri (MS)"/>
                </a:rPr>
                <a:t>Refine ground and obstacle detection, object identification and distance estimation.</a:t>
              </a:r>
            </a:p>
          </p:txBody>
        </p:sp>
      </p:grpSp>
      <p:grpSp>
        <p:nvGrpSpPr>
          <p:cNvPr name="Group 41" id="41"/>
          <p:cNvGrpSpPr/>
          <p:nvPr/>
        </p:nvGrpSpPr>
        <p:grpSpPr>
          <a:xfrm rot="0">
            <a:off x="12252579" y="2665095"/>
            <a:ext cx="5436870" cy="2967990"/>
            <a:chOff x="0" y="0"/>
            <a:chExt cx="7249160" cy="3957320"/>
          </a:xfrm>
        </p:grpSpPr>
        <p:sp>
          <p:nvSpPr>
            <p:cNvPr name="Freeform 42" id="42"/>
            <p:cNvSpPr/>
            <p:nvPr/>
          </p:nvSpPr>
          <p:spPr>
            <a:xfrm flipH="false" flipV="false" rot="0">
              <a:off x="0" y="0"/>
              <a:ext cx="7249160" cy="3957320"/>
            </a:xfrm>
            <a:custGeom>
              <a:avLst/>
              <a:gdLst/>
              <a:ahLst/>
              <a:cxnLst/>
              <a:rect r="r" b="b" t="t" l="l"/>
              <a:pathLst>
                <a:path h="3957320" w="7249160">
                  <a:moveTo>
                    <a:pt x="0" y="110490"/>
                  </a:moveTo>
                  <a:cubicBezTo>
                    <a:pt x="0" y="49403"/>
                    <a:pt x="49403" y="0"/>
                    <a:pt x="110490" y="0"/>
                  </a:cubicBezTo>
                  <a:lnTo>
                    <a:pt x="7138670" y="0"/>
                  </a:lnTo>
                  <a:cubicBezTo>
                    <a:pt x="7199630" y="0"/>
                    <a:pt x="7249160" y="49403"/>
                    <a:pt x="7249160" y="110490"/>
                  </a:cubicBezTo>
                  <a:lnTo>
                    <a:pt x="7249160" y="3846830"/>
                  </a:lnTo>
                  <a:cubicBezTo>
                    <a:pt x="7249160" y="3907790"/>
                    <a:pt x="7199757" y="3957320"/>
                    <a:pt x="7138670" y="3957320"/>
                  </a:cubicBezTo>
                  <a:lnTo>
                    <a:pt x="110490" y="3957320"/>
                  </a:lnTo>
                  <a:cubicBezTo>
                    <a:pt x="49530" y="3957320"/>
                    <a:pt x="0" y="3907917"/>
                    <a:pt x="0" y="3846830"/>
                  </a:cubicBezTo>
                  <a:close/>
                </a:path>
              </a:pathLst>
            </a:custGeom>
            <a:solidFill>
              <a:srgbClr val="FFFFFF"/>
            </a:solidFill>
            <a:ln w="19050" cap="sq">
              <a:solidFill>
                <a:srgbClr val="DCDCDC"/>
              </a:solidFill>
              <a:prstDash val="solid"/>
              <a:miter/>
            </a:ln>
          </p:spPr>
        </p:sp>
      </p:grpSp>
      <p:grpSp>
        <p:nvGrpSpPr>
          <p:cNvPr name="Group 43" id="43"/>
          <p:cNvGrpSpPr/>
          <p:nvPr/>
        </p:nvGrpSpPr>
        <p:grpSpPr>
          <a:xfrm rot="0">
            <a:off x="12252579" y="2665095"/>
            <a:ext cx="5436870" cy="94488"/>
            <a:chOff x="0" y="0"/>
            <a:chExt cx="7249160" cy="125984"/>
          </a:xfrm>
        </p:grpSpPr>
        <p:sp>
          <p:nvSpPr>
            <p:cNvPr name="Freeform 44" id="44"/>
            <p:cNvSpPr/>
            <p:nvPr/>
          </p:nvSpPr>
          <p:spPr>
            <a:xfrm flipH="false" flipV="false" rot="0">
              <a:off x="0" y="0"/>
              <a:ext cx="7249160" cy="125984"/>
            </a:xfrm>
            <a:custGeom>
              <a:avLst/>
              <a:gdLst/>
              <a:ahLst/>
              <a:cxnLst/>
              <a:rect r="r" b="b" t="t" l="l"/>
              <a:pathLst>
                <a:path h="125984" w="7249160">
                  <a:moveTo>
                    <a:pt x="0" y="0"/>
                  </a:moveTo>
                  <a:lnTo>
                    <a:pt x="7249160" y="0"/>
                  </a:lnTo>
                  <a:lnTo>
                    <a:pt x="7249160" y="125984"/>
                  </a:lnTo>
                  <a:lnTo>
                    <a:pt x="0" y="125984"/>
                  </a:lnTo>
                  <a:close/>
                </a:path>
              </a:pathLst>
            </a:custGeom>
            <a:solidFill>
              <a:srgbClr val="FF8A80"/>
            </a:solidFill>
            <a:ln w="19050" cap="sq">
              <a:solidFill>
                <a:srgbClr val="333333"/>
              </a:solidFill>
              <a:prstDash val="solid"/>
              <a:miter/>
            </a:ln>
          </p:spPr>
        </p:sp>
      </p:grpSp>
      <p:grpSp>
        <p:nvGrpSpPr>
          <p:cNvPr name="Group 45" id="45"/>
          <p:cNvGrpSpPr/>
          <p:nvPr/>
        </p:nvGrpSpPr>
        <p:grpSpPr>
          <a:xfrm rot="0">
            <a:off x="12563856" y="2976372"/>
            <a:ext cx="4800600" cy="356616"/>
            <a:chOff x="0" y="0"/>
            <a:chExt cx="6400800" cy="475488"/>
          </a:xfrm>
        </p:grpSpPr>
        <p:sp>
          <p:nvSpPr>
            <p:cNvPr name="Freeform 46" id="46"/>
            <p:cNvSpPr/>
            <p:nvPr/>
          </p:nvSpPr>
          <p:spPr>
            <a:xfrm flipH="false" flipV="false" rot="0">
              <a:off x="0" y="0"/>
              <a:ext cx="6400800" cy="475488"/>
            </a:xfrm>
            <a:custGeom>
              <a:avLst/>
              <a:gdLst/>
              <a:ahLst/>
              <a:cxnLst/>
              <a:rect r="r" b="b" t="t" l="l"/>
              <a:pathLst>
                <a:path h="475488" w="6400800">
                  <a:moveTo>
                    <a:pt x="0" y="0"/>
                  </a:moveTo>
                  <a:lnTo>
                    <a:pt x="6400800" y="0"/>
                  </a:lnTo>
                  <a:lnTo>
                    <a:pt x="6400800" y="475488"/>
                  </a:lnTo>
                  <a:lnTo>
                    <a:pt x="0" y="475488"/>
                  </a:lnTo>
                  <a:close/>
                </a:path>
              </a:pathLst>
            </a:custGeom>
            <a:blipFill>
              <a:blip r:embed="rId3">
                <a:alphaModFix amt="0"/>
              </a:blip>
              <a:stretch>
                <a:fillRect l="0" t="-212298" r="0" b="-212298"/>
              </a:stretch>
            </a:blipFill>
          </p:spPr>
        </p:sp>
        <p:sp>
          <p:nvSpPr>
            <p:cNvPr name="TextBox 47" id="47"/>
            <p:cNvSpPr txBox="true"/>
            <p:nvPr/>
          </p:nvSpPr>
          <p:spPr>
            <a:xfrm>
              <a:off x="0" y="-38100"/>
              <a:ext cx="6400800" cy="513588"/>
            </a:xfrm>
            <a:prstGeom prst="rect">
              <a:avLst/>
            </a:prstGeom>
          </p:spPr>
          <p:txBody>
            <a:bodyPr anchor="ctr" rtlCol="false" tIns="0" lIns="0" bIns="0" rIns="0"/>
            <a:lstStyle/>
            <a:p>
              <a:pPr algn="l">
                <a:lnSpc>
                  <a:spcPts val="2160"/>
                </a:lnSpc>
              </a:pPr>
              <a:r>
                <a:rPr lang="en-US" sz="1800">
                  <a:solidFill>
                    <a:srgbClr val="6B6B6B"/>
                  </a:solidFill>
                  <a:latin typeface="Calibri (MS)"/>
                  <a:ea typeface="Calibri (MS)"/>
                  <a:cs typeface="Calibri (MS)"/>
                  <a:sym typeface="Calibri (MS)"/>
                </a:rPr>
                <a:t>PHASE  03</a:t>
              </a:r>
            </a:p>
          </p:txBody>
        </p:sp>
      </p:grpSp>
      <p:grpSp>
        <p:nvGrpSpPr>
          <p:cNvPr name="Group 48" id="48"/>
          <p:cNvGrpSpPr/>
          <p:nvPr/>
        </p:nvGrpSpPr>
        <p:grpSpPr>
          <a:xfrm rot="0">
            <a:off x="12563856" y="3429000"/>
            <a:ext cx="4800600" cy="548640"/>
            <a:chOff x="0" y="0"/>
            <a:chExt cx="6400800" cy="731520"/>
          </a:xfrm>
        </p:grpSpPr>
        <p:sp>
          <p:nvSpPr>
            <p:cNvPr name="Freeform 49" id="49"/>
            <p:cNvSpPr/>
            <p:nvPr/>
          </p:nvSpPr>
          <p:spPr>
            <a:xfrm flipH="false" flipV="false" rot="0">
              <a:off x="0" y="0"/>
              <a:ext cx="6400800" cy="731520"/>
            </a:xfrm>
            <a:custGeom>
              <a:avLst/>
              <a:gdLst/>
              <a:ahLst/>
              <a:cxnLst/>
              <a:rect r="r" b="b" t="t" l="l"/>
              <a:pathLst>
                <a:path h="731520" w="6400800">
                  <a:moveTo>
                    <a:pt x="0" y="0"/>
                  </a:moveTo>
                  <a:lnTo>
                    <a:pt x="6400800" y="0"/>
                  </a:lnTo>
                  <a:lnTo>
                    <a:pt x="6400800" y="731520"/>
                  </a:lnTo>
                  <a:lnTo>
                    <a:pt x="0" y="731520"/>
                  </a:lnTo>
                  <a:close/>
                </a:path>
              </a:pathLst>
            </a:custGeom>
            <a:blipFill>
              <a:blip r:embed="rId3">
                <a:alphaModFix amt="0"/>
              </a:blip>
              <a:stretch>
                <a:fillRect l="0" t="-120494" r="0" b="-120494"/>
              </a:stretch>
            </a:blipFill>
          </p:spPr>
        </p:sp>
        <p:sp>
          <p:nvSpPr>
            <p:cNvPr name="TextBox 50" id="50"/>
            <p:cNvSpPr txBox="true"/>
            <p:nvPr/>
          </p:nvSpPr>
          <p:spPr>
            <a:xfrm>
              <a:off x="0" y="-38100"/>
              <a:ext cx="6400800" cy="769620"/>
            </a:xfrm>
            <a:prstGeom prst="rect">
              <a:avLst/>
            </a:prstGeom>
          </p:spPr>
          <p:txBody>
            <a:bodyPr anchor="ctr" rtlCol="false" tIns="0" lIns="0" bIns="0" rIns="0"/>
            <a:lstStyle/>
            <a:p>
              <a:pPr algn="l">
                <a:lnSpc>
                  <a:spcPts val="2879"/>
                </a:lnSpc>
              </a:pPr>
              <a:r>
                <a:rPr lang="en-US" sz="2400" b="true">
                  <a:solidFill>
                    <a:srgbClr val="2B2B2B"/>
                  </a:solidFill>
                  <a:latin typeface="Calibri (MS) Bold"/>
                  <a:ea typeface="Calibri (MS) Bold"/>
                  <a:cs typeface="Calibri (MS) Bold"/>
                  <a:sym typeface="Calibri (MS) Bold"/>
                </a:rPr>
                <a:t>Contextual understanding</a:t>
              </a:r>
            </a:p>
          </p:txBody>
        </p:sp>
      </p:grpSp>
      <p:grpSp>
        <p:nvGrpSpPr>
          <p:cNvPr name="Group 51" id="51"/>
          <p:cNvGrpSpPr/>
          <p:nvPr/>
        </p:nvGrpSpPr>
        <p:grpSpPr>
          <a:xfrm rot="0">
            <a:off x="12563856" y="4183380"/>
            <a:ext cx="4800600" cy="1097280"/>
            <a:chOff x="0" y="0"/>
            <a:chExt cx="6400800" cy="1463040"/>
          </a:xfrm>
        </p:grpSpPr>
        <p:sp>
          <p:nvSpPr>
            <p:cNvPr name="Freeform 52" id="52"/>
            <p:cNvSpPr/>
            <p:nvPr/>
          </p:nvSpPr>
          <p:spPr>
            <a:xfrm flipH="false" flipV="false" rot="0">
              <a:off x="0" y="0"/>
              <a:ext cx="6400800" cy="1463040"/>
            </a:xfrm>
            <a:custGeom>
              <a:avLst/>
              <a:gdLst/>
              <a:ahLst/>
              <a:cxnLst/>
              <a:rect r="r" b="b" t="t" l="l"/>
              <a:pathLst>
                <a:path h="1463040" w="6400800">
                  <a:moveTo>
                    <a:pt x="0" y="0"/>
                  </a:moveTo>
                  <a:lnTo>
                    <a:pt x="6400800" y="0"/>
                  </a:lnTo>
                  <a:lnTo>
                    <a:pt x="6400800" y="1463040"/>
                  </a:lnTo>
                  <a:lnTo>
                    <a:pt x="0" y="1463040"/>
                  </a:lnTo>
                  <a:close/>
                </a:path>
              </a:pathLst>
            </a:custGeom>
            <a:blipFill>
              <a:blip r:embed="rId3">
                <a:alphaModFix amt="0"/>
              </a:blip>
              <a:stretch>
                <a:fillRect l="0" t="-35247" r="0" b="-35247"/>
              </a:stretch>
            </a:blipFill>
          </p:spPr>
        </p:sp>
        <p:sp>
          <p:nvSpPr>
            <p:cNvPr name="TextBox 53" id="53"/>
            <p:cNvSpPr txBox="true"/>
            <p:nvPr/>
          </p:nvSpPr>
          <p:spPr>
            <a:xfrm>
              <a:off x="0" y="-47625"/>
              <a:ext cx="6400800" cy="1510665"/>
            </a:xfrm>
            <a:prstGeom prst="rect">
              <a:avLst/>
            </a:prstGeom>
          </p:spPr>
          <p:txBody>
            <a:bodyPr anchor="ctr" rtlCol="false" tIns="0" lIns="0" bIns="0" rIns="0"/>
            <a:lstStyle/>
            <a:p>
              <a:pPr algn="l">
                <a:lnSpc>
                  <a:spcPts val="2520"/>
                </a:lnSpc>
              </a:pPr>
              <a:r>
                <a:rPr lang="en-US" sz="2100">
                  <a:solidFill>
                    <a:srgbClr val="555555"/>
                  </a:solidFill>
                  <a:latin typeface="Calibri (MS)"/>
                  <a:ea typeface="Calibri (MS)"/>
                  <a:cs typeface="Calibri (MS)"/>
                  <a:sym typeface="Calibri (MS)"/>
                </a:rPr>
                <a:t>Interpret multiple environmental elements together, in context.</a:t>
              </a:r>
            </a:p>
          </p:txBody>
        </p:sp>
      </p:grpSp>
      <p:grpSp>
        <p:nvGrpSpPr>
          <p:cNvPr name="Group 54" id="54"/>
          <p:cNvGrpSpPr/>
          <p:nvPr/>
        </p:nvGrpSpPr>
        <p:grpSpPr>
          <a:xfrm rot="0">
            <a:off x="950595" y="5888355"/>
            <a:ext cx="5436870" cy="2967990"/>
            <a:chOff x="0" y="0"/>
            <a:chExt cx="7249160" cy="3957320"/>
          </a:xfrm>
        </p:grpSpPr>
        <p:sp>
          <p:nvSpPr>
            <p:cNvPr name="Freeform 55" id="55"/>
            <p:cNvSpPr/>
            <p:nvPr/>
          </p:nvSpPr>
          <p:spPr>
            <a:xfrm flipH="false" flipV="false" rot="0">
              <a:off x="0" y="0"/>
              <a:ext cx="7249160" cy="3957320"/>
            </a:xfrm>
            <a:custGeom>
              <a:avLst/>
              <a:gdLst/>
              <a:ahLst/>
              <a:cxnLst/>
              <a:rect r="r" b="b" t="t" l="l"/>
              <a:pathLst>
                <a:path h="3957320" w="7249160">
                  <a:moveTo>
                    <a:pt x="0" y="110490"/>
                  </a:moveTo>
                  <a:cubicBezTo>
                    <a:pt x="0" y="49403"/>
                    <a:pt x="49403" y="0"/>
                    <a:pt x="110490" y="0"/>
                  </a:cubicBezTo>
                  <a:lnTo>
                    <a:pt x="7138670" y="0"/>
                  </a:lnTo>
                  <a:cubicBezTo>
                    <a:pt x="7199630" y="0"/>
                    <a:pt x="7249160" y="49403"/>
                    <a:pt x="7249160" y="110490"/>
                  </a:cubicBezTo>
                  <a:lnTo>
                    <a:pt x="7249160" y="3846830"/>
                  </a:lnTo>
                  <a:cubicBezTo>
                    <a:pt x="7249160" y="3907790"/>
                    <a:pt x="7199757" y="3957320"/>
                    <a:pt x="7138670" y="3957320"/>
                  </a:cubicBezTo>
                  <a:lnTo>
                    <a:pt x="110490" y="3957320"/>
                  </a:lnTo>
                  <a:cubicBezTo>
                    <a:pt x="49530" y="3957320"/>
                    <a:pt x="0" y="3907917"/>
                    <a:pt x="0" y="3846830"/>
                  </a:cubicBezTo>
                  <a:close/>
                </a:path>
              </a:pathLst>
            </a:custGeom>
            <a:solidFill>
              <a:srgbClr val="FFFFFF"/>
            </a:solidFill>
            <a:ln w="19050" cap="sq">
              <a:solidFill>
                <a:srgbClr val="DCDCDC"/>
              </a:solidFill>
              <a:prstDash val="solid"/>
              <a:miter/>
            </a:ln>
          </p:spPr>
        </p:sp>
      </p:grpSp>
      <p:grpSp>
        <p:nvGrpSpPr>
          <p:cNvPr name="Group 56" id="56"/>
          <p:cNvGrpSpPr/>
          <p:nvPr/>
        </p:nvGrpSpPr>
        <p:grpSpPr>
          <a:xfrm rot="0">
            <a:off x="950595" y="5888355"/>
            <a:ext cx="5436870" cy="94488"/>
            <a:chOff x="0" y="0"/>
            <a:chExt cx="7249160" cy="125984"/>
          </a:xfrm>
        </p:grpSpPr>
        <p:sp>
          <p:nvSpPr>
            <p:cNvPr name="Freeform 57" id="57"/>
            <p:cNvSpPr/>
            <p:nvPr/>
          </p:nvSpPr>
          <p:spPr>
            <a:xfrm flipH="false" flipV="false" rot="0">
              <a:off x="0" y="0"/>
              <a:ext cx="7249160" cy="125984"/>
            </a:xfrm>
            <a:custGeom>
              <a:avLst/>
              <a:gdLst/>
              <a:ahLst/>
              <a:cxnLst/>
              <a:rect r="r" b="b" t="t" l="l"/>
              <a:pathLst>
                <a:path h="125984" w="7249160">
                  <a:moveTo>
                    <a:pt x="0" y="0"/>
                  </a:moveTo>
                  <a:lnTo>
                    <a:pt x="7249160" y="0"/>
                  </a:lnTo>
                  <a:lnTo>
                    <a:pt x="7249160" y="125984"/>
                  </a:lnTo>
                  <a:lnTo>
                    <a:pt x="0" y="125984"/>
                  </a:lnTo>
                  <a:close/>
                </a:path>
              </a:pathLst>
            </a:custGeom>
            <a:solidFill>
              <a:srgbClr val="FF8A80"/>
            </a:solidFill>
            <a:ln w="19050" cap="sq">
              <a:solidFill>
                <a:srgbClr val="333333"/>
              </a:solidFill>
              <a:prstDash val="solid"/>
              <a:miter/>
            </a:ln>
          </p:spPr>
        </p:sp>
      </p:grpSp>
      <p:grpSp>
        <p:nvGrpSpPr>
          <p:cNvPr name="Group 58" id="58"/>
          <p:cNvGrpSpPr/>
          <p:nvPr/>
        </p:nvGrpSpPr>
        <p:grpSpPr>
          <a:xfrm rot="0">
            <a:off x="1261872" y="6199632"/>
            <a:ext cx="4800600" cy="356616"/>
            <a:chOff x="0" y="0"/>
            <a:chExt cx="6400800" cy="475488"/>
          </a:xfrm>
        </p:grpSpPr>
        <p:sp>
          <p:nvSpPr>
            <p:cNvPr name="Freeform 59" id="59"/>
            <p:cNvSpPr/>
            <p:nvPr/>
          </p:nvSpPr>
          <p:spPr>
            <a:xfrm flipH="false" flipV="false" rot="0">
              <a:off x="0" y="0"/>
              <a:ext cx="6400800" cy="475488"/>
            </a:xfrm>
            <a:custGeom>
              <a:avLst/>
              <a:gdLst/>
              <a:ahLst/>
              <a:cxnLst/>
              <a:rect r="r" b="b" t="t" l="l"/>
              <a:pathLst>
                <a:path h="475488" w="6400800">
                  <a:moveTo>
                    <a:pt x="0" y="0"/>
                  </a:moveTo>
                  <a:lnTo>
                    <a:pt x="6400800" y="0"/>
                  </a:lnTo>
                  <a:lnTo>
                    <a:pt x="6400800" y="475488"/>
                  </a:lnTo>
                  <a:lnTo>
                    <a:pt x="0" y="475488"/>
                  </a:lnTo>
                  <a:close/>
                </a:path>
              </a:pathLst>
            </a:custGeom>
            <a:blipFill>
              <a:blip r:embed="rId3">
                <a:alphaModFix amt="0"/>
              </a:blip>
              <a:stretch>
                <a:fillRect l="0" t="-212298" r="0" b="-212298"/>
              </a:stretch>
            </a:blipFill>
          </p:spPr>
        </p:sp>
        <p:sp>
          <p:nvSpPr>
            <p:cNvPr name="TextBox 60" id="60"/>
            <p:cNvSpPr txBox="true"/>
            <p:nvPr/>
          </p:nvSpPr>
          <p:spPr>
            <a:xfrm>
              <a:off x="0" y="-38100"/>
              <a:ext cx="6400800" cy="513588"/>
            </a:xfrm>
            <a:prstGeom prst="rect">
              <a:avLst/>
            </a:prstGeom>
          </p:spPr>
          <p:txBody>
            <a:bodyPr anchor="ctr" rtlCol="false" tIns="0" lIns="0" bIns="0" rIns="0"/>
            <a:lstStyle/>
            <a:p>
              <a:pPr algn="l">
                <a:lnSpc>
                  <a:spcPts val="2160"/>
                </a:lnSpc>
              </a:pPr>
              <a:r>
                <a:rPr lang="en-US" sz="1800">
                  <a:solidFill>
                    <a:srgbClr val="6B6B6B"/>
                  </a:solidFill>
                  <a:latin typeface="Calibri (MS)"/>
                  <a:ea typeface="Calibri (MS)"/>
                  <a:cs typeface="Calibri (MS)"/>
                  <a:sym typeface="Calibri (MS)"/>
                </a:rPr>
                <a:t>PHASE  04</a:t>
              </a:r>
            </a:p>
          </p:txBody>
        </p:sp>
      </p:grpSp>
      <p:grpSp>
        <p:nvGrpSpPr>
          <p:cNvPr name="Group 61" id="61"/>
          <p:cNvGrpSpPr/>
          <p:nvPr/>
        </p:nvGrpSpPr>
        <p:grpSpPr>
          <a:xfrm rot="0">
            <a:off x="1261872" y="6652260"/>
            <a:ext cx="4800600" cy="548640"/>
            <a:chOff x="0" y="0"/>
            <a:chExt cx="6400800" cy="731520"/>
          </a:xfrm>
        </p:grpSpPr>
        <p:sp>
          <p:nvSpPr>
            <p:cNvPr name="Freeform 62" id="62"/>
            <p:cNvSpPr/>
            <p:nvPr/>
          </p:nvSpPr>
          <p:spPr>
            <a:xfrm flipH="false" flipV="false" rot="0">
              <a:off x="0" y="0"/>
              <a:ext cx="6400800" cy="731520"/>
            </a:xfrm>
            <a:custGeom>
              <a:avLst/>
              <a:gdLst/>
              <a:ahLst/>
              <a:cxnLst/>
              <a:rect r="r" b="b" t="t" l="l"/>
              <a:pathLst>
                <a:path h="731520" w="6400800">
                  <a:moveTo>
                    <a:pt x="0" y="0"/>
                  </a:moveTo>
                  <a:lnTo>
                    <a:pt x="6400800" y="0"/>
                  </a:lnTo>
                  <a:lnTo>
                    <a:pt x="6400800" y="731520"/>
                  </a:lnTo>
                  <a:lnTo>
                    <a:pt x="0" y="731520"/>
                  </a:lnTo>
                  <a:close/>
                </a:path>
              </a:pathLst>
            </a:custGeom>
            <a:blipFill>
              <a:blip r:embed="rId3">
                <a:alphaModFix amt="0"/>
              </a:blip>
              <a:stretch>
                <a:fillRect l="0" t="-120494" r="0" b="-120494"/>
              </a:stretch>
            </a:blipFill>
          </p:spPr>
        </p:sp>
        <p:sp>
          <p:nvSpPr>
            <p:cNvPr name="TextBox 63" id="63"/>
            <p:cNvSpPr txBox="true"/>
            <p:nvPr/>
          </p:nvSpPr>
          <p:spPr>
            <a:xfrm>
              <a:off x="0" y="-38100"/>
              <a:ext cx="6400800" cy="769620"/>
            </a:xfrm>
            <a:prstGeom prst="rect">
              <a:avLst/>
            </a:prstGeom>
          </p:spPr>
          <p:txBody>
            <a:bodyPr anchor="ctr" rtlCol="false" tIns="0" lIns="0" bIns="0" rIns="0"/>
            <a:lstStyle/>
            <a:p>
              <a:pPr algn="l">
                <a:lnSpc>
                  <a:spcPts val="2879"/>
                </a:lnSpc>
              </a:pPr>
              <a:r>
                <a:rPr lang="en-US" sz="2400" b="true">
                  <a:solidFill>
                    <a:srgbClr val="2B2B2B"/>
                  </a:solidFill>
                  <a:latin typeface="Calibri (MS) Bold"/>
                  <a:ea typeface="Calibri (MS) Bold"/>
                  <a:cs typeface="Calibri (MS) Bold"/>
                  <a:sym typeface="Calibri (MS) Bold"/>
                </a:rPr>
                <a:t>Audio guidance</a:t>
              </a:r>
            </a:p>
          </p:txBody>
        </p:sp>
      </p:grpSp>
      <p:grpSp>
        <p:nvGrpSpPr>
          <p:cNvPr name="Group 64" id="64"/>
          <p:cNvGrpSpPr/>
          <p:nvPr/>
        </p:nvGrpSpPr>
        <p:grpSpPr>
          <a:xfrm rot="0">
            <a:off x="1261872" y="7406640"/>
            <a:ext cx="4800600" cy="1097280"/>
            <a:chOff x="0" y="0"/>
            <a:chExt cx="6400800" cy="1463040"/>
          </a:xfrm>
        </p:grpSpPr>
        <p:sp>
          <p:nvSpPr>
            <p:cNvPr name="Freeform 65" id="65"/>
            <p:cNvSpPr/>
            <p:nvPr/>
          </p:nvSpPr>
          <p:spPr>
            <a:xfrm flipH="false" flipV="false" rot="0">
              <a:off x="0" y="0"/>
              <a:ext cx="6400800" cy="1463040"/>
            </a:xfrm>
            <a:custGeom>
              <a:avLst/>
              <a:gdLst/>
              <a:ahLst/>
              <a:cxnLst/>
              <a:rect r="r" b="b" t="t" l="l"/>
              <a:pathLst>
                <a:path h="1463040" w="6400800">
                  <a:moveTo>
                    <a:pt x="0" y="0"/>
                  </a:moveTo>
                  <a:lnTo>
                    <a:pt x="6400800" y="0"/>
                  </a:lnTo>
                  <a:lnTo>
                    <a:pt x="6400800" y="1463040"/>
                  </a:lnTo>
                  <a:lnTo>
                    <a:pt x="0" y="1463040"/>
                  </a:lnTo>
                  <a:close/>
                </a:path>
              </a:pathLst>
            </a:custGeom>
            <a:blipFill>
              <a:blip r:embed="rId3">
                <a:alphaModFix amt="0"/>
              </a:blip>
              <a:stretch>
                <a:fillRect l="0" t="-35247" r="0" b="-35247"/>
              </a:stretch>
            </a:blipFill>
          </p:spPr>
        </p:sp>
        <p:sp>
          <p:nvSpPr>
            <p:cNvPr name="TextBox 66" id="66"/>
            <p:cNvSpPr txBox="true"/>
            <p:nvPr/>
          </p:nvSpPr>
          <p:spPr>
            <a:xfrm>
              <a:off x="0" y="-47625"/>
              <a:ext cx="6400800" cy="1510665"/>
            </a:xfrm>
            <a:prstGeom prst="rect">
              <a:avLst/>
            </a:prstGeom>
          </p:spPr>
          <p:txBody>
            <a:bodyPr anchor="ctr" rtlCol="false" tIns="0" lIns="0" bIns="0" rIns="0"/>
            <a:lstStyle/>
            <a:p>
              <a:pPr algn="l">
                <a:lnSpc>
                  <a:spcPts val="2520"/>
                </a:lnSpc>
              </a:pPr>
              <a:r>
                <a:rPr lang="en-US" sz="2100">
                  <a:solidFill>
                    <a:srgbClr val="555555"/>
                  </a:solidFill>
                  <a:latin typeface="Calibri (MS)"/>
                  <a:ea typeface="Calibri (MS)"/>
                  <a:cs typeface="Calibri (MS)"/>
                  <a:sym typeface="Calibri (MS)"/>
                </a:rPr>
                <a:t>Develop an audio feedback approach for perception information.</a:t>
              </a:r>
            </a:p>
          </p:txBody>
        </p:sp>
      </p:grpSp>
      <p:grpSp>
        <p:nvGrpSpPr>
          <p:cNvPr name="Group 67" id="67"/>
          <p:cNvGrpSpPr/>
          <p:nvPr/>
        </p:nvGrpSpPr>
        <p:grpSpPr>
          <a:xfrm rot="0">
            <a:off x="6601587" y="5888355"/>
            <a:ext cx="5436870" cy="2967990"/>
            <a:chOff x="0" y="0"/>
            <a:chExt cx="7249160" cy="3957320"/>
          </a:xfrm>
        </p:grpSpPr>
        <p:sp>
          <p:nvSpPr>
            <p:cNvPr name="Freeform 68" id="68"/>
            <p:cNvSpPr/>
            <p:nvPr/>
          </p:nvSpPr>
          <p:spPr>
            <a:xfrm flipH="false" flipV="false" rot="0">
              <a:off x="0" y="0"/>
              <a:ext cx="7249160" cy="3957320"/>
            </a:xfrm>
            <a:custGeom>
              <a:avLst/>
              <a:gdLst/>
              <a:ahLst/>
              <a:cxnLst/>
              <a:rect r="r" b="b" t="t" l="l"/>
              <a:pathLst>
                <a:path h="3957320" w="7249160">
                  <a:moveTo>
                    <a:pt x="0" y="110490"/>
                  </a:moveTo>
                  <a:cubicBezTo>
                    <a:pt x="0" y="49403"/>
                    <a:pt x="49403" y="0"/>
                    <a:pt x="110490" y="0"/>
                  </a:cubicBezTo>
                  <a:lnTo>
                    <a:pt x="7138670" y="0"/>
                  </a:lnTo>
                  <a:cubicBezTo>
                    <a:pt x="7199630" y="0"/>
                    <a:pt x="7249160" y="49403"/>
                    <a:pt x="7249160" y="110490"/>
                  </a:cubicBezTo>
                  <a:lnTo>
                    <a:pt x="7249160" y="3846830"/>
                  </a:lnTo>
                  <a:cubicBezTo>
                    <a:pt x="7249160" y="3907790"/>
                    <a:pt x="7199757" y="3957320"/>
                    <a:pt x="7138670" y="3957320"/>
                  </a:cubicBezTo>
                  <a:lnTo>
                    <a:pt x="110490" y="3957320"/>
                  </a:lnTo>
                  <a:cubicBezTo>
                    <a:pt x="49530" y="3957320"/>
                    <a:pt x="0" y="3907917"/>
                    <a:pt x="0" y="3846830"/>
                  </a:cubicBezTo>
                  <a:close/>
                </a:path>
              </a:pathLst>
            </a:custGeom>
            <a:solidFill>
              <a:srgbClr val="FFFFFF"/>
            </a:solidFill>
            <a:ln w="19050" cap="sq">
              <a:solidFill>
                <a:srgbClr val="DCDCDC"/>
              </a:solidFill>
              <a:prstDash val="solid"/>
              <a:miter/>
            </a:ln>
          </p:spPr>
        </p:sp>
      </p:grpSp>
      <p:grpSp>
        <p:nvGrpSpPr>
          <p:cNvPr name="Group 69" id="69"/>
          <p:cNvGrpSpPr/>
          <p:nvPr/>
        </p:nvGrpSpPr>
        <p:grpSpPr>
          <a:xfrm rot="0">
            <a:off x="6601587" y="5888355"/>
            <a:ext cx="5436870" cy="94488"/>
            <a:chOff x="0" y="0"/>
            <a:chExt cx="7249160" cy="125984"/>
          </a:xfrm>
        </p:grpSpPr>
        <p:sp>
          <p:nvSpPr>
            <p:cNvPr name="Freeform 70" id="70"/>
            <p:cNvSpPr/>
            <p:nvPr/>
          </p:nvSpPr>
          <p:spPr>
            <a:xfrm flipH="false" flipV="false" rot="0">
              <a:off x="0" y="0"/>
              <a:ext cx="7249160" cy="125984"/>
            </a:xfrm>
            <a:custGeom>
              <a:avLst/>
              <a:gdLst/>
              <a:ahLst/>
              <a:cxnLst/>
              <a:rect r="r" b="b" t="t" l="l"/>
              <a:pathLst>
                <a:path h="125984" w="7249160">
                  <a:moveTo>
                    <a:pt x="0" y="0"/>
                  </a:moveTo>
                  <a:lnTo>
                    <a:pt x="7249160" y="0"/>
                  </a:lnTo>
                  <a:lnTo>
                    <a:pt x="7249160" y="125984"/>
                  </a:lnTo>
                  <a:lnTo>
                    <a:pt x="0" y="125984"/>
                  </a:lnTo>
                  <a:close/>
                </a:path>
              </a:pathLst>
            </a:custGeom>
            <a:solidFill>
              <a:srgbClr val="FF8A80"/>
            </a:solidFill>
            <a:ln w="19050" cap="sq">
              <a:solidFill>
                <a:srgbClr val="333333"/>
              </a:solidFill>
              <a:prstDash val="solid"/>
              <a:miter/>
            </a:ln>
          </p:spPr>
        </p:sp>
      </p:grpSp>
      <p:grpSp>
        <p:nvGrpSpPr>
          <p:cNvPr name="Group 71" id="71"/>
          <p:cNvGrpSpPr/>
          <p:nvPr/>
        </p:nvGrpSpPr>
        <p:grpSpPr>
          <a:xfrm rot="0">
            <a:off x="6912864" y="6199632"/>
            <a:ext cx="4800600" cy="356616"/>
            <a:chOff x="0" y="0"/>
            <a:chExt cx="6400800" cy="475488"/>
          </a:xfrm>
        </p:grpSpPr>
        <p:sp>
          <p:nvSpPr>
            <p:cNvPr name="Freeform 72" id="72"/>
            <p:cNvSpPr/>
            <p:nvPr/>
          </p:nvSpPr>
          <p:spPr>
            <a:xfrm flipH="false" flipV="false" rot="0">
              <a:off x="0" y="0"/>
              <a:ext cx="6400800" cy="475488"/>
            </a:xfrm>
            <a:custGeom>
              <a:avLst/>
              <a:gdLst/>
              <a:ahLst/>
              <a:cxnLst/>
              <a:rect r="r" b="b" t="t" l="l"/>
              <a:pathLst>
                <a:path h="475488" w="6400800">
                  <a:moveTo>
                    <a:pt x="0" y="0"/>
                  </a:moveTo>
                  <a:lnTo>
                    <a:pt x="6400800" y="0"/>
                  </a:lnTo>
                  <a:lnTo>
                    <a:pt x="6400800" y="475488"/>
                  </a:lnTo>
                  <a:lnTo>
                    <a:pt x="0" y="475488"/>
                  </a:lnTo>
                  <a:close/>
                </a:path>
              </a:pathLst>
            </a:custGeom>
            <a:blipFill>
              <a:blip r:embed="rId3">
                <a:alphaModFix amt="0"/>
              </a:blip>
              <a:stretch>
                <a:fillRect l="0" t="-212298" r="0" b="-212298"/>
              </a:stretch>
            </a:blipFill>
          </p:spPr>
        </p:sp>
        <p:sp>
          <p:nvSpPr>
            <p:cNvPr name="TextBox 73" id="73"/>
            <p:cNvSpPr txBox="true"/>
            <p:nvPr/>
          </p:nvSpPr>
          <p:spPr>
            <a:xfrm>
              <a:off x="0" y="-38100"/>
              <a:ext cx="6400800" cy="513588"/>
            </a:xfrm>
            <a:prstGeom prst="rect">
              <a:avLst/>
            </a:prstGeom>
          </p:spPr>
          <p:txBody>
            <a:bodyPr anchor="ctr" rtlCol="false" tIns="0" lIns="0" bIns="0" rIns="0"/>
            <a:lstStyle/>
            <a:p>
              <a:pPr algn="l">
                <a:lnSpc>
                  <a:spcPts val="2160"/>
                </a:lnSpc>
              </a:pPr>
              <a:r>
                <a:rPr lang="en-US" sz="1800">
                  <a:solidFill>
                    <a:srgbClr val="6B6B6B"/>
                  </a:solidFill>
                  <a:latin typeface="Calibri (MS)"/>
                  <a:ea typeface="Calibri (MS)"/>
                  <a:cs typeface="Calibri (MS)"/>
                  <a:sym typeface="Calibri (MS)"/>
                </a:rPr>
                <a:t>PHASE  05</a:t>
              </a:r>
            </a:p>
          </p:txBody>
        </p:sp>
      </p:grpSp>
      <p:grpSp>
        <p:nvGrpSpPr>
          <p:cNvPr name="Group 74" id="74"/>
          <p:cNvGrpSpPr/>
          <p:nvPr/>
        </p:nvGrpSpPr>
        <p:grpSpPr>
          <a:xfrm rot="0">
            <a:off x="6912864" y="6652260"/>
            <a:ext cx="4800600" cy="548640"/>
            <a:chOff x="0" y="0"/>
            <a:chExt cx="6400800" cy="731520"/>
          </a:xfrm>
        </p:grpSpPr>
        <p:sp>
          <p:nvSpPr>
            <p:cNvPr name="Freeform 75" id="75"/>
            <p:cNvSpPr/>
            <p:nvPr/>
          </p:nvSpPr>
          <p:spPr>
            <a:xfrm flipH="false" flipV="false" rot="0">
              <a:off x="0" y="0"/>
              <a:ext cx="6400800" cy="731520"/>
            </a:xfrm>
            <a:custGeom>
              <a:avLst/>
              <a:gdLst/>
              <a:ahLst/>
              <a:cxnLst/>
              <a:rect r="r" b="b" t="t" l="l"/>
              <a:pathLst>
                <a:path h="731520" w="6400800">
                  <a:moveTo>
                    <a:pt x="0" y="0"/>
                  </a:moveTo>
                  <a:lnTo>
                    <a:pt x="6400800" y="0"/>
                  </a:lnTo>
                  <a:lnTo>
                    <a:pt x="6400800" y="731520"/>
                  </a:lnTo>
                  <a:lnTo>
                    <a:pt x="0" y="731520"/>
                  </a:lnTo>
                  <a:close/>
                </a:path>
              </a:pathLst>
            </a:custGeom>
            <a:blipFill>
              <a:blip r:embed="rId3">
                <a:alphaModFix amt="0"/>
              </a:blip>
              <a:stretch>
                <a:fillRect l="0" t="-120494" r="0" b="-120494"/>
              </a:stretch>
            </a:blipFill>
          </p:spPr>
        </p:sp>
        <p:sp>
          <p:nvSpPr>
            <p:cNvPr name="TextBox 76" id="76"/>
            <p:cNvSpPr txBox="true"/>
            <p:nvPr/>
          </p:nvSpPr>
          <p:spPr>
            <a:xfrm>
              <a:off x="0" y="-38100"/>
              <a:ext cx="6400800" cy="769620"/>
            </a:xfrm>
            <a:prstGeom prst="rect">
              <a:avLst/>
            </a:prstGeom>
          </p:spPr>
          <p:txBody>
            <a:bodyPr anchor="ctr" rtlCol="false" tIns="0" lIns="0" bIns="0" rIns="0"/>
            <a:lstStyle/>
            <a:p>
              <a:pPr algn="l">
                <a:lnSpc>
                  <a:spcPts val="2879"/>
                </a:lnSpc>
              </a:pPr>
              <a:r>
                <a:rPr lang="en-US" sz="2400" b="true">
                  <a:solidFill>
                    <a:srgbClr val="2B2B2B"/>
                  </a:solidFill>
                  <a:latin typeface="Calibri (MS) Bold"/>
                  <a:ea typeface="Calibri (MS) Bold"/>
                  <a:cs typeface="Calibri (MS) Bold"/>
                  <a:sym typeface="Calibri (MS) Bold"/>
                </a:rPr>
                <a:t>Hardware integration</a:t>
              </a:r>
            </a:p>
          </p:txBody>
        </p:sp>
      </p:grpSp>
      <p:grpSp>
        <p:nvGrpSpPr>
          <p:cNvPr name="Group 77" id="77"/>
          <p:cNvGrpSpPr/>
          <p:nvPr/>
        </p:nvGrpSpPr>
        <p:grpSpPr>
          <a:xfrm rot="0">
            <a:off x="6912864" y="7406640"/>
            <a:ext cx="4800600" cy="1097280"/>
            <a:chOff x="0" y="0"/>
            <a:chExt cx="6400800" cy="1463040"/>
          </a:xfrm>
        </p:grpSpPr>
        <p:sp>
          <p:nvSpPr>
            <p:cNvPr name="Freeform 78" id="78"/>
            <p:cNvSpPr/>
            <p:nvPr/>
          </p:nvSpPr>
          <p:spPr>
            <a:xfrm flipH="false" flipV="false" rot="0">
              <a:off x="0" y="0"/>
              <a:ext cx="6400800" cy="1463040"/>
            </a:xfrm>
            <a:custGeom>
              <a:avLst/>
              <a:gdLst/>
              <a:ahLst/>
              <a:cxnLst/>
              <a:rect r="r" b="b" t="t" l="l"/>
              <a:pathLst>
                <a:path h="1463040" w="6400800">
                  <a:moveTo>
                    <a:pt x="0" y="0"/>
                  </a:moveTo>
                  <a:lnTo>
                    <a:pt x="6400800" y="0"/>
                  </a:lnTo>
                  <a:lnTo>
                    <a:pt x="6400800" y="1463040"/>
                  </a:lnTo>
                  <a:lnTo>
                    <a:pt x="0" y="1463040"/>
                  </a:lnTo>
                  <a:close/>
                </a:path>
              </a:pathLst>
            </a:custGeom>
            <a:blipFill>
              <a:blip r:embed="rId3">
                <a:alphaModFix amt="0"/>
              </a:blip>
              <a:stretch>
                <a:fillRect l="0" t="-35247" r="0" b="-35247"/>
              </a:stretch>
            </a:blipFill>
          </p:spPr>
        </p:sp>
        <p:sp>
          <p:nvSpPr>
            <p:cNvPr name="TextBox 79" id="79"/>
            <p:cNvSpPr txBox="true"/>
            <p:nvPr/>
          </p:nvSpPr>
          <p:spPr>
            <a:xfrm>
              <a:off x="0" y="-47625"/>
              <a:ext cx="6400800" cy="1510665"/>
            </a:xfrm>
            <a:prstGeom prst="rect">
              <a:avLst/>
            </a:prstGeom>
          </p:spPr>
          <p:txBody>
            <a:bodyPr anchor="ctr" rtlCol="false" tIns="0" lIns="0" bIns="0" rIns="0"/>
            <a:lstStyle/>
            <a:p>
              <a:pPr algn="l">
                <a:lnSpc>
                  <a:spcPts val="2520"/>
                </a:lnSpc>
              </a:pPr>
              <a:r>
                <a:rPr lang="en-US" sz="2100">
                  <a:solidFill>
                    <a:srgbClr val="555555"/>
                  </a:solidFill>
                  <a:latin typeface="Calibri (MS)"/>
                  <a:ea typeface="Calibri (MS)"/>
                  <a:cs typeface="Calibri (MS)"/>
                  <a:sym typeface="Calibri (MS)"/>
                </a:rPr>
                <a:t>Explore integration with suitable physical sensing and computing components.</a:t>
              </a:r>
            </a:p>
          </p:txBody>
        </p:sp>
      </p:grpSp>
      <p:grpSp>
        <p:nvGrpSpPr>
          <p:cNvPr name="Group 80" id="80"/>
          <p:cNvGrpSpPr/>
          <p:nvPr/>
        </p:nvGrpSpPr>
        <p:grpSpPr>
          <a:xfrm rot="0">
            <a:off x="12252579" y="5888355"/>
            <a:ext cx="5436870" cy="2967990"/>
            <a:chOff x="0" y="0"/>
            <a:chExt cx="7249160" cy="3957320"/>
          </a:xfrm>
        </p:grpSpPr>
        <p:sp>
          <p:nvSpPr>
            <p:cNvPr name="Freeform 81" id="81"/>
            <p:cNvSpPr/>
            <p:nvPr/>
          </p:nvSpPr>
          <p:spPr>
            <a:xfrm flipH="false" flipV="false" rot="0">
              <a:off x="0" y="0"/>
              <a:ext cx="7249160" cy="3957320"/>
            </a:xfrm>
            <a:custGeom>
              <a:avLst/>
              <a:gdLst/>
              <a:ahLst/>
              <a:cxnLst/>
              <a:rect r="r" b="b" t="t" l="l"/>
              <a:pathLst>
                <a:path h="3957320" w="7249160">
                  <a:moveTo>
                    <a:pt x="0" y="110490"/>
                  </a:moveTo>
                  <a:cubicBezTo>
                    <a:pt x="0" y="49403"/>
                    <a:pt x="49403" y="0"/>
                    <a:pt x="110490" y="0"/>
                  </a:cubicBezTo>
                  <a:lnTo>
                    <a:pt x="7138670" y="0"/>
                  </a:lnTo>
                  <a:cubicBezTo>
                    <a:pt x="7199630" y="0"/>
                    <a:pt x="7249160" y="49403"/>
                    <a:pt x="7249160" y="110490"/>
                  </a:cubicBezTo>
                  <a:lnTo>
                    <a:pt x="7249160" y="3846830"/>
                  </a:lnTo>
                  <a:cubicBezTo>
                    <a:pt x="7249160" y="3907790"/>
                    <a:pt x="7199757" y="3957320"/>
                    <a:pt x="7138670" y="3957320"/>
                  </a:cubicBezTo>
                  <a:lnTo>
                    <a:pt x="110490" y="3957320"/>
                  </a:lnTo>
                  <a:cubicBezTo>
                    <a:pt x="49530" y="3957320"/>
                    <a:pt x="0" y="3907917"/>
                    <a:pt x="0" y="3846830"/>
                  </a:cubicBezTo>
                  <a:close/>
                </a:path>
              </a:pathLst>
            </a:custGeom>
            <a:solidFill>
              <a:srgbClr val="FFFFFF"/>
            </a:solidFill>
            <a:ln w="19050" cap="sq">
              <a:solidFill>
                <a:srgbClr val="DCDCDC"/>
              </a:solidFill>
              <a:prstDash val="solid"/>
              <a:miter/>
            </a:ln>
          </p:spPr>
        </p:sp>
      </p:grpSp>
      <p:grpSp>
        <p:nvGrpSpPr>
          <p:cNvPr name="Group 82" id="82"/>
          <p:cNvGrpSpPr/>
          <p:nvPr/>
        </p:nvGrpSpPr>
        <p:grpSpPr>
          <a:xfrm rot="0">
            <a:off x="12252579" y="5888355"/>
            <a:ext cx="5436870" cy="94488"/>
            <a:chOff x="0" y="0"/>
            <a:chExt cx="7249160" cy="125984"/>
          </a:xfrm>
        </p:grpSpPr>
        <p:sp>
          <p:nvSpPr>
            <p:cNvPr name="Freeform 83" id="83"/>
            <p:cNvSpPr/>
            <p:nvPr/>
          </p:nvSpPr>
          <p:spPr>
            <a:xfrm flipH="false" flipV="false" rot="0">
              <a:off x="0" y="0"/>
              <a:ext cx="7249160" cy="125984"/>
            </a:xfrm>
            <a:custGeom>
              <a:avLst/>
              <a:gdLst/>
              <a:ahLst/>
              <a:cxnLst/>
              <a:rect r="r" b="b" t="t" l="l"/>
              <a:pathLst>
                <a:path h="125984" w="7249160">
                  <a:moveTo>
                    <a:pt x="0" y="0"/>
                  </a:moveTo>
                  <a:lnTo>
                    <a:pt x="7249160" y="0"/>
                  </a:lnTo>
                  <a:lnTo>
                    <a:pt x="7249160" y="125984"/>
                  </a:lnTo>
                  <a:lnTo>
                    <a:pt x="0" y="125984"/>
                  </a:lnTo>
                  <a:close/>
                </a:path>
              </a:pathLst>
            </a:custGeom>
            <a:solidFill>
              <a:srgbClr val="FF8A80"/>
            </a:solidFill>
            <a:ln w="19050" cap="sq">
              <a:solidFill>
                <a:srgbClr val="333333"/>
              </a:solidFill>
              <a:prstDash val="solid"/>
              <a:miter/>
            </a:ln>
          </p:spPr>
        </p:sp>
      </p:grpSp>
      <p:grpSp>
        <p:nvGrpSpPr>
          <p:cNvPr name="Group 84" id="84"/>
          <p:cNvGrpSpPr/>
          <p:nvPr/>
        </p:nvGrpSpPr>
        <p:grpSpPr>
          <a:xfrm rot="0">
            <a:off x="12563856" y="6199632"/>
            <a:ext cx="4800600" cy="356616"/>
            <a:chOff x="0" y="0"/>
            <a:chExt cx="6400800" cy="475488"/>
          </a:xfrm>
        </p:grpSpPr>
        <p:sp>
          <p:nvSpPr>
            <p:cNvPr name="Freeform 85" id="85"/>
            <p:cNvSpPr/>
            <p:nvPr/>
          </p:nvSpPr>
          <p:spPr>
            <a:xfrm flipH="false" flipV="false" rot="0">
              <a:off x="0" y="0"/>
              <a:ext cx="6400800" cy="475488"/>
            </a:xfrm>
            <a:custGeom>
              <a:avLst/>
              <a:gdLst/>
              <a:ahLst/>
              <a:cxnLst/>
              <a:rect r="r" b="b" t="t" l="l"/>
              <a:pathLst>
                <a:path h="475488" w="6400800">
                  <a:moveTo>
                    <a:pt x="0" y="0"/>
                  </a:moveTo>
                  <a:lnTo>
                    <a:pt x="6400800" y="0"/>
                  </a:lnTo>
                  <a:lnTo>
                    <a:pt x="6400800" y="475488"/>
                  </a:lnTo>
                  <a:lnTo>
                    <a:pt x="0" y="475488"/>
                  </a:lnTo>
                  <a:close/>
                </a:path>
              </a:pathLst>
            </a:custGeom>
            <a:blipFill>
              <a:blip r:embed="rId3">
                <a:alphaModFix amt="0"/>
              </a:blip>
              <a:stretch>
                <a:fillRect l="0" t="-212298" r="0" b="-212298"/>
              </a:stretch>
            </a:blipFill>
          </p:spPr>
        </p:sp>
        <p:sp>
          <p:nvSpPr>
            <p:cNvPr name="TextBox 86" id="86"/>
            <p:cNvSpPr txBox="true"/>
            <p:nvPr/>
          </p:nvSpPr>
          <p:spPr>
            <a:xfrm>
              <a:off x="0" y="-38100"/>
              <a:ext cx="6400800" cy="513588"/>
            </a:xfrm>
            <a:prstGeom prst="rect">
              <a:avLst/>
            </a:prstGeom>
          </p:spPr>
          <p:txBody>
            <a:bodyPr anchor="ctr" rtlCol="false" tIns="0" lIns="0" bIns="0" rIns="0"/>
            <a:lstStyle/>
            <a:p>
              <a:pPr algn="l">
                <a:lnSpc>
                  <a:spcPts val="2160"/>
                </a:lnSpc>
              </a:pPr>
              <a:r>
                <a:rPr lang="en-US" sz="1800">
                  <a:solidFill>
                    <a:srgbClr val="6B6B6B"/>
                  </a:solidFill>
                  <a:latin typeface="Calibri (MS)"/>
                  <a:ea typeface="Calibri (MS)"/>
                  <a:cs typeface="Calibri (MS)"/>
                  <a:sym typeface="Calibri (MS)"/>
                </a:rPr>
                <a:t>PHASE  06</a:t>
              </a:r>
            </a:p>
          </p:txBody>
        </p:sp>
      </p:grpSp>
      <p:grpSp>
        <p:nvGrpSpPr>
          <p:cNvPr name="Group 87" id="87"/>
          <p:cNvGrpSpPr/>
          <p:nvPr/>
        </p:nvGrpSpPr>
        <p:grpSpPr>
          <a:xfrm rot="0">
            <a:off x="12563856" y="6652260"/>
            <a:ext cx="4800600" cy="548640"/>
            <a:chOff x="0" y="0"/>
            <a:chExt cx="6400800" cy="731520"/>
          </a:xfrm>
        </p:grpSpPr>
        <p:sp>
          <p:nvSpPr>
            <p:cNvPr name="Freeform 88" id="88"/>
            <p:cNvSpPr/>
            <p:nvPr/>
          </p:nvSpPr>
          <p:spPr>
            <a:xfrm flipH="false" flipV="false" rot="0">
              <a:off x="0" y="0"/>
              <a:ext cx="6400800" cy="731520"/>
            </a:xfrm>
            <a:custGeom>
              <a:avLst/>
              <a:gdLst/>
              <a:ahLst/>
              <a:cxnLst/>
              <a:rect r="r" b="b" t="t" l="l"/>
              <a:pathLst>
                <a:path h="731520" w="6400800">
                  <a:moveTo>
                    <a:pt x="0" y="0"/>
                  </a:moveTo>
                  <a:lnTo>
                    <a:pt x="6400800" y="0"/>
                  </a:lnTo>
                  <a:lnTo>
                    <a:pt x="6400800" y="731520"/>
                  </a:lnTo>
                  <a:lnTo>
                    <a:pt x="0" y="731520"/>
                  </a:lnTo>
                  <a:close/>
                </a:path>
              </a:pathLst>
            </a:custGeom>
            <a:blipFill>
              <a:blip r:embed="rId3">
                <a:alphaModFix amt="0"/>
              </a:blip>
              <a:stretch>
                <a:fillRect l="0" t="-120494" r="0" b="-120494"/>
              </a:stretch>
            </a:blipFill>
          </p:spPr>
        </p:sp>
        <p:sp>
          <p:nvSpPr>
            <p:cNvPr name="TextBox 89" id="89"/>
            <p:cNvSpPr txBox="true"/>
            <p:nvPr/>
          </p:nvSpPr>
          <p:spPr>
            <a:xfrm>
              <a:off x="0" y="-38100"/>
              <a:ext cx="6400800" cy="769620"/>
            </a:xfrm>
            <a:prstGeom prst="rect">
              <a:avLst/>
            </a:prstGeom>
          </p:spPr>
          <p:txBody>
            <a:bodyPr anchor="ctr" rtlCol="false" tIns="0" lIns="0" bIns="0" rIns="0"/>
            <a:lstStyle/>
            <a:p>
              <a:pPr algn="l">
                <a:lnSpc>
                  <a:spcPts val="2879"/>
                </a:lnSpc>
              </a:pPr>
              <a:r>
                <a:rPr lang="en-US" sz="2400" b="true">
                  <a:solidFill>
                    <a:srgbClr val="2B2B2B"/>
                  </a:solidFill>
                  <a:latin typeface="Calibri (MS) Bold"/>
                  <a:ea typeface="Calibri (MS) Bold"/>
                  <a:cs typeface="Calibri (MS) Bold"/>
                  <a:sym typeface="Calibri (MS) Bold"/>
                </a:rPr>
                <a:t>Real-world validation</a:t>
              </a:r>
            </a:p>
          </p:txBody>
        </p:sp>
      </p:grpSp>
      <p:grpSp>
        <p:nvGrpSpPr>
          <p:cNvPr name="Group 90" id="90"/>
          <p:cNvGrpSpPr/>
          <p:nvPr/>
        </p:nvGrpSpPr>
        <p:grpSpPr>
          <a:xfrm rot="0">
            <a:off x="12563856" y="7406640"/>
            <a:ext cx="4800600" cy="1097280"/>
            <a:chOff x="0" y="0"/>
            <a:chExt cx="6400800" cy="1463040"/>
          </a:xfrm>
        </p:grpSpPr>
        <p:sp>
          <p:nvSpPr>
            <p:cNvPr name="Freeform 91" id="91"/>
            <p:cNvSpPr/>
            <p:nvPr/>
          </p:nvSpPr>
          <p:spPr>
            <a:xfrm flipH="false" flipV="false" rot="0">
              <a:off x="0" y="0"/>
              <a:ext cx="6400800" cy="1463040"/>
            </a:xfrm>
            <a:custGeom>
              <a:avLst/>
              <a:gdLst/>
              <a:ahLst/>
              <a:cxnLst/>
              <a:rect r="r" b="b" t="t" l="l"/>
              <a:pathLst>
                <a:path h="1463040" w="6400800">
                  <a:moveTo>
                    <a:pt x="0" y="0"/>
                  </a:moveTo>
                  <a:lnTo>
                    <a:pt x="6400800" y="0"/>
                  </a:lnTo>
                  <a:lnTo>
                    <a:pt x="6400800" y="1463040"/>
                  </a:lnTo>
                  <a:lnTo>
                    <a:pt x="0" y="1463040"/>
                  </a:lnTo>
                  <a:close/>
                </a:path>
              </a:pathLst>
            </a:custGeom>
            <a:blipFill>
              <a:blip r:embed="rId3">
                <a:alphaModFix amt="0"/>
              </a:blip>
              <a:stretch>
                <a:fillRect l="0" t="-35247" r="0" b="-35247"/>
              </a:stretch>
            </a:blipFill>
          </p:spPr>
        </p:sp>
        <p:sp>
          <p:nvSpPr>
            <p:cNvPr name="TextBox 92" id="92"/>
            <p:cNvSpPr txBox="true"/>
            <p:nvPr/>
          </p:nvSpPr>
          <p:spPr>
            <a:xfrm>
              <a:off x="0" y="-47625"/>
              <a:ext cx="6400800" cy="1510665"/>
            </a:xfrm>
            <a:prstGeom prst="rect">
              <a:avLst/>
            </a:prstGeom>
          </p:spPr>
          <p:txBody>
            <a:bodyPr anchor="ctr" rtlCol="false" tIns="0" lIns="0" bIns="0" rIns="0"/>
            <a:lstStyle/>
            <a:p>
              <a:pPr algn="l">
                <a:lnSpc>
                  <a:spcPts val="2520"/>
                </a:lnSpc>
              </a:pPr>
              <a:r>
                <a:rPr lang="en-US" sz="2100">
                  <a:solidFill>
                    <a:srgbClr val="555555"/>
                  </a:solidFill>
                  <a:latin typeface="Calibri (MS)"/>
                  <a:ea typeface="Calibri (MS)"/>
                  <a:cs typeface="Calibri (MS)"/>
                  <a:sym typeface="Calibri (MS)"/>
                </a:rPr>
                <a:t>Evaluate reliability, usability and effectiveness in real environments.</a:t>
              </a:r>
            </a:p>
          </p:txBody>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grpSp>
        <p:nvGrpSpPr>
          <p:cNvPr name="Group 2" id="2"/>
          <p:cNvGrpSpPr/>
          <p:nvPr/>
        </p:nvGrpSpPr>
        <p:grpSpPr>
          <a:xfrm rot="0">
            <a:off x="960120" y="576072"/>
            <a:ext cx="16322040" cy="658368"/>
            <a:chOff x="0" y="0"/>
            <a:chExt cx="21762720" cy="877824"/>
          </a:xfrm>
        </p:grpSpPr>
        <p:sp>
          <p:nvSpPr>
            <p:cNvPr name="Freeform 3" id="3"/>
            <p:cNvSpPr/>
            <p:nvPr/>
          </p:nvSpPr>
          <p:spPr>
            <a:xfrm flipH="false" flipV="false" rot="0">
              <a:off x="0" y="0"/>
              <a:ext cx="21762720" cy="877824"/>
            </a:xfrm>
            <a:custGeom>
              <a:avLst/>
              <a:gdLst/>
              <a:ahLst/>
              <a:cxnLst/>
              <a:rect r="r" b="b" t="t" l="l"/>
              <a:pathLst>
                <a:path h="877824" w="21762720">
                  <a:moveTo>
                    <a:pt x="0" y="0"/>
                  </a:moveTo>
                  <a:lnTo>
                    <a:pt x="21762720" y="0"/>
                  </a:lnTo>
                  <a:lnTo>
                    <a:pt x="21762720" y="877824"/>
                  </a:lnTo>
                  <a:lnTo>
                    <a:pt x="0" y="877824"/>
                  </a:lnTo>
                  <a:close/>
                </a:path>
              </a:pathLst>
            </a:custGeom>
            <a:blipFill>
              <a:blip r:embed="rId3">
                <a:alphaModFix amt="0"/>
              </a:blip>
              <a:stretch>
                <a:fillRect l="0" t="-433066" r="0" b="-433066"/>
              </a:stretch>
            </a:blipFill>
          </p:spPr>
        </p:sp>
        <p:sp>
          <p:nvSpPr>
            <p:cNvPr name="TextBox 4" id="4"/>
            <p:cNvSpPr txBox="true"/>
            <p:nvPr/>
          </p:nvSpPr>
          <p:spPr>
            <a:xfrm>
              <a:off x="0" y="0"/>
              <a:ext cx="21762720" cy="877824"/>
            </a:xfrm>
            <a:prstGeom prst="rect">
              <a:avLst/>
            </a:prstGeom>
          </p:spPr>
          <p:txBody>
            <a:bodyPr anchor="ctr" rtlCol="false" tIns="0" lIns="0" bIns="0" rIns="0"/>
            <a:lstStyle/>
            <a:p>
              <a:pPr algn="l">
                <a:lnSpc>
                  <a:spcPts val="5759"/>
                </a:lnSpc>
              </a:pPr>
              <a:r>
                <a:rPr lang="en-US" sz="4800">
                  <a:solidFill>
                    <a:srgbClr val="2B2B2B"/>
                  </a:solidFill>
                  <a:latin typeface="Georgia"/>
                  <a:ea typeface="Georgia"/>
                  <a:cs typeface="Georgia"/>
                  <a:sym typeface="Georgia"/>
                </a:rPr>
                <a:t>Conclusion</a:t>
              </a:r>
            </a:p>
          </p:txBody>
        </p:sp>
      </p:grpSp>
      <p:grpSp>
        <p:nvGrpSpPr>
          <p:cNvPr name="Group 5" id="5"/>
          <p:cNvGrpSpPr/>
          <p:nvPr/>
        </p:nvGrpSpPr>
        <p:grpSpPr>
          <a:xfrm rot="0">
            <a:off x="950595" y="1293495"/>
            <a:ext cx="1088898" cy="67056"/>
            <a:chOff x="0" y="0"/>
            <a:chExt cx="1451864" cy="89408"/>
          </a:xfrm>
        </p:grpSpPr>
        <p:sp>
          <p:nvSpPr>
            <p:cNvPr name="Freeform 6" id="6"/>
            <p:cNvSpPr/>
            <p:nvPr/>
          </p:nvSpPr>
          <p:spPr>
            <a:xfrm flipH="false" flipV="false" rot="0">
              <a:off x="0" y="0"/>
              <a:ext cx="1451864" cy="89408"/>
            </a:xfrm>
            <a:custGeom>
              <a:avLst/>
              <a:gdLst/>
              <a:ahLst/>
              <a:cxnLst/>
              <a:rect r="r" b="b" t="t" l="l"/>
              <a:pathLst>
                <a:path h="89408" w="1451864">
                  <a:moveTo>
                    <a:pt x="0" y="0"/>
                  </a:moveTo>
                  <a:lnTo>
                    <a:pt x="1451864" y="0"/>
                  </a:lnTo>
                  <a:lnTo>
                    <a:pt x="1451864" y="89408"/>
                  </a:lnTo>
                  <a:lnTo>
                    <a:pt x="0" y="89408"/>
                  </a:lnTo>
                  <a:close/>
                </a:path>
              </a:pathLst>
            </a:custGeom>
            <a:solidFill>
              <a:srgbClr val="FF8A80"/>
            </a:solidFill>
            <a:ln w="19050" cap="sq">
              <a:solidFill>
                <a:srgbClr val="333333"/>
              </a:solidFill>
              <a:prstDash val="solid"/>
              <a:miter/>
            </a:ln>
          </p:spPr>
        </p:sp>
      </p:grpSp>
      <p:grpSp>
        <p:nvGrpSpPr>
          <p:cNvPr name="Group 7" id="7"/>
          <p:cNvGrpSpPr/>
          <p:nvPr/>
        </p:nvGrpSpPr>
        <p:grpSpPr>
          <a:xfrm rot="0">
            <a:off x="950595" y="9701403"/>
            <a:ext cx="16386353" cy="35509"/>
            <a:chOff x="0" y="0"/>
            <a:chExt cx="21848470" cy="47346"/>
          </a:xfrm>
        </p:grpSpPr>
        <p:sp>
          <p:nvSpPr>
            <p:cNvPr name="Freeform 8" id="8"/>
            <p:cNvSpPr/>
            <p:nvPr/>
          </p:nvSpPr>
          <p:spPr>
            <a:xfrm flipH="false" flipV="false" rot="0">
              <a:off x="0" y="0"/>
              <a:ext cx="21848445" cy="47371"/>
            </a:xfrm>
            <a:custGeom>
              <a:avLst/>
              <a:gdLst/>
              <a:ahLst/>
              <a:cxnLst/>
              <a:rect r="r" b="b" t="t" l="l"/>
              <a:pathLst>
                <a:path h="47371" w="21848445">
                  <a:moveTo>
                    <a:pt x="0" y="0"/>
                  </a:moveTo>
                  <a:lnTo>
                    <a:pt x="21848445" y="0"/>
                  </a:lnTo>
                  <a:lnTo>
                    <a:pt x="21848445" y="47371"/>
                  </a:lnTo>
                  <a:lnTo>
                    <a:pt x="0" y="47371"/>
                  </a:lnTo>
                  <a:close/>
                </a:path>
              </a:pathLst>
            </a:custGeom>
            <a:solidFill>
              <a:srgbClr val="D0D0D0"/>
            </a:solidFill>
            <a:ln w="19050" cap="sq">
              <a:solidFill>
                <a:srgbClr val="333333"/>
              </a:solidFill>
              <a:prstDash val="solid"/>
              <a:miter/>
            </a:ln>
          </p:spPr>
        </p:sp>
      </p:grpSp>
      <p:grpSp>
        <p:nvGrpSpPr>
          <p:cNvPr name="Group 9" id="9"/>
          <p:cNvGrpSpPr/>
          <p:nvPr/>
        </p:nvGrpSpPr>
        <p:grpSpPr>
          <a:xfrm rot="0">
            <a:off x="15645765" y="9806940"/>
            <a:ext cx="1645920" cy="356616"/>
            <a:chOff x="0" y="0"/>
            <a:chExt cx="2194560" cy="475488"/>
          </a:xfrm>
        </p:grpSpPr>
        <p:sp>
          <p:nvSpPr>
            <p:cNvPr name="Freeform 10" id="10"/>
            <p:cNvSpPr/>
            <p:nvPr/>
          </p:nvSpPr>
          <p:spPr>
            <a:xfrm flipH="false" flipV="false" rot="0">
              <a:off x="0" y="0"/>
              <a:ext cx="2194560" cy="475488"/>
            </a:xfrm>
            <a:custGeom>
              <a:avLst/>
              <a:gdLst/>
              <a:ahLst/>
              <a:cxnLst/>
              <a:rect r="r" b="b" t="t" l="l"/>
              <a:pathLst>
                <a:path h="475488" w="2194560">
                  <a:moveTo>
                    <a:pt x="0" y="0"/>
                  </a:moveTo>
                  <a:lnTo>
                    <a:pt x="2194560" y="0"/>
                  </a:lnTo>
                  <a:lnTo>
                    <a:pt x="2194560" y="475488"/>
                  </a:lnTo>
                  <a:lnTo>
                    <a:pt x="0" y="475488"/>
                  </a:lnTo>
                  <a:close/>
                </a:path>
              </a:pathLst>
            </a:custGeom>
            <a:blipFill>
              <a:blip r:embed="rId3">
                <a:alphaModFix amt="0"/>
              </a:blip>
              <a:stretch>
                <a:fillRect l="0" t="-39930" r="0" b="-39930"/>
              </a:stretch>
            </a:blipFill>
          </p:spPr>
        </p:sp>
        <p:sp>
          <p:nvSpPr>
            <p:cNvPr name="TextBox 11" id="11"/>
            <p:cNvSpPr txBox="true"/>
            <p:nvPr/>
          </p:nvSpPr>
          <p:spPr>
            <a:xfrm>
              <a:off x="0" y="-28575"/>
              <a:ext cx="2194560" cy="504063"/>
            </a:xfrm>
            <a:prstGeom prst="rect">
              <a:avLst/>
            </a:prstGeom>
          </p:spPr>
          <p:txBody>
            <a:bodyPr anchor="ctr" rtlCol="false" tIns="0" lIns="0" bIns="0" rIns="0"/>
            <a:lstStyle/>
            <a:p>
              <a:pPr algn="r">
                <a:lnSpc>
                  <a:spcPts val="1980"/>
                </a:lnSpc>
              </a:pPr>
              <a:r>
                <a:rPr lang="en-US" sz="1650">
                  <a:solidFill>
                    <a:srgbClr val="6B6B6B"/>
                  </a:solidFill>
                  <a:latin typeface="Calibri (MS)"/>
                  <a:ea typeface="Calibri (MS)"/>
                  <a:cs typeface="Calibri (MS)"/>
                  <a:sym typeface="Calibri (MS)"/>
                </a:rPr>
                <a:t>12</a:t>
              </a:r>
            </a:p>
          </p:txBody>
        </p:sp>
      </p:grpSp>
      <p:grpSp>
        <p:nvGrpSpPr>
          <p:cNvPr name="Group 12" id="12"/>
          <p:cNvGrpSpPr/>
          <p:nvPr/>
        </p:nvGrpSpPr>
        <p:grpSpPr>
          <a:xfrm rot="0">
            <a:off x="960120" y="1851660"/>
            <a:ext cx="16322040" cy="1714500"/>
            <a:chOff x="0" y="0"/>
            <a:chExt cx="21762720" cy="2286000"/>
          </a:xfrm>
        </p:grpSpPr>
        <p:sp>
          <p:nvSpPr>
            <p:cNvPr name="Freeform 13" id="13"/>
            <p:cNvSpPr/>
            <p:nvPr/>
          </p:nvSpPr>
          <p:spPr>
            <a:xfrm flipH="false" flipV="false" rot="0">
              <a:off x="0" y="0"/>
              <a:ext cx="21762720" cy="2286000"/>
            </a:xfrm>
            <a:custGeom>
              <a:avLst/>
              <a:gdLst/>
              <a:ahLst/>
              <a:cxnLst/>
              <a:rect r="r" b="b" t="t" l="l"/>
              <a:pathLst>
                <a:path h="2286000" w="21762720">
                  <a:moveTo>
                    <a:pt x="0" y="0"/>
                  </a:moveTo>
                  <a:lnTo>
                    <a:pt x="21762720" y="0"/>
                  </a:lnTo>
                  <a:lnTo>
                    <a:pt x="21762720" y="2286000"/>
                  </a:lnTo>
                  <a:lnTo>
                    <a:pt x="0" y="2286000"/>
                  </a:lnTo>
                  <a:close/>
                </a:path>
              </a:pathLst>
            </a:custGeom>
            <a:blipFill>
              <a:blip r:embed="rId3">
                <a:alphaModFix amt="0"/>
              </a:blip>
              <a:stretch>
                <a:fillRect l="0" t="-135497" r="0" b="-135497"/>
              </a:stretch>
            </a:blipFill>
          </p:spPr>
        </p:sp>
        <p:sp>
          <p:nvSpPr>
            <p:cNvPr name="TextBox 14" id="14"/>
            <p:cNvSpPr txBox="true"/>
            <p:nvPr/>
          </p:nvSpPr>
          <p:spPr>
            <a:xfrm>
              <a:off x="0" y="-57150"/>
              <a:ext cx="21762720" cy="2343150"/>
            </a:xfrm>
            <a:prstGeom prst="rect">
              <a:avLst/>
            </a:prstGeom>
          </p:spPr>
          <p:txBody>
            <a:bodyPr anchor="ctr" rtlCol="false" tIns="0" lIns="0" bIns="0" rIns="0"/>
            <a:lstStyle/>
            <a:p>
              <a:pPr algn="l">
                <a:lnSpc>
                  <a:spcPts val="3240"/>
                </a:lnSpc>
              </a:pPr>
              <a:r>
                <a:rPr lang="en-US" sz="2700">
                  <a:solidFill>
                    <a:srgbClr val="2B2B2B"/>
                  </a:solidFill>
                  <a:latin typeface="Calibri (MS)"/>
                  <a:ea typeface="Calibri (MS)"/>
                  <a:cs typeface="Calibri (MS)"/>
                  <a:sym typeface="Calibri (MS)"/>
                </a:rPr>
                <a:t>Echo Vision sets out to turn environmental information into meaningful guidance for visually impaired individuals. By developing perception in a Unity-based digital twin first, the project creates a controlled foundation for sensing, detection and distance estimation.</a:t>
              </a:r>
            </a:p>
          </p:txBody>
        </p:sp>
      </p:grpSp>
      <p:grpSp>
        <p:nvGrpSpPr>
          <p:cNvPr name="Group 15" id="15"/>
          <p:cNvGrpSpPr/>
          <p:nvPr/>
        </p:nvGrpSpPr>
        <p:grpSpPr>
          <a:xfrm rot="0">
            <a:off x="960120" y="3703320"/>
            <a:ext cx="16322040" cy="891540"/>
            <a:chOff x="0" y="0"/>
            <a:chExt cx="21762720" cy="1188720"/>
          </a:xfrm>
        </p:grpSpPr>
        <p:sp>
          <p:nvSpPr>
            <p:cNvPr name="Freeform 16" id="16"/>
            <p:cNvSpPr/>
            <p:nvPr/>
          </p:nvSpPr>
          <p:spPr>
            <a:xfrm flipH="false" flipV="false" rot="0">
              <a:off x="0" y="0"/>
              <a:ext cx="21762720" cy="1188720"/>
            </a:xfrm>
            <a:custGeom>
              <a:avLst/>
              <a:gdLst/>
              <a:ahLst/>
              <a:cxnLst/>
              <a:rect r="r" b="b" t="t" l="l"/>
              <a:pathLst>
                <a:path h="1188720" w="21762720">
                  <a:moveTo>
                    <a:pt x="0" y="0"/>
                  </a:moveTo>
                  <a:lnTo>
                    <a:pt x="21762720" y="0"/>
                  </a:lnTo>
                  <a:lnTo>
                    <a:pt x="21762720" y="1188720"/>
                  </a:lnTo>
                  <a:lnTo>
                    <a:pt x="0" y="1188720"/>
                  </a:lnTo>
                  <a:close/>
                </a:path>
              </a:pathLst>
            </a:custGeom>
            <a:blipFill>
              <a:blip r:embed="rId3">
                <a:alphaModFix amt="0"/>
              </a:blip>
              <a:stretch>
                <a:fillRect l="0" t="-306726" r="0" b="-306726"/>
              </a:stretch>
            </a:blipFill>
          </p:spPr>
        </p:sp>
        <p:sp>
          <p:nvSpPr>
            <p:cNvPr name="TextBox 17" id="17"/>
            <p:cNvSpPr txBox="true"/>
            <p:nvPr/>
          </p:nvSpPr>
          <p:spPr>
            <a:xfrm>
              <a:off x="0" y="-57150"/>
              <a:ext cx="21762720" cy="1245870"/>
            </a:xfrm>
            <a:prstGeom prst="rect">
              <a:avLst/>
            </a:prstGeom>
          </p:spPr>
          <p:txBody>
            <a:bodyPr anchor="ctr" rtlCol="false" tIns="0" lIns="0" bIns="0" rIns="0"/>
            <a:lstStyle/>
            <a:p>
              <a:pPr algn="l">
                <a:lnSpc>
                  <a:spcPts val="3240"/>
                </a:lnSpc>
              </a:pPr>
              <a:r>
                <a:rPr lang="en-US" sz="2700">
                  <a:solidFill>
                    <a:srgbClr val="2B2B2B"/>
                  </a:solidFill>
                  <a:latin typeface="Calibri (MS)"/>
                  <a:ea typeface="Calibri (MS)"/>
                  <a:cs typeface="Calibri (MS)"/>
                  <a:sym typeface="Calibri (MS)"/>
                </a:rPr>
                <a:t>Audio guidance and physical hardware integration will then build on this tested foundation.</a:t>
              </a:r>
            </a:p>
          </p:txBody>
        </p:sp>
      </p:grpSp>
      <p:grpSp>
        <p:nvGrpSpPr>
          <p:cNvPr name="Group 18" id="18"/>
          <p:cNvGrpSpPr/>
          <p:nvPr/>
        </p:nvGrpSpPr>
        <p:grpSpPr>
          <a:xfrm rot="0">
            <a:off x="950595" y="5271135"/>
            <a:ext cx="115062" cy="2625090"/>
            <a:chOff x="0" y="0"/>
            <a:chExt cx="153416" cy="3500120"/>
          </a:xfrm>
        </p:grpSpPr>
        <p:sp>
          <p:nvSpPr>
            <p:cNvPr name="Freeform 19" id="19"/>
            <p:cNvSpPr/>
            <p:nvPr/>
          </p:nvSpPr>
          <p:spPr>
            <a:xfrm flipH="false" flipV="false" rot="0">
              <a:off x="0" y="0"/>
              <a:ext cx="153416" cy="3500120"/>
            </a:xfrm>
            <a:custGeom>
              <a:avLst/>
              <a:gdLst/>
              <a:ahLst/>
              <a:cxnLst/>
              <a:rect r="r" b="b" t="t" l="l"/>
              <a:pathLst>
                <a:path h="3500120" w="153416">
                  <a:moveTo>
                    <a:pt x="0" y="0"/>
                  </a:moveTo>
                  <a:lnTo>
                    <a:pt x="153416" y="0"/>
                  </a:lnTo>
                  <a:lnTo>
                    <a:pt x="153416" y="3500120"/>
                  </a:lnTo>
                  <a:lnTo>
                    <a:pt x="0" y="3500120"/>
                  </a:lnTo>
                  <a:close/>
                </a:path>
              </a:pathLst>
            </a:custGeom>
            <a:solidFill>
              <a:srgbClr val="FF8A80"/>
            </a:solidFill>
            <a:ln w="19050" cap="sq">
              <a:solidFill>
                <a:srgbClr val="333333"/>
              </a:solidFill>
              <a:prstDash val="solid"/>
              <a:miter/>
            </a:ln>
          </p:spPr>
        </p:sp>
      </p:grpSp>
      <p:grpSp>
        <p:nvGrpSpPr>
          <p:cNvPr name="Group 20" id="20"/>
          <p:cNvGrpSpPr/>
          <p:nvPr/>
        </p:nvGrpSpPr>
        <p:grpSpPr>
          <a:xfrm rot="0">
            <a:off x="1046607" y="5271135"/>
            <a:ext cx="16272510" cy="2625090"/>
            <a:chOff x="0" y="0"/>
            <a:chExt cx="21696680" cy="3500120"/>
          </a:xfrm>
        </p:grpSpPr>
        <p:sp>
          <p:nvSpPr>
            <p:cNvPr name="Freeform 21" id="21"/>
            <p:cNvSpPr/>
            <p:nvPr/>
          </p:nvSpPr>
          <p:spPr>
            <a:xfrm flipH="false" flipV="false" rot="0">
              <a:off x="0" y="0"/>
              <a:ext cx="21696680" cy="3500120"/>
            </a:xfrm>
            <a:custGeom>
              <a:avLst/>
              <a:gdLst/>
              <a:ahLst/>
              <a:cxnLst/>
              <a:rect r="r" b="b" t="t" l="l"/>
              <a:pathLst>
                <a:path h="3500120" w="21696680">
                  <a:moveTo>
                    <a:pt x="0" y="73660"/>
                  </a:moveTo>
                  <a:cubicBezTo>
                    <a:pt x="0" y="33020"/>
                    <a:pt x="33020" y="0"/>
                    <a:pt x="73660" y="0"/>
                  </a:cubicBezTo>
                  <a:lnTo>
                    <a:pt x="21623020" y="0"/>
                  </a:lnTo>
                  <a:cubicBezTo>
                    <a:pt x="21663659" y="0"/>
                    <a:pt x="21696680" y="33020"/>
                    <a:pt x="21696680" y="73660"/>
                  </a:cubicBezTo>
                  <a:lnTo>
                    <a:pt x="21696680" y="3426460"/>
                  </a:lnTo>
                  <a:cubicBezTo>
                    <a:pt x="21696680" y="3467100"/>
                    <a:pt x="21663659" y="3500120"/>
                    <a:pt x="21623020" y="3500120"/>
                  </a:cubicBezTo>
                  <a:lnTo>
                    <a:pt x="73660" y="3500120"/>
                  </a:lnTo>
                  <a:cubicBezTo>
                    <a:pt x="33020" y="3500120"/>
                    <a:pt x="0" y="3467100"/>
                    <a:pt x="0" y="3426460"/>
                  </a:cubicBezTo>
                  <a:close/>
                </a:path>
              </a:pathLst>
            </a:custGeom>
            <a:solidFill>
              <a:srgbClr val="FFFFFF"/>
            </a:solidFill>
            <a:ln w="19050" cap="sq">
              <a:solidFill>
                <a:srgbClr val="DCDCDC"/>
              </a:solidFill>
              <a:prstDash val="solid"/>
              <a:miter/>
            </a:ln>
          </p:spPr>
        </p:sp>
      </p:grpSp>
      <p:grpSp>
        <p:nvGrpSpPr>
          <p:cNvPr name="Group 22" id="22"/>
          <p:cNvGrpSpPr/>
          <p:nvPr/>
        </p:nvGrpSpPr>
        <p:grpSpPr>
          <a:xfrm rot="0">
            <a:off x="1645920" y="5692140"/>
            <a:ext cx="15224760" cy="1783080"/>
            <a:chOff x="0" y="0"/>
            <a:chExt cx="20299680" cy="2377440"/>
          </a:xfrm>
        </p:grpSpPr>
        <p:sp>
          <p:nvSpPr>
            <p:cNvPr name="Freeform 23" id="23"/>
            <p:cNvSpPr/>
            <p:nvPr/>
          </p:nvSpPr>
          <p:spPr>
            <a:xfrm flipH="false" flipV="false" rot="0">
              <a:off x="0" y="0"/>
              <a:ext cx="20299680" cy="2377440"/>
            </a:xfrm>
            <a:custGeom>
              <a:avLst/>
              <a:gdLst/>
              <a:ahLst/>
              <a:cxnLst/>
              <a:rect r="r" b="b" t="t" l="l"/>
              <a:pathLst>
                <a:path h="2377440" w="20299680">
                  <a:moveTo>
                    <a:pt x="0" y="0"/>
                  </a:moveTo>
                  <a:lnTo>
                    <a:pt x="20299680" y="0"/>
                  </a:lnTo>
                  <a:lnTo>
                    <a:pt x="20299680" y="2377440"/>
                  </a:lnTo>
                  <a:lnTo>
                    <a:pt x="0" y="2377440"/>
                  </a:lnTo>
                  <a:close/>
                </a:path>
              </a:pathLst>
            </a:custGeom>
            <a:blipFill>
              <a:blip r:embed="rId3">
                <a:alphaModFix amt="0"/>
              </a:blip>
              <a:stretch>
                <a:fillRect l="0" t="-116372" r="0" b="-116372"/>
              </a:stretch>
            </a:blipFill>
          </p:spPr>
        </p:sp>
        <p:sp>
          <p:nvSpPr>
            <p:cNvPr name="TextBox 24" id="24"/>
            <p:cNvSpPr txBox="true"/>
            <p:nvPr/>
          </p:nvSpPr>
          <p:spPr>
            <a:xfrm>
              <a:off x="0" y="0"/>
              <a:ext cx="20299680" cy="2377440"/>
            </a:xfrm>
            <a:prstGeom prst="rect">
              <a:avLst/>
            </a:prstGeom>
          </p:spPr>
          <p:txBody>
            <a:bodyPr anchor="ctr" rtlCol="false" tIns="0" lIns="0" bIns="0" rIns="0"/>
            <a:lstStyle/>
            <a:p>
              <a:pPr algn="l">
                <a:lnSpc>
                  <a:spcPts val="3960"/>
                </a:lnSpc>
              </a:pPr>
              <a:r>
                <a:rPr lang="en-US" sz="3300" i="true">
                  <a:solidFill>
                    <a:srgbClr val="2B2B2B"/>
                  </a:solidFill>
                  <a:latin typeface="Georgia Italics"/>
                  <a:ea typeface="Georgia Italics"/>
                  <a:cs typeface="Georgia Italics"/>
                  <a:sym typeface="Georgia Italics"/>
                </a:rPr>
                <a:t>Helping people experience their surroundings beyond what their eyes can see.</a:t>
              </a:r>
            </a:p>
          </p:txBody>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grpSp>
        <p:nvGrpSpPr>
          <p:cNvPr name="Group 2" id="2"/>
          <p:cNvGrpSpPr/>
          <p:nvPr/>
        </p:nvGrpSpPr>
        <p:grpSpPr>
          <a:xfrm rot="0">
            <a:off x="-9525" y="-9525"/>
            <a:ext cx="238506" cy="10306050"/>
            <a:chOff x="0" y="0"/>
            <a:chExt cx="318008" cy="13741400"/>
          </a:xfrm>
        </p:grpSpPr>
        <p:sp>
          <p:nvSpPr>
            <p:cNvPr name="Freeform 3" id="3"/>
            <p:cNvSpPr/>
            <p:nvPr/>
          </p:nvSpPr>
          <p:spPr>
            <a:xfrm flipH="false" flipV="false" rot="0">
              <a:off x="0" y="0"/>
              <a:ext cx="318008" cy="13741400"/>
            </a:xfrm>
            <a:custGeom>
              <a:avLst/>
              <a:gdLst/>
              <a:ahLst/>
              <a:cxnLst/>
              <a:rect r="r" b="b" t="t" l="l"/>
              <a:pathLst>
                <a:path h="13741400" w="318008">
                  <a:moveTo>
                    <a:pt x="0" y="0"/>
                  </a:moveTo>
                  <a:lnTo>
                    <a:pt x="318008" y="0"/>
                  </a:lnTo>
                  <a:lnTo>
                    <a:pt x="318008" y="13741400"/>
                  </a:lnTo>
                  <a:lnTo>
                    <a:pt x="0" y="13741400"/>
                  </a:lnTo>
                  <a:close/>
                </a:path>
              </a:pathLst>
            </a:custGeom>
            <a:solidFill>
              <a:srgbClr val="FF8A80"/>
            </a:solidFill>
            <a:ln w="19050" cap="sq">
              <a:solidFill>
                <a:srgbClr val="333333"/>
              </a:solidFill>
              <a:prstDash val="solid"/>
              <a:miter/>
            </a:ln>
          </p:spPr>
        </p:sp>
      </p:grpSp>
      <p:grpSp>
        <p:nvGrpSpPr>
          <p:cNvPr name="Group 4" id="4"/>
          <p:cNvGrpSpPr/>
          <p:nvPr/>
        </p:nvGrpSpPr>
        <p:grpSpPr>
          <a:xfrm rot="0">
            <a:off x="1303020" y="3497580"/>
            <a:ext cx="15087600" cy="1367730"/>
            <a:chOff x="0" y="0"/>
            <a:chExt cx="20116800" cy="1823641"/>
          </a:xfrm>
        </p:grpSpPr>
        <p:sp>
          <p:nvSpPr>
            <p:cNvPr name="Freeform 5" id="5"/>
            <p:cNvSpPr/>
            <p:nvPr/>
          </p:nvSpPr>
          <p:spPr>
            <a:xfrm flipH="false" flipV="false" rot="0">
              <a:off x="0" y="0"/>
              <a:ext cx="20116800" cy="1823641"/>
            </a:xfrm>
            <a:custGeom>
              <a:avLst/>
              <a:gdLst/>
              <a:ahLst/>
              <a:cxnLst/>
              <a:rect r="r" b="b" t="t" l="l"/>
              <a:pathLst>
                <a:path h="1823641" w="20116800">
                  <a:moveTo>
                    <a:pt x="0" y="0"/>
                  </a:moveTo>
                  <a:lnTo>
                    <a:pt x="20116800" y="0"/>
                  </a:lnTo>
                  <a:lnTo>
                    <a:pt x="20116800" y="1823641"/>
                  </a:lnTo>
                  <a:lnTo>
                    <a:pt x="0" y="1823641"/>
                  </a:lnTo>
                  <a:close/>
                </a:path>
              </a:pathLst>
            </a:custGeom>
            <a:blipFill>
              <a:blip r:embed="rId3">
                <a:alphaModFix amt="0"/>
              </a:blip>
              <a:stretch>
                <a:fillRect l="0" t="-174828" r="0" b="-155054"/>
              </a:stretch>
            </a:blipFill>
          </p:spPr>
        </p:sp>
        <p:sp>
          <p:nvSpPr>
            <p:cNvPr name="TextBox 6" id="6"/>
            <p:cNvSpPr txBox="true"/>
            <p:nvPr/>
          </p:nvSpPr>
          <p:spPr>
            <a:xfrm>
              <a:off x="0" y="-9525"/>
              <a:ext cx="20116800" cy="1833166"/>
            </a:xfrm>
            <a:prstGeom prst="rect">
              <a:avLst/>
            </a:prstGeom>
          </p:spPr>
          <p:txBody>
            <a:bodyPr anchor="ctr" rtlCol="false" tIns="0" lIns="0" bIns="0" rIns="0"/>
            <a:lstStyle/>
            <a:p>
              <a:pPr algn="l">
                <a:lnSpc>
                  <a:spcPts val="8640"/>
                </a:lnSpc>
              </a:pPr>
              <a:r>
                <a:rPr lang="en-US" sz="7200">
                  <a:solidFill>
                    <a:srgbClr val="2B2B2B"/>
                  </a:solidFill>
                  <a:latin typeface="Georgia"/>
                  <a:ea typeface="Georgia"/>
                  <a:cs typeface="Georgia"/>
                  <a:sym typeface="Georgia"/>
                </a:rPr>
                <a:t>Thank You</a:t>
              </a:r>
            </a:p>
          </p:txBody>
        </p:sp>
      </p:grpSp>
      <p:grpSp>
        <p:nvGrpSpPr>
          <p:cNvPr name="Group 7" id="7"/>
          <p:cNvGrpSpPr/>
          <p:nvPr/>
        </p:nvGrpSpPr>
        <p:grpSpPr>
          <a:xfrm rot="0">
            <a:off x="1293495" y="4859655"/>
            <a:ext cx="2213610" cy="39624"/>
            <a:chOff x="0" y="0"/>
            <a:chExt cx="2951480" cy="52832"/>
          </a:xfrm>
        </p:grpSpPr>
        <p:sp>
          <p:nvSpPr>
            <p:cNvPr name="Freeform 8" id="8"/>
            <p:cNvSpPr/>
            <p:nvPr/>
          </p:nvSpPr>
          <p:spPr>
            <a:xfrm flipH="false" flipV="false" rot="0">
              <a:off x="0" y="0"/>
              <a:ext cx="2951480" cy="52832"/>
            </a:xfrm>
            <a:custGeom>
              <a:avLst/>
              <a:gdLst/>
              <a:ahLst/>
              <a:cxnLst/>
              <a:rect r="r" b="b" t="t" l="l"/>
              <a:pathLst>
                <a:path h="52832" w="2951480">
                  <a:moveTo>
                    <a:pt x="0" y="0"/>
                  </a:moveTo>
                  <a:lnTo>
                    <a:pt x="2951480" y="0"/>
                  </a:lnTo>
                  <a:lnTo>
                    <a:pt x="2951480" y="52832"/>
                  </a:lnTo>
                  <a:lnTo>
                    <a:pt x="0" y="52832"/>
                  </a:lnTo>
                  <a:close/>
                </a:path>
              </a:pathLst>
            </a:custGeom>
            <a:solidFill>
              <a:srgbClr val="D0D0D0"/>
            </a:solidFill>
            <a:ln w="19050" cap="sq">
              <a:solidFill>
                <a:srgbClr val="333333"/>
              </a:solidFill>
              <a:prstDash val="solid"/>
              <a:miter/>
            </a:ln>
          </p:spPr>
        </p:sp>
      </p:grpSp>
      <p:grpSp>
        <p:nvGrpSpPr>
          <p:cNvPr name="Group 9" id="9"/>
          <p:cNvGrpSpPr/>
          <p:nvPr/>
        </p:nvGrpSpPr>
        <p:grpSpPr>
          <a:xfrm rot="0">
            <a:off x="1303020" y="5349240"/>
            <a:ext cx="15087600" cy="570681"/>
            <a:chOff x="0" y="0"/>
            <a:chExt cx="20116800" cy="760909"/>
          </a:xfrm>
        </p:grpSpPr>
        <p:sp>
          <p:nvSpPr>
            <p:cNvPr name="Freeform 10" id="10"/>
            <p:cNvSpPr/>
            <p:nvPr/>
          </p:nvSpPr>
          <p:spPr>
            <a:xfrm flipH="false" flipV="false" rot="0">
              <a:off x="0" y="0"/>
              <a:ext cx="20116800" cy="760909"/>
            </a:xfrm>
            <a:custGeom>
              <a:avLst/>
              <a:gdLst/>
              <a:ahLst/>
              <a:cxnLst/>
              <a:rect r="r" b="b" t="t" l="l"/>
              <a:pathLst>
                <a:path h="760909" w="20116800">
                  <a:moveTo>
                    <a:pt x="0" y="0"/>
                  </a:moveTo>
                  <a:lnTo>
                    <a:pt x="20116800" y="0"/>
                  </a:lnTo>
                  <a:lnTo>
                    <a:pt x="20116800" y="760909"/>
                  </a:lnTo>
                  <a:lnTo>
                    <a:pt x="0" y="760909"/>
                  </a:lnTo>
                  <a:close/>
                </a:path>
              </a:pathLst>
            </a:custGeom>
            <a:blipFill>
              <a:blip r:embed="rId3">
                <a:alphaModFix amt="0"/>
              </a:blip>
              <a:stretch>
                <a:fillRect l="0" t="-467073" r="0" b="-463211"/>
              </a:stretch>
            </a:blipFill>
          </p:spPr>
        </p:sp>
        <p:sp>
          <p:nvSpPr>
            <p:cNvPr name="TextBox 11" id="11"/>
            <p:cNvSpPr txBox="true"/>
            <p:nvPr/>
          </p:nvSpPr>
          <p:spPr>
            <a:xfrm>
              <a:off x="0" y="-19050"/>
              <a:ext cx="20116800" cy="779959"/>
            </a:xfrm>
            <a:prstGeom prst="rect">
              <a:avLst/>
            </a:prstGeom>
          </p:spPr>
          <p:txBody>
            <a:bodyPr anchor="ctr" rtlCol="false" tIns="0" lIns="0" bIns="0" rIns="0"/>
            <a:lstStyle/>
            <a:p>
              <a:pPr algn="l">
                <a:lnSpc>
                  <a:spcPts val="3600"/>
                </a:lnSpc>
              </a:pPr>
              <a:r>
                <a:rPr lang="en-US" sz="3000">
                  <a:solidFill>
                    <a:srgbClr val="2B2B2B"/>
                  </a:solidFill>
                  <a:latin typeface="Georgia"/>
                  <a:ea typeface="Georgia"/>
                  <a:cs typeface="Georgia"/>
                  <a:sym typeface="Georgia"/>
                </a:rPr>
                <a:t>Nandeesh  S ·  Monesh D  ·  Madhan S</a:t>
              </a:r>
            </a:p>
          </p:txBody>
        </p:sp>
      </p:grpSp>
      <p:grpSp>
        <p:nvGrpSpPr>
          <p:cNvPr name="Group 12" id="12"/>
          <p:cNvGrpSpPr/>
          <p:nvPr/>
        </p:nvGrpSpPr>
        <p:grpSpPr>
          <a:xfrm rot="0">
            <a:off x="1303020" y="6035040"/>
            <a:ext cx="15087600" cy="480060"/>
            <a:chOff x="0" y="0"/>
            <a:chExt cx="20116800" cy="640080"/>
          </a:xfrm>
        </p:grpSpPr>
        <p:sp>
          <p:nvSpPr>
            <p:cNvPr name="Freeform 13" id="13"/>
            <p:cNvSpPr/>
            <p:nvPr/>
          </p:nvSpPr>
          <p:spPr>
            <a:xfrm flipH="false" flipV="false" rot="0">
              <a:off x="0" y="0"/>
              <a:ext cx="20116800" cy="640080"/>
            </a:xfrm>
            <a:custGeom>
              <a:avLst/>
              <a:gdLst/>
              <a:ahLst/>
              <a:cxnLst/>
              <a:rect r="r" b="b" t="t" l="l"/>
              <a:pathLst>
                <a:path h="640080" w="20116800">
                  <a:moveTo>
                    <a:pt x="0" y="0"/>
                  </a:moveTo>
                  <a:lnTo>
                    <a:pt x="20116800" y="0"/>
                  </a:lnTo>
                  <a:lnTo>
                    <a:pt x="20116800" y="640080"/>
                  </a:lnTo>
                  <a:lnTo>
                    <a:pt x="0" y="640080"/>
                  </a:lnTo>
                  <a:close/>
                </a:path>
              </a:pathLst>
            </a:custGeom>
            <a:blipFill>
              <a:blip r:embed="rId3">
                <a:alphaModFix amt="0"/>
              </a:blip>
              <a:stretch>
                <a:fillRect l="0" t="-562386" r="0" b="-562386"/>
              </a:stretch>
            </a:blipFill>
          </p:spPr>
        </p:sp>
        <p:sp>
          <p:nvSpPr>
            <p:cNvPr name="TextBox 14" id="14"/>
            <p:cNvSpPr txBox="true"/>
            <p:nvPr/>
          </p:nvSpPr>
          <p:spPr>
            <a:xfrm>
              <a:off x="0" y="-38100"/>
              <a:ext cx="20116800" cy="678180"/>
            </a:xfrm>
            <a:prstGeom prst="rect">
              <a:avLst/>
            </a:prstGeom>
          </p:spPr>
          <p:txBody>
            <a:bodyPr anchor="ctr" rtlCol="false" tIns="0" lIns="0" bIns="0" rIns="0"/>
            <a:lstStyle/>
            <a:p>
              <a:pPr algn="l">
                <a:lnSpc>
                  <a:spcPts val="2879"/>
                </a:lnSpc>
              </a:pPr>
              <a:r>
                <a:rPr lang="en-US" sz="2400">
                  <a:solidFill>
                    <a:srgbClr val="6B6B6B"/>
                  </a:solidFill>
                  <a:latin typeface="Calibri (MS)"/>
                  <a:ea typeface="Calibri (MS)"/>
                  <a:cs typeface="Calibri (MS)"/>
                  <a:sym typeface="Calibri (MS)"/>
                </a:rPr>
                <a:t>Echo Vision  |  Sri Sairam Engineering College</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DAHZhFcIgRs</dc:identifier>
  <dcterms:modified xsi:type="dcterms:W3CDTF">2011-08-01T06:04:30Z</dcterms:modified>
  <cp:revision>1</cp:revision>
  <dc:title>Echo_Vision_Presentation.pptx</dc:title>
</cp:coreProperties>
</file>